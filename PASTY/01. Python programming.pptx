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4"/>
  </p:notesMasterIdLst>
  <p:sldIdLst>
    <p:sldId id="278" r:id="rId2"/>
    <p:sldId id="325" r:id="rId3"/>
    <p:sldId id="279" r:id="rId4"/>
    <p:sldId id="263" r:id="rId5"/>
    <p:sldId id="366" r:id="rId6"/>
    <p:sldId id="379" r:id="rId7"/>
    <p:sldId id="378" r:id="rId8"/>
    <p:sldId id="381" r:id="rId9"/>
    <p:sldId id="382" r:id="rId10"/>
    <p:sldId id="383" r:id="rId11"/>
    <p:sldId id="380" r:id="rId12"/>
    <p:sldId id="384" r:id="rId13"/>
    <p:sldId id="409" r:id="rId14"/>
    <p:sldId id="385" r:id="rId15"/>
    <p:sldId id="387" r:id="rId16"/>
    <p:sldId id="386" r:id="rId17"/>
    <p:sldId id="388" r:id="rId18"/>
    <p:sldId id="389" r:id="rId19"/>
    <p:sldId id="321" r:id="rId20"/>
    <p:sldId id="390" r:id="rId21"/>
    <p:sldId id="391" r:id="rId22"/>
    <p:sldId id="392" r:id="rId23"/>
    <p:sldId id="393" r:id="rId24"/>
    <p:sldId id="394" r:id="rId25"/>
    <p:sldId id="395" r:id="rId26"/>
    <p:sldId id="396" r:id="rId27"/>
    <p:sldId id="397" r:id="rId28"/>
    <p:sldId id="398" r:id="rId29"/>
    <p:sldId id="399" r:id="rId30"/>
    <p:sldId id="400" r:id="rId31"/>
    <p:sldId id="401" r:id="rId32"/>
    <p:sldId id="402" r:id="rId33"/>
    <p:sldId id="403" r:id="rId34"/>
    <p:sldId id="404" r:id="rId35"/>
    <p:sldId id="405" r:id="rId36"/>
    <p:sldId id="406" r:id="rId37"/>
    <p:sldId id="407" r:id="rId38"/>
    <p:sldId id="410" r:id="rId39"/>
    <p:sldId id="408" r:id="rId40"/>
    <p:sldId id="411" r:id="rId41"/>
    <p:sldId id="412" r:id="rId42"/>
    <p:sldId id="413" r:id="rId43"/>
    <p:sldId id="414" r:id="rId44"/>
    <p:sldId id="415" r:id="rId45"/>
    <p:sldId id="416" r:id="rId46"/>
    <p:sldId id="417" r:id="rId47"/>
    <p:sldId id="418" r:id="rId48"/>
    <p:sldId id="419" r:id="rId49"/>
    <p:sldId id="423" r:id="rId50"/>
    <p:sldId id="424" r:id="rId51"/>
    <p:sldId id="426" r:id="rId52"/>
    <p:sldId id="427" r:id="rId53"/>
    <p:sldId id="428" r:id="rId54"/>
    <p:sldId id="429" r:id="rId55"/>
    <p:sldId id="430" r:id="rId56"/>
    <p:sldId id="432" r:id="rId57"/>
    <p:sldId id="431" r:id="rId58"/>
    <p:sldId id="433" r:id="rId59"/>
    <p:sldId id="434" r:id="rId60"/>
    <p:sldId id="435" r:id="rId61"/>
    <p:sldId id="436" r:id="rId62"/>
    <p:sldId id="437" r:id="rId63"/>
    <p:sldId id="438" r:id="rId64"/>
    <p:sldId id="439" r:id="rId65"/>
    <p:sldId id="440" r:id="rId66"/>
    <p:sldId id="441" r:id="rId67"/>
    <p:sldId id="442" r:id="rId68"/>
    <p:sldId id="443" r:id="rId69"/>
    <p:sldId id="444" r:id="rId70"/>
    <p:sldId id="445" r:id="rId71"/>
    <p:sldId id="446" r:id="rId72"/>
    <p:sldId id="447" r:id="rId73"/>
    <p:sldId id="448" r:id="rId74"/>
    <p:sldId id="449" r:id="rId75"/>
    <p:sldId id="450" r:id="rId76"/>
    <p:sldId id="451" r:id="rId77"/>
    <p:sldId id="452" r:id="rId78"/>
    <p:sldId id="375" r:id="rId79"/>
    <p:sldId id="420" r:id="rId80"/>
    <p:sldId id="376" r:id="rId81"/>
    <p:sldId id="377" r:id="rId82"/>
    <p:sldId id="277"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84BE"/>
    <a:srgbClr val="0B82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43" autoAdjust="0"/>
    <p:restoredTop sz="94660"/>
  </p:normalViewPr>
  <p:slideViewPr>
    <p:cSldViewPr snapToGrid="0">
      <p:cViewPr varScale="1">
        <p:scale>
          <a:sx n="94" d="100"/>
          <a:sy n="94" d="100"/>
        </p:scale>
        <p:origin x="115" y="19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27029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w3schools.com/python/python_strings_methods.asp"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hyperlink" Target="https://www.w3schools.com/python/python_lists_methods.asp"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hyperlink" Target="https://www.w3schools.com/python/python_tuples_methods.asp"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hyperlink" Target="https://www.w3schools.com/python/python_sets_methods.asp"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www.w3schools.com/python/python_dictionaries_methods.asp"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6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6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hyperlink" Target="https://www.w3schools.com/python/" TargetMode="External"/><Relationship Id="rId2" Type="http://schemas.openxmlformats.org/officeDocument/2006/relationships/hyperlink" Target="https://www.programiz.com/python-programming" TargetMode="External"/><Relationship Id="rId1" Type="http://schemas.openxmlformats.org/officeDocument/2006/relationships/slideLayout" Target="../slideLayouts/slideLayout4.xml"/><Relationship Id="rId6" Type="http://schemas.openxmlformats.org/officeDocument/2006/relationships/image" Target="../media/image96.png"/><Relationship Id="rId5" Type="http://schemas.openxmlformats.org/officeDocument/2006/relationships/hyperlink" Target="https://www.youtube.com/watch?v=QXeEoD0pB3E&amp;list=PLsyeobzWxl7poL9JTVyndKe62ieoN-MZ3" TargetMode="External"/><Relationship Id="rId4" Type="http://schemas.openxmlformats.org/officeDocument/2006/relationships/hyperlink" Target="https://www.javatpoint.com/python-tutorial" TargetMode="External"/></Relationships>
</file>

<file path=ppt/slides/_rels/slide8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oding and Fundamentals: Working With Collections - PHT">
            <a:extLst>
              <a:ext uri="{FF2B5EF4-FFF2-40B4-BE49-F238E27FC236}">
                <a16:creationId xmlns:a16="http://schemas.microsoft.com/office/drawing/2014/main" xmlns="" id="{872222A0-6FDA-1BC3-B313-B8036EEF9E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1201" y="592679"/>
            <a:ext cx="5137265" cy="51372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 y="-39091"/>
            <a:ext cx="12192000" cy="6897091"/>
          </a:xfrm>
          <a:prstGeom prst="rect">
            <a:avLst/>
          </a:prstGeom>
          <a:solidFill>
            <a:srgbClr val="00B0F0">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5" y="1557468"/>
            <a:ext cx="12191999"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INTRODUCTION TO PYTHON </a:t>
            </a:r>
            <a:r>
              <a:rPr lang="en-US" sz="4400" dirty="0" smtClean="0">
                <a:solidFill>
                  <a:schemeClr val="bg1"/>
                </a:solidFill>
              </a:rPr>
              <a:t>PROGRAMMING</a:t>
            </a:r>
            <a:endParaRPr lang="en-US" sz="4400" dirty="0">
              <a:solidFill>
                <a:schemeClr val="bg1"/>
              </a:solidFill>
            </a:endParaRPr>
          </a:p>
        </p:txBody>
      </p:sp>
      <p:sp>
        <p:nvSpPr>
          <p:cNvPr id="4" name="TextBox 3"/>
          <p:cNvSpPr txBox="1"/>
          <p:nvPr/>
        </p:nvSpPr>
        <p:spPr>
          <a:xfrm>
            <a:off x="366405" y="3883285"/>
            <a:ext cx="5729592" cy="1846659"/>
          </a:xfrm>
          <a:prstGeom prst="rect">
            <a:avLst/>
          </a:prstGeom>
          <a:noFill/>
        </p:spPr>
        <p:txBody>
          <a:bodyPr wrap="square" rtlCol="0">
            <a:spAutoFit/>
          </a:bodyPr>
          <a:lstStyle/>
          <a:p>
            <a:r>
              <a:rPr lang="en-US" sz="2400" b="1" dirty="0"/>
              <a:t>Pasty Asamoah</a:t>
            </a:r>
          </a:p>
          <a:p>
            <a:endParaRPr lang="en-US" sz="2000" b="1" dirty="0"/>
          </a:p>
          <a:p>
            <a:r>
              <a:rPr lang="en-US" sz="1400" b="1" dirty="0">
                <a:solidFill>
                  <a:schemeClr val="bg1"/>
                </a:solidFill>
              </a:rPr>
              <a:t>+233 (0) 546 116 102</a:t>
            </a:r>
          </a:p>
          <a:p>
            <a:r>
              <a:rPr lang="en-US" sz="1400" b="1" dirty="0">
                <a:solidFill>
                  <a:schemeClr val="bg1"/>
                </a:solidFill>
              </a:rPr>
              <a:t>Pastyasamoah13@gmail.com | pastyasamoah@knust.edu.gh</a:t>
            </a:r>
          </a:p>
          <a:p>
            <a:r>
              <a:rPr lang="en-US" sz="1400" b="1" dirty="0">
                <a:solidFill>
                  <a:schemeClr val="bg1"/>
                </a:solidFill>
              </a:rPr>
              <a:t>Kwame Nkrumah University of Science and Technology</a:t>
            </a:r>
          </a:p>
          <a:p>
            <a:r>
              <a:rPr lang="en-US" sz="1400" b="1" dirty="0">
                <a:solidFill>
                  <a:schemeClr val="bg1"/>
                </a:solidFill>
              </a:rPr>
              <a:t>School of Business</a:t>
            </a:r>
          </a:p>
          <a:p>
            <a:r>
              <a:rPr lang="en-US" sz="1400" b="1" dirty="0">
                <a:solidFill>
                  <a:schemeClr val="bg1"/>
                </a:solidFill>
              </a:rPr>
              <a:t>Supply Chain and Information Systems Dept.</a:t>
            </a:r>
          </a:p>
        </p:txBody>
      </p:sp>
      <p:sp>
        <p:nvSpPr>
          <p:cNvPr id="5" name="Oval 4">
            <a:extLst>
              <a:ext uri="{FF2B5EF4-FFF2-40B4-BE49-F238E27FC236}">
                <a16:creationId xmlns:a16="http://schemas.microsoft.com/office/drawing/2014/main" xmlns="" id="{B5907FA5-4CD3-64F6-F7E4-06846DD068D9}"/>
              </a:ext>
            </a:extLst>
          </p:cNvPr>
          <p:cNvSpPr/>
          <p:nvPr/>
        </p:nvSpPr>
        <p:spPr>
          <a:xfrm>
            <a:off x="11376715" y="6151237"/>
            <a:ext cx="710361" cy="7103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3MD</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8C329231-504D-4931-71B2-1CB18F68C95B}"/>
              </a:ext>
            </a:extLst>
          </p:cNvPr>
          <p:cNvGrpSpPr/>
          <p:nvPr/>
        </p:nvGrpSpPr>
        <p:grpSpPr>
          <a:xfrm>
            <a:off x="2115671" y="2165448"/>
            <a:ext cx="7799294" cy="1790999"/>
            <a:chOff x="2115671" y="2330823"/>
            <a:chExt cx="7799294" cy="1790999"/>
          </a:xfrm>
        </p:grpSpPr>
        <p:sp>
          <p:nvSpPr>
            <p:cNvPr id="5" name="TextBox 4">
              <a:extLst>
                <a:ext uri="{FF2B5EF4-FFF2-40B4-BE49-F238E27FC236}">
                  <a16:creationId xmlns:a16="http://schemas.microsoft.com/office/drawing/2014/main" xmlns="" id="{0311A8E1-E09C-82B5-BD6E-2D34F9C94E43}"/>
                </a:ext>
              </a:extLst>
            </p:cNvPr>
            <p:cNvSpPr txBox="1"/>
            <p:nvPr/>
          </p:nvSpPr>
          <p:spPr>
            <a:xfrm>
              <a:off x="2115671" y="3537047"/>
              <a:ext cx="7799294" cy="584775"/>
            </a:xfrm>
            <a:prstGeom prst="rect">
              <a:avLst/>
            </a:prstGeom>
            <a:noFill/>
          </p:spPr>
          <p:txBody>
            <a:bodyPr wrap="square">
              <a:spAutoFit/>
            </a:bodyPr>
            <a:lstStyle/>
            <a:p>
              <a:pPr algn="ctr"/>
              <a:r>
                <a:rPr lang="en-US" sz="1600" b="0" i="0" dirty="0">
                  <a:effectLst/>
                  <a:latin typeface="Times New Roman" panose="02020603050405020304" pitchFamily="18" charset="0"/>
                  <a:cs typeface="Times New Roman" panose="02020603050405020304" pitchFamily="18" charset="0"/>
                </a:rPr>
                <a:t>Images used in this presentation are sourced from various online platforms. Credit goes to the respective creators and owners. I appreciate the work of the original content creators.</a:t>
              </a:r>
              <a:endParaRPr lang="aa-ET" sz="1600" dirty="0">
                <a:latin typeface="Times New Roman" panose="02020603050405020304" pitchFamily="18" charset="0"/>
                <a:cs typeface="Times New Roman" panose="02020603050405020304" pitchFamily="18" charset="0"/>
              </a:endParaRPr>
            </a:p>
          </p:txBody>
        </p:sp>
        <p:pic>
          <p:nvPicPr>
            <p:cNvPr id="1026" name="Picture 2" descr="Disclaimer Sign Royalty-Free Images, Stock Photos &amp; Pictures | Shutterstock">
              <a:extLst>
                <a:ext uri="{FF2B5EF4-FFF2-40B4-BE49-F238E27FC236}">
                  <a16:creationId xmlns:a16="http://schemas.microsoft.com/office/drawing/2014/main" xmlns="" id="{425E52A0-1891-8840-FC47-B1A72FBB6D2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7384" t="20493" r="16823" b="20118"/>
            <a:stretch/>
          </p:blipFill>
          <p:spPr bwMode="auto">
            <a:xfrm>
              <a:off x="5369859" y="2330823"/>
              <a:ext cx="1013012" cy="9144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505970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D35EE32F-42E6-D024-4922-B1488FC382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PYTHON PROGRAMMING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060" y="467493"/>
            <a:ext cx="6380480" cy="521970"/>
          </a:xfrm>
          <a:prstGeom prst="rect">
            <a:avLst/>
          </a:prstGeom>
          <a:noFill/>
        </p:spPr>
        <p:txBody>
          <a:bodyPr wrap="square" rtlCol="0">
            <a:spAutoFit/>
          </a:bodyPr>
          <a:lstStyle/>
          <a:p>
            <a:r>
              <a:rPr lang="en-US" sz="2800" b="1" dirty="0">
                <a:latin typeface="Arial Rounded MT Bold" panose="020F0704030504030204" pitchFamily="34" charset="0"/>
              </a:rPr>
              <a:t>PYTHON – Of course not a snake!</a:t>
            </a:r>
          </a:p>
        </p:txBody>
      </p:sp>
      <p:sp>
        <p:nvSpPr>
          <p:cNvPr id="8" name="Rectangle 7"/>
          <p:cNvSpPr/>
          <p:nvPr/>
        </p:nvSpPr>
        <p:spPr>
          <a:xfrm>
            <a:off x="780622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43060" y="1273506"/>
            <a:ext cx="6851820" cy="1200329"/>
          </a:xfrm>
          <a:prstGeom prst="rect">
            <a:avLst/>
          </a:prstGeom>
          <a:noFill/>
        </p:spPr>
        <p:txBody>
          <a:bodyPr wrap="square">
            <a:spAutoFit/>
          </a:bodyPr>
          <a:lstStyle/>
          <a:p>
            <a:pPr marL="0" marR="0" algn="just">
              <a:spcBef>
                <a:spcPts val="0"/>
              </a:spcBef>
              <a:spcAft>
                <a:spcPts val="0"/>
              </a:spcAft>
            </a:pPr>
            <a:r>
              <a:rPr lang="en-US" kern="100" dirty="0">
                <a:latin typeface="Times New Roman" panose="02020603050405020304" pitchFamily="18" charset="0"/>
                <a:ea typeface="SimSun" panose="02010600030101010101" pitchFamily="2" charset="-122"/>
              </a:rPr>
              <a:t>Python is a popular general-purpose programming language created by Guido van Rossum, and released in 1991.</a:t>
            </a:r>
          </a:p>
          <a:p>
            <a:pPr marL="0" marR="0" algn="just">
              <a:spcBef>
                <a:spcPts val="0"/>
              </a:spcBef>
              <a:spcAft>
                <a:spcPts val="0"/>
              </a:spcAft>
            </a:pPr>
            <a:endParaRPr lang="en-US" kern="100" dirty="0">
              <a:latin typeface="Times New Roman" panose="02020603050405020304" pitchFamily="18" charset="0"/>
              <a:ea typeface="SimSun" panose="02010600030101010101" pitchFamily="2" charset="-122"/>
            </a:endParaRPr>
          </a:p>
          <a:p>
            <a:pPr marL="0" marR="0" algn="just">
              <a:spcBef>
                <a:spcPts val="0"/>
              </a:spcBef>
              <a:spcAft>
                <a:spcPts val="0"/>
              </a:spcAft>
            </a:pPr>
            <a:r>
              <a:rPr lang="en-US" kern="100" dirty="0">
                <a:highlight>
                  <a:srgbClr val="00FF00"/>
                </a:highlight>
                <a:latin typeface="Times New Roman" panose="02020603050405020304" pitchFamily="18" charset="0"/>
                <a:ea typeface="SimSun" panose="02010600030101010101" pitchFamily="2" charset="-122"/>
              </a:rPr>
              <a:t>Python can be used for:</a:t>
            </a:r>
          </a:p>
        </p:txBody>
      </p:sp>
      <p:pic>
        <p:nvPicPr>
          <p:cNvPr id="7" name="Picture 2" descr="Coding and Fundamentals: Working With Collections - PHT">
            <a:extLst>
              <a:ext uri="{FF2B5EF4-FFF2-40B4-BE49-F238E27FC236}">
                <a16:creationId xmlns:a16="http://schemas.microsoft.com/office/drawing/2014/main" xmlns="" id="{872222A0-6FDA-1BC3-B313-B8036EEF9E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xmlns="" id="{3A036E1C-30AB-077B-A035-225B77BFD5CB}"/>
              </a:ext>
            </a:extLst>
          </p:cNvPr>
          <p:cNvGrpSpPr/>
          <p:nvPr/>
        </p:nvGrpSpPr>
        <p:grpSpPr>
          <a:xfrm>
            <a:off x="267093" y="3141797"/>
            <a:ext cx="2298827" cy="2037802"/>
            <a:chOff x="118877" y="4344518"/>
            <a:chExt cx="2298827" cy="2037802"/>
          </a:xfrm>
        </p:grpSpPr>
        <p:pic>
          <p:nvPicPr>
            <p:cNvPr id="2056" name="Picture 8" descr="PyGame: A Primer on Game Programming in Python – Real Python">
              <a:extLst>
                <a:ext uri="{FF2B5EF4-FFF2-40B4-BE49-F238E27FC236}">
                  <a16:creationId xmlns:a16="http://schemas.microsoft.com/office/drawing/2014/main" xmlns="" id="{F7945944-87A3-C2AE-7186-CFD99D441E6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18877" y="4344518"/>
              <a:ext cx="2298827" cy="129309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F32D27A9-C498-7DB2-774A-FAF8AB37FC0A}"/>
                </a:ext>
              </a:extLst>
            </p:cNvPr>
            <p:cNvSpPr txBox="1"/>
            <p:nvPr/>
          </p:nvSpPr>
          <p:spPr>
            <a:xfrm>
              <a:off x="167475" y="5735989"/>
              <a:ext cx="1983573" cy="646331"/>
            </a:xfrm>
            <a:prstGeom prst="rect">
              <a:avLst/>
            </a:prstGeom>
            <a:noFill/>
          </p:spPr>
          <p:txBody>
            <a:bodyPr wrap="square">
              <a:spAutoFit/>
            </a:bodyPr>
            <a:lstStyle/>
            <a:p>
              <a:pPr marL="0" marR="0" algn="ctr">
                <a:spcBef>
                  <a:spcPts val="0"/>
                </a:spcBef>
                <a:spcAft>
                  <a:spcPts val="0"/>
                </a:spcAft>
              </a:pPr>
              <a:r>
                <a:rPr lang="en-US" kern="100" dirty="0">
                  <a:highlight>
                    <a:srgbClr val="00FFFF"/>
                  </a:highlight>
                  <a:latin typeface="Times New Roman" panose="02020603050405020304" pitchFamily="18" charset="0"/>
                  <a:ea typeface="SimSun" panose="02010600030101010101" pitchFamily="2" charset="-122"/>
                </a:rPr>
                <a:t>Software &amp; Game Development</a:t>
              </a:r>
            </a:p>
          </p:txBody>
        </p:sp>
      </p:grpSp>
      <p:grpSp>
        <p:nvGrpSpPr>
          <p:cNvPr id="14" name="Group 13">
            <a:extLst>
              <a:ext uri="{FF2B5EF4-FFF2-40B4-BE49-F238E27FC236}">
                <a16:creationId xmlns:a16="http://schemas.microsoft.com/office/drawing/2014/main" xmlns="" id="{1A6BEBF8-87AC-1B44-5DC7-6FDA983BEDB0}"/>
              </a:ext>
            </a:extLst>
          </p:cNvPr>
          <p:cNvGrpSpPr/>
          <p:nvPr/>
        </p:nvGrpSpPr>
        <p:grpSpPr>
          <a:xfrm>
            <a:off x="2621615" y="2838630"/>
            <a:ext cx="2463227" cy="2493751"/>
            <a:chOff x="2406719" y="4067353"/>
            <a:chExt cx="2463227" cy="2493751"/>
          </a:xfrm>
        </p:grpSpPr>
        <p:pic>
          <p:nvPicPr>
            <p:cNvPr id="9" name="Picture 4" descr="CS 206: Principles of Scientific Computing (Winter 2021)">
              <a:extLst>
                <a:ext uri="{FF2B5EF4-FFF2-40B4-BE49-F238E27FC236}">
                  <a16:creationId xmlns:a16="http://schemas.microsoft.com/office/drawing/2014/main" xmlns="" id="{5B087B21-89A7-0069-034D-93F27CDE16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6719" y="4067353"/>
              <a:ext cx="2463227" cy="18474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6F1EEFE5-FB5C-E79C-CFE6-D982E227DD85}"/>
                </a:ext>
              </a:extLst>
            </p:cNvPr>
            <p:cNvSpPr txBox="1"/>
            <p:nvPr/>
          </p:nvSpPr>
          <p:spPr>
            <a:xfrm>
              <a:off x="2816391" y="5914773"/>
              <a:ext cx="1983573" cy="646331"/>
            </a:xfrm>
            <a:prstGeom prst="rect">
              <a:avLst/>
            </a:prstGeom>
            <a:noFill/>
          </p:spPr>
          <p:txBody>
            <a:bodyPr wrap="square">
              <a:spAutoFit/>
            </a:bodyPr>
            <a:lstStyle/>
            <a:p>
              <a:pPr marL="0" marR="0" algn="ctr">
                <a:spcBef>
                  <a:spcPts val="0"/>
                </a:spcBef>
                <a:spcAft>
                  <a:spcPts val="0"/>
                </a:spcAft>
              </a:pPr>
              <a:r>
                <a:rPr lang="en-US" kern="100" dirty="0">
                  <a:highlight>
                    <a:srgbClr val="00FFFF"/>
                  </a:highlight>
                  <a:latin typeface="Times New Roman" panose="02020603050405020304" pitchFamily="18" charset="0"/>
                  <a:ea typeface="SimSun" panose="02010600030101010101" pitchFamily="2" charset="-122"/>
                </a:rPr>
                <a:t>Scientific Computing</a:t>
              </a:r>
            </a:p>
          </p:txBody>
        </p:sp>
      </p:grpSp>
      <p:grpSp>
        <p:nvGrpSpPr>
          <p:cNvPr id="15" name="Group 14">
            <a:extLst>
              <a:ext uri="{FF2B5EF4-FFF2-40B4-BE49-F238E27FC236}">
                <a16:creationId xmlns:a16="http://schemas.microsoft.com/office/drawing/2014/main" xmlns="" id="{6270FCFA-EAA6-49EF-7120-8A2FF6F0D140}"/>
              </a:ext>
            </a:extLst>
          </p:cNvPr>
          <p:cNvGrpSpPr/>
          <p:nvPr/>
        </p:nvGrpSpPr>
        <p:grpSpPr>
          <a:xfrm>
            <a:off x="5407193" y="3041921"/>
            <a:ext cx="2254545" cy="2397825"/>
            <a:chOff x="5311306" y="4297503"/>
            <a:chExt cx="2207556" cy="2528892"/>
          </a:xfrm>
        </p:grpSpPr>
        <p:pic>
          <p:nvPicPr>
            <p:cNvPr id="2054" name="Picture 6" descr="Bar Chart (Vertical) | Data Viz Project">
              <a:extLst>
                <a:ext uri="{FF2B5EF4-FFF2-40B4-BE49-F238E27FC236}">
                  <a16:creationId xmlns:a16="http://schemas.microsoft.com/office/drawing/2014/main" xmlns="" id="{7EF0C04E-6CCB-5DED-DBAE-AA44683EF449}"/>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159" t="27890" r="14395" b="7335"/>
            <a:stretch/>
          </p:blipFill>
          <p:spPr bwMode="auto">
            <a:xfrm>
              <a:off x="5311306" y="4297503"/>
              <a:ext cx="1983574" cy="161727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xmlns="" id="{A8D7C12F-10AF-DAC7-9C5C-8A09FC1EE798}"/>
                </a:ext>
              </a:extLst>
            </p:cNvPr>
            <p:cNvSpPr txBox="1"/>
            <p:nvPr/>
          </p:nvSpPr>
          <p:spPr>
            <a:xfrm>
              <a:off x="5535289" y="5903065"/>
              <a:ext cx="1983573" cy="923330"/>
            </a:xfrm>
            <a:prstGeom prst="rect">
              <a:avLst/>
            </a:prstGeom>
            <a:noFill/>
          </p:spPr>
          <p:txBody>
            <a:bodyPr wrap="square">
              <a:spAutoFit/>
            </a:bodyPr>
            <a:lstStyle/>
            <a:p>
              <a:pPr marL="0" marR="0" algn="ctr">
                <a:spcBef>
                  <a:spcPts val="0"/>
                </a:spcBef>
                <a:spcAft>
                  <a:spcPts val="0"/>
                </a:spcAft>
              </a:pPr>
              <a:r>
                <a:rPr lang="en-US" kern="100" dirty="0">
                  <a:highlight>
                    <a:srgbClr val="00FFFF"/>
                  </a:highlight>
                  <a:latin typeface="Times New Roman" panose="02020603050405020304" pitchFamily="18" charset="0"/>
                  <a:ea typeface="SimSun" panose="02010600030101010101" pitchFamily="2" charset="-122"/>
                </a:rPr>
                <a:t>Data Analytics, Visualizations, and Machine Learning</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DOWNLOAD &amp; INSTALLATION</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xmlns="" id="{835BFB83-7607-A13F-5681-59AE0B95ED8E}"/>
              </a:ext>
            </a:extLst>
          </p:cNvPr>
          <p:cNvGrpSpPr/>
          <p:nvPr/>
        </p:nvGrpSpPr>
        <p:grpSpPr>
          <a:xfrm>
            <a:off x="893969" y="1787869"/>
            <a:ext cx="1892818" cy="2055844"/>
            <a:chOff x="423706" y="1787869"/>
            <a:chExt cx="2171513" cy="2162960"/>
          </a:xfrm>
        </p:grpSpPr>
        <p:grpSp>
          <p:nvGrpSpPr>
            <p:cNvPr id="5" name="Group 4">
              <a:extLst>
                <a:ext uri="{FF2B5EF4-FFF2-40B4-BE49-F238E27FC236}">
                  <a16:creationId xmlns:a16="http://schemas.microsoft.com/office/drawing/2014/main" xmlns="" id="{74703C1E-C1EE-0DF7-6F88-E2C36581CF54}"/>
                </a:ext>
              </a:extLst>
            </p:cNvPr>
            <p:cNvGrpSpPr/>
            <p:nvPr/>
          </p:nvGrpSpPr>
          <p:grpSpPr>
            <a:xfrm>
              <a:off x="423706" y="1787869"/>
              <a:ext cx="2171513" cy="2162960"/>
              <a:chOff x="625475" y="1266040"/>
              <a:chExt cx="2171513" cy="1792942"/>
            </a:xfrm>
          </p:grpSpPr>
          <p:sp>
            <p:nvSpPr>
              <p:cNvPr id="6" name="Rectangle 5">
                <a:extLst>
                  <a:ext uri="{FF2B5EF4-FFF2-40B4-BE49-F238E27FC236}">
                    <a16:creationId xmlns:a16="http://schemas.microsoft.com/office/drawing/2014/main" xmlns="" id="{1B4D73AE-419E-33F4-3517-448EE3FD2976}"/>
                  </a:ext>
                </a:extLst>
              </p:cNvPr>
              <p:cNvSpPr/>
              <p:nvPr/>
            </p:nvSpPr>
            <p:spPr>
              <a:xfrm>
                <a:off x="625475" y="1266040"/>
                <a:ext cx="2171513" cy="896471"/>
              </a:xfrm>
              <a:prstGeom prst="rect">
                <a:avLst/>
              </a:prstGeom>
              <a:solidFill>
                <a:schemeClr val="accent5">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Python</a:t>
                </a:r>
                <a:endParaRPr lang="aa-ET" dirty="0"/>
              </a:p>
            </p:txBody>
          </p:sp>
          <p:sp>
            <p:nvSpPr>
              <p:cNvPr id="7" name="Rectangle 6">
                <a:extLst>
                  <a:ext uri="{FF2B5EF4-FFF2-40B4-BE49-F238E27FC236}">
                    <a16:creationId xmlns:a16="http://schemas.microsoft.com/office/drawing/2014/main" xmlns="" id="{BA6B578F-5B6E-979A-AE37-C8A8C384750B}"/>
                  </a:ext>
                </a:extLst>
              </p:cNvPr>
              <p:cNvSpPr/>
              <p:nvPr/>
            </p:nvSpPr>
            <p:spPr>
              <a:xfrm>
                <a:off x="625475" y="2162511"/>
                <a:ext cx="2171513" cy="896471"/>
              </a:xfrm>
              <a:prstGeom prst="rect">
                <a:avLst/>
              </a:prstGeom>
              <a:noFill/>
              <a:ln>
                <a:solidFill>
                  <a:srgbClr val="00206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dirty="0">
                  <a:solidFill>
                    <a:schemeClr val="tx1"/>
                  </a:solidFill>
                </a:endParaRPr>
              </a:p>
            </p:txBody>
          </p:sp>
        </p:grpSp>
        <p:pic>
          <p:nvPicPr>
            <p:cNvPr id="2" name="Picture 2" descr="Coding and Fundamentals: Working With Collections - PHT">
              <a:extLst>
                <a:ext uri="{FF2B5EF4-FFF2-40B4-BE49-F238E27FC236}">
                  <a16:creationId xmlns:a16="http://schemas.microsoft.com/office/drawing/2014/main" xmlns="" id="{EC2F3E3B-681C-42A7-9ADC-716EE03EFD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675" y="2976303"/>
              <a:ext cx="867574" cy="811334"/>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TextBox 20">
            <a:extLst>
              <a:ext uri="{FF2B5EF4-FFF2-40B4-BE49-F238E27FC236}">
                <a16:creationId xmlns:a16="http://schemas.microsoft.com/office/drawing/2014/main" xmlns="" id="{44ED9B92-38CD-8796-8453-683BDBFD7FCE}"/>
              </a:ext>
            </a:extLst>
          </p:cNvPr>
          <p:cNvSpPr txBox="1"/>
          <p:nvPr/>
        </p:nvSpPr>
        <p:spPr>
          <a:xfrm>
            <a:off x="893969" y="4139657"/>
            <a:ext cx="1892818" cy="954107"/>
          </a:xfrm>
          <a:prstGeom prst="rect">
            <a:avLst/>
          </a:prstGeom>
          <a:noFill/>
        </p:spPr>
        <p:txBody>
          <a:bodyPr wrap="square">
            <a:spAutoFit/>
          </a:bodyPr>
          <a:lstStyle/>
          <a:p>
            <a:r>
              <a:rPr lang="aa-ET" sz="1400" dirty="0">
                <a:highlight>
                  <a:srgbClr val="00FFFF"/>
                </a:highlight>
              </a:rPr>
              <a:t>https://www.python.org/ftp/python/3.12.1/python-3.12.1-amd64.exe</a:t>
            </a:r>
          </a:p>
        </p:txBody>
      </p:sp>
      <p:grpSp>
        <p:nvGrpSpPr>
          <p:cNvPr id="24" name="Group 23">
            <a:extLst>
              <a:ext uri="{FF2B5EF4-FFF2-40B4-BE49-F238E27FC236}">
                <a16:creationId xmlns:a16="http://schemas.microsoft.com/office/drawing/2014/main" xmlns="" id="{74703C1E-C1EE-0DF7-6F88-E2C36581CF54}"/>
              </a:ext>
            </a:extLst>
          </p:cNvPr>
          <p:cNvGrpSpPr/>
          <p:nvPr/>
        </p:nvGrpSpPr>
        <p:grpSpPr>
          <a:xfrm>
            <a:off x="3658940" y="1787869"/>
            <a:ext cx="1892818" cy="2055844"/>
            <a:chOff x="625475" y="1266040"/>
            <a:chExt cx="2171513" cy="1792942"/>
          </a:xfrm>
        </p:grpSpPr>
        <p:sp>
          <p:nvSpPr>
            <p:cNvPr id="26" name="Rectangle 25">
              <a:extLst>
                <a:ext uri="{FF2B5EF4-FFF2-40B4-BE49-F238E27FC236}">
                  <a16:creationId xmlns:a16="http://schemas.microsoft.com/office/drawing/2014/main" xmlns="" id="{1B4D73AE-419E-33F4-3517-448EE3FD2976}"/>
                </a:ext>
              </a:extLst>
            </p:cNvPr>
            <p:cNvSpPr/>
            <p:nvPr/>
          </p:nvSpPr>
          <p:spPr>
            <a:xfrm>
              <a:off x="625475" y="1266040"/>
              <a:ext cx="2171513" cy="896471"/>
            </a:xfrm>
            <a:prstGeom prst="rect">
              <a:avLst/>
            </a:prstGeom>
            <a:solidFill>
              <a:schemeClr val="accent5">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smtClean="0"/>
                <a:t>Pycharm</a:t>
              </a:r>
              <a:r>
                <a:rPr lang="en-US" dirty="0" smtClean="0"/>
                <a:t> Community</a:t>
              </a:r>
              <a:endParaRPr lang="aa-ET" dirty="0"/>
            </a:p>
          </p:txBody>
        </p:sp>
        <p:sp>
          <p:nvSpPr>
            <p:cNvPr id="27" name="Rectangle 26">
              <a:extLst>
                <a:ext uri="{FF2B5EF4-FFF2-40B4-BE49-F238E27FC236}">
                  <a16:creationId xmlns:a16="http://schemas.microsoft.com/office/drawing/2014/main" xmlns="" id="{BA6B578F-5B6E-979A-AE37-C8A8C384750B}"/>
                </a:ext>
              </a:extLst>
            </p:cNvPr>
            <p:cNvSpPr/>
            <p:nvPr/>
          </p:nvSpPr>
          <p:spPr>
            <a:xfrm>
              <a:off x="625475" y="2162511"/>
              <a:ext cx="2171513" cy="896471"/>
            </a:xfrm>
            <a:prstGeom prst="rect">
              <a:avLst/>
            </a:prstGeom>
            <a:noFill/>
            <a:ln>
              <a:solidFill>
                <a:srgbClr val="00206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dirty="0">
                <a:solidFill>
                  <a:schemeClr val="tx1"/>
                </a:solidFill>
              </a:endParaRPr>
            </a:p>
          </p:txBody>
        </p:sp>
      </p:grpSp>
      <p:sp>
        <p:nvSpPr>
          <p:cNvPr id="28" name="TextBox 27">
            <a:extLst>
              <a:ext uri="{FF2B5EF4-FFF2-40B4-BE49-F238E27FC236}">
                <a16:creationId xmlns:a16="http://schemas.microsoft.com/office/drawing/2014/main" xmlns="" id="{44ED9B92-38CD-8796-8453-683BDBFD7FCE}"/>
              </a:ext>
            </a:extLst>
          </p:cNvPr>
          <p:cNvSpPr txBox="1"/>
          <p:nvPr/>
        </p:nvSpPr>
        <p:spPr>
          <a:xfrm>
            <a:off x="3658940" y="4139657"/>
            <a:ext cx="1892818" cy="738664"/>
          </a:xfrm>
          <a:prstGeom prst="rect">
            <a:avLst/>
          </a:prstGeom>
          <a:noFill/>
        </p:spPr>
        <p:txBody>
          <a:bodyPr wrap="square">
            <a:spAutoFit/>
          </a:bodyPr>
          <a:lstStyle/>
          <a:p>
            <a:r>
              <a:rPr lang="en-GB" sz="1400" dirty="0">
                <a:highlight>
                  <a:srgbClr val="00FFFF"/>
                </a:highlight>
              </a:rPr>
              <a:t>https://www.jetbrains.com/pycharm/download/?section=windows</a:t>
            </a:r>
            <a:endParaRPr lang="aa-ET" sz="1400" dirty="0">
              <a:highlight>
                <a:srgbClr val="00FFFF"/>
              </a:highlight>
            </a:endParaRPr>
          </a:p>
        </p:txBody>
      </p:sp>
      <p:pic>
        <p:nvPicPr>
          <p:cNvPr id="3" name="Picture 2"/>
          <p:cNvPicPr>
            <a:picLocks noChangeAspect="1"/>
          </p:cNvPicPr>
          <p:nvPr/>
        </p:nvPicPr>
        <p:blipFill>
          <a:blip r:embed="rId3"/>
          <a:stretch>
            <a:fillRect/>
          </a:stretch>
        </p:blipFill>
        <p:spPr>
          <a:xfrm>
            <a:off x="4308143" y="2950349"/>
            <a:ext cx="743268" cy="762326"/>
          </a:xfrm>
          <a:prstGeom prst="rect">
            <a:avLst/>
          </a:prstGeom>
        </p:spPr>
      </p:pic>
      <p:pic>
        <p:nvPicPr>
          <p:cNvPr id="13" name="Picture 12"/>
          <p:cNvPicPr>
            <a:picLocks noChangeAspect="1"/>
          </p:cNvPicPr>
          <p:nvPr/>
        </p:nvPicPr>
        <p:blipFill>
          <a:blip r:embed="rId4"/>
          <a:stretch>
            <a:fillRect/>
          </a:stretch>
        </p:blipFill>
        <p:spPr>
          <a:xfrm>
            <a:off x="8260903" y="2480000"/>
            <a:ext cx="3448659" cy="1517233"/>
          </a:xfrm>
          <a:prstGeom prst="rect">
            <a:avLst/>
          </a:prstGeom>
        </p:spPr>
      </p:pic>
    </p:spTree>
    <p:extLst>
      <p:ext uri="{BB962C8B-B14F-4D97-AF65-F5344CB8AC3E}">
        <p14:creationId xmlns:p14="http://schemas.microsoft.com/office/powerpoint/2010/main" val="33270759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PYTHON SYNTAX</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5C88FD45-444B-F6DB-06A6-50DB63238405}"/>
              </a:ext>
            </a:extLst>
          </p:cNvPr>
          <p:cNvSpPr txBox="1"/>
          <p:nvPr/>
        </p:nvSpPr>
        <p:spPr>
          <a:xfrm>
            <a:off x="301904" y="1477986"/>
            <a:ext cx="7362921" cy="646331"/>
          </a:xfrm>
          <a:prstGeom prst="rect">
            <a:avLst/>
          </a:prstGeom>
          <a:noFill/>
        </p:spPr>
        <p:txBody>
          <a:bodyPr wrap="square">
            <a:spAutoFit/>
          </a:bodyPr>
          <a:lstStyle/>
          <a:p>
            <a:pPr algn="l"/>
            <a:r>
              <a:rPr lang="en-US" dirty="0">
                <a:solidFill>
                  <a:srgbClr val="000000"/>
                </a:solidFill>
                <a:highlight>
                  <a:srgbClr val="00FFFF"/>
                </a:highlight>
                <a:latin typeface="Times New Roman" panose="02020603050405020304" pitchFamily="18" charset="0"/>
                <a:cs typeface="Times New Roman" panose="02020603050405020304" pitchFamily="18" charset="0"/>
              </a:rPr>
              <a:t>T</a:t>
            </a:r>
            <a:r>
              <a:rPr lang="en-US" b="0" i="0" dirty="0">
                <a:solidFill>
                  <a:srgbClr val="000000"/>
                </a:solidFill>
                <a:effectLst/>
                <a:highlight>
                  <a:srgbClr val="00FFFF"/>
                </a:highlight>
                <a:latin typeface="Times New Roman" panose="02020603050405020304" pitchFamily="18" charset="0"/>
                <a:cs typeface="Times New Roman" panose="02020603050405020304" pitchFamily="18" charset="0"/>
              </a:rPr>
              <a:t>he set of rules that defines how a Python program will be written and interpreted.</a:t>
            </a:r>
          </a:p>
        </p:txBody>
      </p:sp>
      <p:grpSp>
        <p:nvGrpSpPr>
          <p:cNvPr id="5" name="Group 4">
            <a:extLst>
              <a:ext uri="{FF2B5EF4-FFF2-40B4-BE49-F238E27FC236}">
                <a16:creationId xmlns:a16="http://schemas.microsoft.com/office/drawing/2014/main" xmlns="" id="{74703C1E-C1EE-0DF7-6F88-E2C36581CF54}"/>
              </a:ext>
            </a:extLst>
          </p:cNvPr>
          <p:cNvGrpSpPr/>
          <p:nvPr/>
        </p:nvGrpSpPr>
        <p:grpSpPr>
          <a:xfrm>
            <a:off x="381505" y="2558645"/>
            <a:ext cx="2171513" cy="2162960"/>
            <a:chOff x="625475" y="1266040"/>
            <a:chExt cx="2171513" cy="1792942"/>
          </a:xfrm>
        </p:grpSpPr>
        <p:sp>
          <p:nvSpPr>
            <p:cNvPr id="6" name="Rectangle 5">
              <a:extLst>
                <a:ext uri="{FF2B5EF4-FFF2-40B4-BE49-F238E27FC236}">
                  <a16:creationId xmlns:a16="http://schemas.microsoft.com/office/drawing/2014/main" xmlns="" id="{1B4D73AE-419E-33F4-3517-448EE3FD2976}"/>
                </a:ext>
              </a:extLst>
            </p:cNvPr>
            <p:cNvSpPr/>
            <p:nvPr/>
          </p:nvSpPr>
          <p:spPr>
            <a:xfrm>
              <a:off x="625475" y="1266040"/>
              <a:ext cx="2171513" cy="896471"/>
            </a:xfrm>
            <a:prstGeom prst="rect">
              <a:avLst/>
            </a:prstGeom>
            <a:solidFill>
              <a:schemeClr val="accent2">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Indentation</a:t>
              </a:r>
              <a:endParaRPr lang="aa-ET" dirty="0"/>
            </a:p>
          </p:txBody>
        </p:sp>
        <p:sp>
          <p:nvSpPr>
            <p:cNvPr id="7" name="Rectangle 6">
              <a:extLst>
                <a:ext uri="{FF2B5EF4-FFF2-40B4-BE49-F238E27FC236}">
                  <a16:creationId xmlns:a16="http://schemas.microsoft.com/office/drawing/2014/main" xmlns="" id="{BA6B578F-5B6E-979A-AE37-C8A8C384750B}"/>
                </a:ext>
              </a:extLst>
            </p:cNvPr>
            <p:cNvSpPr/>
            <p:nvPr/>
          </p:nvSpPr>
          <p:spPr>
            <a:xfrm>
              <a:off x="625475" y="2162511"/>
              <a:ext cx="2171513" cy="896471"/>
            </a:xfrm>
            <a:prstGeom prst="rect">
              <a:avLst/>
            </a:prstGeom>
            <a:noFill/>
            <a:ln>
              <a:solidFill>
                <a:srgbClr val="00206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Defines a block of code</a:t>
              </a:r>
              <a:endParaRPr lang="aa-ET" dirty="0">
                <a:solidFill>
                  <a:schemeClr val="tx1"/>
                </a:solidFill>
              </a:endParaRPr>
            </a:p>
          </p:txBody>
        </p:sp>
      </p:grpSp>
      <p:pic>
        <p:nvPicPr>
          <p:cNvPr id="16" name="Picture 15">
            <a:extLst>
              <a:ext uri="{FF2B5EF4-FFF2-40B4-BE49-F238E27FC236}">
                <a16:creationId xmlns:a16="http://schemas.microsoft.com/office/drawing/2014/main" xmlns="" id="{FB669C70-39FD-12C6-0512-E8AA34FE35F2}"/>
              </a:ext>
            </a:extLst>
          </p:cNvPr>
          <p:cNvPicPr>
            <a:picLocks noChangeAspect="1"/>
          </p:cNvPicPr>
          <p:nvPr/>
        </p:nvPicPr>
        <p:blipFill>
          <a:blip r:embed="rId2"/>
          <a:stretch>
            <a:fillRect/>
          </a:stretch>
        </p:blipFill>
        <p:spPr>
          <a:xfrm>
            <a:off x="2851056" y="2565705"/>
            <a:ext cx="3800475" cy="685800"/>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xmlns="" id="{27510346-122A-5544-AD46-AA8751C34D09}"/>
              </a:ext>
            </a:extLst>
          </p:cNvPr>
          <p:cNvPicPr>
            <a:picLocks noChangeAspect="1"/>
          </p:cNvPicPr>
          <p:nvPr/>
        </p:nvPicPr>
        <p:blipFill>
          <a:blip r:embed="rId3"/>
          <a:stretch>
            <a:fillRect/>
          </a:stretch>
        </p:blipFill>
        <p:spPr>
          <a:xfrm>
            <a:off x="2851057" y="3657034"/>
            <a:ext cx="3800475" cy="628650"/>
          </a:xfrm>
          <a:prstGeom prst="rect">
            <a:avLst/>
          </a:prstGeom>
          <a:ln>
            <a:noFill/>
          </a:ln>
          <a:effectLst>
            <a:outerShdw blurRad="292100" dist="139700" dir="2700000" algn="tl" rotWithShape="0">
              <a:srgbClr val="333333">
                <a:alpha val="65000"/>
              </a:srgbClr>
            </a:outerShdw>
          </a:effectLst>
        </p:spPr>
      </p:pic>
      <p:cxnSp>
        <p:nvCxnSpPr>
          <p:cNvPr id="20" name="Straight Arrow Connector 19">
            <a:extLst>
              <a:ext uri="{FF2B5EF4-FFF2-40B4-BE49-F238E27FC236}">
                <a16:creationId xmlns:a16="http://schemas.microsoft.com/office/drawing/2014/main" xmlns="" id="{617D71D5-6231-76AD-F9D8-402DE3C67AE4}"/>
              </a:ext>
            </a:extLst>
          </p:cNvPr>
          <p:cNvCxnSpPr>
            <a:cxnSpLocks/>
          </p:cNvCxnSpPr>
          <p:nvPr/>
        </p:nvCxnSpPr>
        <p:spPr>
          <a:xfrm flipV="1">
            <a:off x="4428565" y="4285684"/>
            <a:ext cx="0" cy="6286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EBD7A118-F75D-54B7-EBDB-44CB7724C416}"/>
              </a:ext>
            </a:extLst>
          </p:cNvPr>
          <p:cNvSpPr txBox="1"/>
          <p:nvPr/>
        </p:nvSpPr>
        <p:spPr>
          <a:xfrm>
            <a:off x="3721806" y="4914334"/>
            <a:ext cx="1462894"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Syntax Error</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D477C2C0-8F47-0AC9-459C-84AE8B8C0134}"/>
              </a:ext>
            </a:extLst>
          </p:cNvPr>
          <p:cNvSpPr txBox="1"/>
          <p:nvPr/>
        </p:nvSpPr>
        <p:spPr>
          <a:xfrm>
            <a:off x="301904" y="5542984"/>
            <a:ext cx="7362921" cy="369332"/>
          </a:xfrm>
          <a:prstGeom prst="rect">
            <a:avLst/>
          </a:prstGeom>
          <a:noFill/>
        </p:spPr>
        <p:txBody>
          <a:bodyPr wrap="square">
            <a:spAutoFit/>
          </a:bodyPr>
          <a:lstStyle/>
          <a:p>
            <a:pPr algn="l"/>
            <a:r>
              <a:rPr lang="en-US" b="1" dirty="0">
                <a:solidFill>
                  <a:schemeClr val="accent4">
                    <a:lumMod val="75000"/>
                  </a:schemeClr>
                </a:solidFill>
                <a:latin typeface="Times New Roman" panose="02020603050405020304" pitchFamily="18" charset="0"/>
                <a:cs typeface="Times New Roman" panose="02020603050405020304" pitchFamily="18" charset="0"/>
              </a:rPr>
              <a:t>We’ll discover other important rules as we progress</a:t>
            </a:r>
            <a:endParaRPr lang="en-US" b="1" i="0" dirty="0">
              <a:solidFill>
                <a:schemeClr val="accent4">
                  <a:lumMod val="75000"/>
                </a:schemeClr>
              </a:solidFill>
              <a:effectLst/>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xmlns="" id="{704D99E0-781F-A807-A583-841FDBE06622}"/>
              </a:ext>
            </a:extLst>
          </p:cNvPr>
          <p:cNvSpPr txBox="1"/>
          <p:nvPr/>
        </p:nvSpPr>
        <p:spPr>
          <a:xfrm>
            <a:off x="301904" y="6306198"/>
            <a:ext cx="6096000" cy="276999"/>
          </a:xfrm>
          <a:prstGeom prst="rect">
            <a:avLst/>
          </a:prstGeom>
          <a:noFill/>
        </p:spPr>
        <p:txBody>
          <a:bodyPr wrap="square">
            <a:spAutoFit/>
          </a:bodyPr>
          <a:lstStyle/>
          <a:p>
            <a:r>
              <a:rPr lang="en-US" sz="1200" dirty="0">
                <a:solidFill>
                  <a:schemeClr val="bg1">
                    <a:lumMod val="50000"/>
                  </a:schemeClr>
                </a:solidFill>
              </a:rPr>
              <a:t>Credit: </a:t>
            </a:r>
            <a:r>
              <a:rPr lang="aa-ET" sz="1200" dirty="0">
                <a:solidFill>
                  <a:schemeClr val="bg1">
                    <a:lumMod val="50000"/>
                  </a:schemeClr>
                </a:solidFill>
              </a:rPr>
              <a:t>w3schools</a:t>
            </a:r>
          </a:p>
        </p:txBody>
      </p:sp>
      <p:pic>
        <p:nvPicPr>
          <p:cNvPr id="4098" name="Picture 2" descr="What is Syntax? Definition, Rules, and Examples | Grammarly">
            <a:extLst>
              <a:ext uri="{FF2B5EF4-FFF2-40B4-BE49-F238E27FC236}">
                <a16:creationId xmlns:a16="http://schemas.microsoft.com/office/drawing/2014/main" xmlns="" id="{051BEDEA-28DA-E282-CC16-14EF3966F79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18148" y="2496665"/>
            <a:ext cx="1975428" cy="178901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1160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highlight>
                  <a:srgbClr val="00FFFF"/>
                </a:highlight>
                <a:latin typeface="Arial Rounded MT Bold" panose="020F0704030504030204" pitchFamily="34" charset="0"/>
              </a:rPr>
              <a:t>HELLO WORLD! </a:t>
            </a:r>
            <a:r>
              <a:rPr lang="en-US" sz="2800" b="1" dirty="0">
                <a:latin typeface="Arial Rounded MT Bold" panose="020F0704030504030204" pitchFamily="34" charset="0"/>
              </a:rPr>
              <a:t>– Programming Tradition</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5C88FD45-444B-F6DB-06A6-50DB63238405}"/>
              </a:ext>
            </a:extLst>
          </p:cNvPr>
          <p:cNvSpPr txBox="1"/>
          <p:nvPr/>
        </p:nvSpPr>
        <p:spPr>
          <a:xfrm>
            <a:off x="377683" y="3798073"/>
            <a:ext cx="6462388" cy="369332"/>
          </a:xfrm>
          <a:prstGeom prst="rect">
            <a:avLst/>
          </a:prstGeom>
          <a:noFill/>
        </p:spPr>
        <p:txBody>
          <a:bodyPr wrap="square">
            <a:spAutoFit/>
          </a:bodyPr>
          <a:lstStyle/>
          <a:p>
            <a:pPr algn="l"/>
            <a:r>
              <a:rPr lang="en-US" dirty="0">
                <a:solidFill>
                  <a:srgbClr val="7030A0"/>
                </a:solidFill>
                <a:latin typeface="Times New Roman" panose="02020603050405020304" pitchFamily="18" charset="0"/>
                <a:cs typeface="Times New Roman" panose="02020603050405020304" pitchFamily="18" charset="0"/>
              </a:rPr>
              <a:t>!!! Notice the absence of a semi-colon after the bracket close</a:t>
            </a:r>
            <a:endParaRPr lang="en-US" i="0" dirty="0">
              <a:solidFill>
                <a:srgbClr val="7030A0"/>
              </a:solidFill>
              <a:effectLst/>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xmlns="" id="{4952AB3A-E852-FD11-88CB-31577D3ABC56}"/>
              </a:ext>
            </a:extLst>
          </p:cNvPr>
          <p:cNvPicPr>
            <a:picLocks noChangeAspect="1"/>
          </p:cNvPicPr>
          <p:nvPr/>
        </p:nvPicPr>
        <p:blipFill>
          <a:blip r:embed="rId2"/>
          <a:stretch>
            <a:fillRect/>
          </a:stretch>
        </p:blipFill>
        <p:spPr>
          <a:xfrm>
            <a:off x="437589" y="1880743"/>
            <a:ext cx="6634586" cy="1164851"/>
          </a:xfrm>
          <a:prstGeom prst="rect">
            <a:avLst/>
          </a:prstGeom>
        </p:spPr>
      </p:pic>
      <p:pic>
        <p:nvPicPr>
          <p:cNvPr id="17" name="Picture 2" descr="Coding and Fundamentals: Working With Collections - PHT">
            <a:extLst>
              <a:ext uri="{FF2B5EF4-FFF2-40B4-BE49-F238E27FC236}">
                <a16:creationId xmlns:a16="http://schemas.microsoft.com/office/drawing/2014/main" xmlns="" id="{7792A62C-E2FB-F10E-127C-DAC4C57DFD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2394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VARIABLES</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5C88FD45-444B-F6DB-06A6-50DB63238405}"/>
              </a:ext>
            </a:extLst>
          </p:cNvPr>
          <p:cNvSpPr txBox="1"/>
          <p:nvPr/>
        </p:nvSpPr>
        <p:spPr>
          <a:xfrm>
            <a:off x="454304" y="2552255"/>
            <a:ext cx="6462388" cy="369332"/>
          </a:xfrm>
          <a:prstGeom prst="rect">
            <a:avLst/>
          </a:prstGeom>
          <a:noFill/>
        </p:spPr>
        <p:txBody>
          <a:bodyPr wrap="square">
            <a:spAutoFit/>
          </a:bodyPr>
          <a:lstStyle/>
          <a:p>
            <a:pPr algn="l"/>
            <a:r>
              <a:rPr lang="en-US" dirty="0">
                <a:latin typeface="Times New Roman" panose="02020603050405020304" pitchFamily="18" charset="0"/>
                <a:cs typeface="Times New Roman" panose="02020603050405020304" pitchFamily="18" charset="0"/>
              </a:rPr>
              <a:t>DO YOU REMEMBER BACK IN HIGH SCHOOL?</a:t>
            </a:r>
            <a:endParaRPr lang="en-US" i="0" dirty="0">
              <a:effectLst/>
              <a:latin typeface="Times New Roman" panose="02020603050405020304" pitchFamily="18" charset="0"/>
              <a:cs typeface="Times New Roman" panose="02020603050405020304" pitchFamily="18" charset="0"/>
            </a:endParaRPr>
          </a:p>
        </p:txBody>
      </p:sp>
      <p:pic>
        <p:nvPicPr>
          <p:cNvPr id="17" name="Picture 2" descr="Coding and Fundamentals: Working With Collections - PHT">
            <a:extLst>
              <a:ext uri="{FF2B5EF4-FFF2-40B4-BE49-F238E27FC236}">
                <a16:creationId xmlns:a16="http://schemas.microsoft.com/office/drawing/2014/main" xmlns="" id="{7792A62C-E2FB-F10E-127C-DAC4C57DFD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3946CDCB-77D1-22AF-7B41-BA1F3E3488F4}"/>
              </a:ext>
            </a:extLst>
          </p:cNvPr>
          <p:cNvSpPr txBox="1"/>
          <p:nvPr/>
        </p:nvSpPr>
        <p:spPr>
          <a:xfrm>
            <a:off x="377682" y="1277233"/>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chemeClr val="accent2">
                    <a:lumMod val="75000"/>
                  </a:schemeClr>
                </a:solidFill>
                <a:effectLst/>
                <a:latin typeface="Times New Roman" panose="02020603050405020304" pitchFamily="18" charset="0"/>
                <a:cs typeface="Times New Roman" panose="02020603050405020304" pitchFamily="18" charset="0"/>
              </a:rPr>
              <a:t>Variables</a:t>
            </a:r>
            <a:r>
              <a:rPr lang="en-US" b="0" i="0" dirty="0">
                <a:solidFill>
                  <a:srgbClr val="000000"/>
                </a:solidFill>
                <a:effectLst/>
                <a:latin typeface="Times New Roman" panose="02020603050405020304" pitchFamily="18" charset="0"/>
                <a:cs typeface="Times New Roman" panose="02020603050405020304" pitchFamily="18" charset="0"/>
              </a:rPr>
              <a:t> are containers for storing data values. </a:t>
            </a:r>
          </a:p>
          <a:p>
            <a:pPr marL="285750" indent="-285750" algn="l">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Python has no command for declaring a variable.</a:t>
            </a:r>
          </a:p>
          <a:p>
            <a:pPr marL="285750" indent="-285750" algn="l">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A variable is created the moment you first assign a value to it. </a:t>
            </a:r>
            <a:endParaRPr lang="aa-ET" dirty="0">
              <a:solidFill>
                <a:srgbClr val="000000"/>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B8C6B459-8A2D-EBFB-A148-A4313558D1F5}"/>
              </a:ext>
            </a:extLst>
          </p:cNvPr>
          <p:cNvPicPr>
            <a:picLocks noChangeAspect="1"/>
          </p:cNvPicPr>
          <p:nvPr/>
        </p:nvPicPr>
        <p:blipFill>
          <a:blip r:embed="rId3"/>
          <a:stretch>
            <a:fillRect/>
          </a:stretch>
        </p:blipFill>
        <p:spPr>
          <a:xfrm>
            <a:off x="533400" y="3273280"/>
            <a:ext cx="5334000" cy="2200275"/>
          </a:xfrm>
          <a:prstGeom prst="rect">
            <a:avLst/>
          </a:prstGeom>
        </p:spPr>
      </p:pic>
      <p:sp>
        <p:nvSpPr>
          <p:cNvPr id="12" name="TextBox 11">
            <a:extLst>
              <a:ext uri="{FF2B5EF4-FFF2-40B4-BE49-F238E27FC236}">
                <a16:creationId xmlns:a16="http://schemas.microsoft.com/office/drawing/2014/main" xmlns="" id="{13C72B20-FB75-780C-B4C1-AE88F1152B4F}"/>
              </a:ext>
            </a:extLst>
          </p:cNvPr>
          <p:cNvSpPr txBox="1"/>
          <p:nvPr/>
        </p:nvSpPr>
        <p:spPr>
          <a:xfrm>
            <a:off x="454304" y="5979880"/>
            <a:ext cx="6462388" cy="369332"/>
          </a:xfrm>
          <a:prstGeom prst="rect">
            <a:avLst/>
          </a:prstGeom>
          <a:noFill/>
        </p:spPr>
        <p:txBody>
          <a:bodyPr wrap="square">
            <a:spAutoFit/>
          </a:bodyPr>
          <a:lstStyle/>
          <a:p>
            <a:pPr algn="l"/>
            <a:r>
              <a:rPr lang="en-US" dirty="0">
                <a:highlight>
                  <a:srgbClr val="00FF00"/>
                </a:highlight>
                <a:latin typeface="Times New Roman" panose="02020603050405020304" pitchFamily="18" charset="0"/>
                <a:cs typeface="Times New Roman" panose="02020603050405020304" pitchFamily="18" charset="0"/>
              </a:rPr>
              <a:t>These are variables in python</a:t>
            </a:r>
            <a:endParaRPr lang="en-US" i="0" dirty="0">
              <a:effectLst/>
              <a:highlight>
                <a:srgbClr val="00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8526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VARIABLES</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792A62C-E2FB-F10E-127C-DAC4C57DFD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3946CDCB-77D1-22AF-7B41-BA1F3E3488F4}"/>
              </a:ext>
            </a:extLst>
          </p:cNvPr>
          <p:cNvSpPr txBox="1"/>
          <p:nvPr/>
        </p:nvSpPr>
        <p:spPr>
          <a:xfrm>
            <a:off x="377682" y="1277233"/>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chemeClr val="accent2">
                    <a:lumMod val="75000"/>
                  </a:schemeClr>
                </a:solidFill>
                <a:effectLst/>
                <a:latin typeface="Times New Roman" panose="02020603050405020304" pitchFamily="18" charset="0"/>
                <a:cs typeface="Times New Roman" panose="02020603050405020304" pitchFamily="18" charset="0"/>
              </a:rPr>
              <a:t>Variables</a:t>
            </a:r>
            <a:r>
              <a:rPr lang="en-US" b="0" i="0" dirty="0">
                <a:solidFill>
                  <a:srgbClr val="000000"/>
                </a:solidFill>
                <a:effectLst/>
                <a:latin typeface="Times New Roman" panose="02020603050405020304" pitchFamily="18" charset="0"/>
                <a:cs typeface="Times New Roman" panose="02020603050405020304" pitchFamily="18" charset="0"/>
              </a:rPr>
              <a:t> are containers for storing data values. </a:t>
            </a:r>
          </a:p>
          <a:p>
            <a:pPr marL="285750" indent="-285750" algn="l">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Python has no command for declaring a variable.</a:t>
            </a:r>
          </a:p>
          <a:p>
            <a:pPr marL="285750" indent="-285750" algn="l">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A variable is created the moment you first assign a value to it. </a:t>
            </a:r>
            <a:endParaRPr lang="aa-ET" dirty="0">
              <a:solidFill>
                <a:srgbClr val="00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0ED0031F-7D73-592A-9312-853337A42CFC}"/>
              </a:ext>
            </a:extLst>
          </p:cNvPr>
          <p:cNvSpPr txBox="1"/>
          <p:nvPr/>
        </p:nvSpPr>
        <p:spPr>
          <a:xfrm>
            <a:off x="5224625" y="2597005"/>
            <a:ext cx="2319736" cy="3293209"/>
          </a:xfrm>
          <a:prstGeom prst="rect">
            <a:avLst/>
          </a:prstGeom>
          <a:noFill/>
        </p:spPr>
        <p:txBody>
          <a:bodyPr wrap="square">
            <a:spAutoFit/>
          </a:bodyPr>
          <a:lstStyle/>
          <a:p>
            <a:pPr algn="l"/>
            <a:r>
              <a:rPr lang="en-US" sz="1600" dirty="0">
                <a:solidFill>
                  <a:srgbClr val="7030A0"/>
                </a:solidFill>
                <a:highlight>
                  <a:srgbClr val="00FFFF"/>
                </a:highlight>
                <a:latin typeface="Times New Roman" panose="02020603050405020304" pitchFamily="18" charset="0"/>
                <a:cs typeface="Times New Roman" panose="02020603050405020304" pitchFamily="18" charset="0"/>
              </a:rPr>
              <a:t>Notes:</a:t>
            </a:r>
          </a:p>
          <a:p>
            <a:pPr algn="l"/>
            <a:endParaRPr lang="en-US" sz="1600" dirty="0">
              <a:solidFill>
                <a:srgbClr val="7030A0"/>
              </a:solidFill>
              <a:highlight>
                <a:srgbClr val="00FF00"/>
              </a:highlight>
              <a:latin typeface="Times New Roman" panose="02020603050405020304" pitchFamily="18" charset="0"/>
              <a:cs typeface="Times New Roman" panose="02020603050405020304" pitchFamily="18" charset="0"/>
            </a:endParaRPr>
          </a:p>
          <a:p>
            <a:pPr algn="l"/>
            <a:r>
              <a:rPr lang="en-US" sz="1600" dirty="0">
                <a:solidFill>
                  <a:srgbClr val="7030A0"/>
                </a:solidFill>
                <a:highlight>
                  <a:srgbClr val="00FF00"/>
                </a:highlight>
                <a:latin typeface="Times New Roman" panose="02020603050405020304" pitchFamily="18" charset="0"/>
                <a:cs typeface="Times New Roman" panose="02020603050405020304" pitchFamily="18" charset="0"/>
              </a:rPr>
              <a:t>Emmanuella is wrapped in a quotation mark.</a:t>
            </a:r>
          </a:p>
          <a:p>
            <a:pPr algn="l"/>
            <a:endParaRPr lang="en-US" sz="1600" dirty="0">
              <a:solidFill>
                <a:srgbClr val="7030A0"/>
              </a:solidFill>
              <a:highlight>
                <a:srgbClr val="00FF00"/>
              </a:highlight>
              <a:latin typeface="Times New Roman" panose="02020603050405020304" pitchFamily="18" charset="0"/>
              <a:cs typeface="Times New Roman" panose="02020603050405020304" pitchFamily="18" charset="0"/>
            </a:endParaRPr>
          </a:p>
          <a:p>
            <a:pPr algn="l"/>
            <a:endParaRPr lang="en-US" sz="1600" dirty="0">
              <a:solidFill>
                <a:srgbClr val="7030A0"/>
              </a:solidFill>
              <a:highlight>
                <a:srgbClr val="00FF00"/>
              </a:highlight>
              <a:latin typeface="Times New Roman" panose="02020603050405020304" pitchFamily="18" charset="0"/>
              <a:cs typeface="Times New Roman" panose="02020603050405020304" pitchFamily="18" charset="0"/>
            </a:endParaRPr>
          </a:p>
          <a:p>
            <a:pPr algn="l"/>
            <a:r>
              <a:rPr lang="en-US" sz="1600" dirty="0">
                <a:solidFill>
                  <a:srgbClr val="7030A0"/>
                </a:solidFill>
                <a:highlight>
                  <a:srgbClr val="00FF00"/>
                </a:highlight>
                <a:latin typeface="Times New Roman" panose="02020603050405020304" pitchFamily="18" charset="0"/>
                <a:cs typeface="Times New Roman" panose="02020603050405020304" pitchFamily="18" charset="0"/>
              </a:rPr>
              <a:t>Print(username) is not in a quotation mark</a:t>
            </a:r>
          </a:p>
          <a:p>
            <a:pPr algn="l"/>
            <a:endParaRPr lang="en-US" sz="1600" i="0" dirty="0">
              <a:solidFill>
                <a:srgbClr val="7030A0"/>
              </a:solidFill>
              <a:effectLst/>
              <a:highlight>
                <a:srgbClr val="00FF00"/>
              </a:highlight>
              <a:latin typeface="Times New Roman" panose="02020603050405020304" pitchFamily="18" charset="0"/>
              <a:cs typeface="Times New Roman" panose="02020603050405020304" pitchFamily="18" charset="0"/>
            </a:endParaRPr>
          </a:p>
          <a:p>
            <a:pPr algn="l"/>
            <a:endParaRPr lang="en-US" sz="1600" dirty="0">
              <a:solidFill>
                <a:srgbClr val="7030A0"/>
              </a:solidFill>
              <a:highlight>
                <a:srgbClr val="00FF00"/>
              </a:highlight>
              <a:latin typeface="Times New Roman" panose="02020603050405020304" pitchFamily="18" charset="0"/>
              <a:cs typeface="Times New Roman" panose="02020603050405020304" pitchFamily="18" charset="0"/>
            </a:endParaRPr>
          </a:p>
          <a:p>
            <a:pPr algn="l"/>
            <a:r>
              <a:rPr lang="en-US" sz="1600" i="0" dirty="0">
                <a:solidFill>
                  <a:srgbClr val="7030A0"/>
                </a:solidFill>
                <a:effectLst/>
                <a:highlight>
                  <a:srgbClr val="00FF00"/>
                </a:highlight>
                <a:latin typeface="Times New Roman" panose="02020603050405020304" pitchFamily="18" charset="0"/>
                <a:cs typeface="Times New Roman" panose="02020603050405020304" pitchFamily="18" charset="0"/>
              </a:rPr>
              <a:t>Print(‘Female’) is wrapped in a quotation mark </a:t>
            </a:r>
          </a:p>
        </p:txBody>
      </p:sp>
      <p:pic>
        <p:nvPicPr>
          <p:cNvPr id="3" name="Picture 2">
            <a:extLst>
              <a:ext uri="{FF2B5EF4-FFF2-40B4-BE49-F238E27FC236}">
                <a16:creationId xmlns:a16="http://schemas.microsoft.com/office/drawing/2014/main" xmlns="" id="{1722319C-1396-00CF-988F-94D3B3735FA3}"/>
              </a:ext>
            </a:extLst>
          </p:cNvPr>
          <p:cNvPicPr>
            <a:picLocks noChangeAspect="1"/>
          </p:cNvPicPr>
          <p:nvPr/>
        </p:nvPicPr>
        <p:blipFill>
          <a:blip r:embed="rId3"/>
          <a:stretch>
            <a:fillRect/>
          </a:stretch>
        </p:blipFill>
        <p:spPr>
          <a:xfrm>
            <a:off x="561741" y="2434138"/>
            <a:ext cx="4057650" cy="3562350"/>
          </a:xfrm>
          <a:prstGeom prst="rect">
            <a:avLst/>
          </a:prstGeom>
        </p:spPr>
      </p:pic>
    </p:spTree>
    <p:extLst>
      <p:ext uri="{BB962C8B-B14F-4D97-AF65-F5344CB8AC3E}">
        <p14:creationId xmlns:p14="http://schemas.microsoft.com/office/powerpoint/2010/main" val="22557761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RULES IN NAMING VARIABLES</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792A62C-E2FB-F10E-127C-DAC4C57DFD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3946CDCB-77D1-22AF-7B41-BA1F3E3488F4}"/>
              </a:ext>
            </a:extLst>
          </p:cNvPr>
          <p:cNvSpPr txBox="1"/>
          <p:nvPr/>
        </p:nvSpPr>
        <p:spPr>
          <a:xfrm>
            <a:off x="377682" y="1277233"/>
            <a:ext cx="7215423" cy="193899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dirty="0">
                <a:highlight>
                  <a:srgbClr val="00FFFF"/>
                </a:highlight>
                <a:latin typeface="Times New Roman" panose="02020603050405020304" pitchFamily="18" charset="0"/>
                <a:cs typeface="Times New Roman" panose="02020603050405020304" pitchFamily="18" charset="0"/>
              </a:rPr>
              <a:t>variable name</a:t>
            </a:r>
            <a:r>
              <a:rPr lang="en-US" dirty="0">
                <a:latin typeface="Times New Roman" panose="02020603050405020304" pitchFamily="18" charset="0"/>
                <a:cs typeface="Times New Roman" panose="02020603050405020304" pitchFamily="18" charset="0"/>
              </a:rPr>
              <a:t>:</a:t>
            </a:r>
          </a:p>
          <a:p>
            <a:pPr marL="285750" indent="-285750" algn="l">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must start with a letter or the underscore character</a:t>
            </a:r>
          </a:p>
          <a:p>
            <a:pPr marL="742950" lvl="1" indent="-285750">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cannot start with a number</a:t>
            </a:r>
          </a:p>
          <a:p>
            <a:pPr marL="742950" lvl="1" indent="-285750">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can only contain alpha-numeric characters and underscores (A-z, 0-9, and _ )</a:t>
            </a:r>
          </a:p>
          <a:p>
            <a:pPr marL="742950" lvl="1" indent="-285750">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is case-sensitive (age, Age and AGE are three different variables)</a:t>
            </a:r>
          </a:p>
          <a:p>
            <a:pPr marL="742950" lvl="1" indent="-285750">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cannot be any of the </a:t>
            </a:r>
            <a:r>
              <a:rPr lang="en-US" sz="1600" b="0" i="0" dirty="0">
                <a:effectLst/>
                <a:highlight>
                  <a:srgbClr val="00FF00"/>
                </a:highlight>
                <a:latin typeface="Times New Roman" panose="02020603050405020304" pitchFamily="18" charset="0"/>
                <a:cs typeface="Times New Roman" panose="02020603050405020304" pitchFamily="18" charset="0"/>
              </a:rPr>
              <a:t>Python keywords</a:t>
            </a:r>
            <a:r>
              <a:rPr lang="en-US" sz="1600" b="0" i="0" dirty="0">
                <a:effectLst/>
                <a:latin typeface="Times New Roman" panose="02020603050405020304" pitchFamily="18" charset="0"/>
                <a:cs typeface="Times New Roman" panose="02020603050405020304" pitchFamily="18" charset="0"/>
              </a:rPr>
              <a:t>.</a:t>
            </a:r>
            <a:endParaRPr lang="aa-ET" sz="16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985DEB1E-AC79-4FFE-350B-DE52F2E1B325}"/>
              </a:ext>
            </a:extLst>
          </p:cNvPr>
          <p:cNvPicPr>
            <a:picLocks noChangeAspect="1"/>
          </p:cNvPicPr>
          <p:nvPr/>
        </p:nvPicPr>
        <p:blipFill>
          <a:blip r:embed="rId3"/>
          <a:stretch>
            <a:fillRect/>
          </a:stretch>
        </p:blipFill>
        <p:spPr>
          <a:xfrm>
            <a:off x="571500" y="3284725"/>
            <a:ext cx="4953000" cy="1704975"/>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xmlns="" id="{CE10FA2A-F12D-5EE6-5E6A-9ECF46D1E8CD}"/>
              </a:ext>
            </a:extLst>
          </p:cNvPr>
          <p:cNvPicPr>
            <a:picLocks noChangeAspect="1"/>
          </p:cNvPicPr>
          <p:nvPr/>
        </p:nvPicPr>
        <p:blipFill>
          <a:blip r:embed="rId4"/>
          <a:stretch>
            <a:fillRect/>
          </a:stretch>
        </p:blipFill>
        <p:spPr>
          <a:xfrm>
            <a:off x="571500" y="5347684"/>
            <a:ext cx="4953000" cy="885825"/>
          </a:xfrm>
          <a:prstGeom prst="rect">
            <a:avLst/>
          </a:prstGeom>
          <a:ln>
            <a:noFill/>
          </a:ln>
          <a:effectLst>
            <a:outerShdw blurRad="292100" dist="139700" dir="2700000" algn="tl" rotWithShape="0">
              <a:srgbClr val="333333">
                <a:alpha val="65000"/>
              </a:srgbClr>
            </a:outerShdw>
          </a:effectLst>
        </p:spPr>
      </p:pic>
      <p:cxnSp>
        <p:nvCxnSpPr>
          <p:cNvPr id="11" name="Straight Arrow Connector 10">
            <a:extLst>
              <a:ext uri="{FF2B5EF4-FFF2-40B4-BE49-F238E27FC236}">
                <a16:creationId xmlns:a16="http://schemas.microsoft.com/office/drawing/2014/main" xmlns="" id="{598B9FC6-B2D5-6B41-2D62-79DDAA515E3A}"/>
              </a:ext>
            </a:extLst>
          </p:cNvPr>
          <p:cNvCxnSpPr>
            <a:cxnSpLocks/>
          </p:cNvCxnSpPr>
          <p:nvPr/>
        </p:nvCxnSpPr>
        <p:spPr>
          <a:xfrm rot="16200000" flipV="1">
            <a:off x="5883377" y="5504883"/>
            <a:ext cx="0" cy="6286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D6312AA3-07D7-FCB3-0CDA-D528D87E00DD}"/>
              </a:ext>
            </a:extLst>
          </p:cNvPr>
          <p:cNvSpPr txBox="1"/>
          <p:nvPr/>
        </p:nvSpPr>
        <p:spPr>
          <a:xfrm>
            <a:off x="6183154" y="5604615"/>
            <a:ext cx="1885077"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Error but why?</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498C58C4-9115-E1D8-6624-B6A683627FC2}"/>
              </a:ext>
            </a:extLst>
          </p:cNvPr>
          <p:cNvSpPr txBox="1"/>
          <p:nvPr/>
        </p:nvSpPr>
        <p:spPr>
          <a:xfrm>
            <a:off x="508093" y="6537036"/>
            <a:ext cx="6096000" cy="276999"/>
          </a:xfrm>
          <a:prstGeom prst="rect">
            <a:avLst/>
          </a:prstGeom>
          <a:noFill/>
        </p:spPr>
        <p:txBody>
          <a:bodyPr wrap="square">
            <a:spAutoFit/>
          </a:bodyPr>
          <a:lstStyle/>
          <a:p>
            <a:r>
              <a:rPr lang="en-US" sz="1200" dirty="0">
                <a:solidFill>
                  <a:schemeClr val="bg1">
                    <a:lumMod val="50000"/>
                  </a:schemeClr>
                </a:solidFill>
              </a:rPr>
              <a:t>Credit: </a:t>
            </a:r>
            <a:r>
              <a:rPr lang="aa-ET" sz="1200" dirty="0">
                <a:solidFill>
                  <a:schemeClr val="bg1">
                    <a:lumMod val="50000"/>
                  </a:schemeClr>
                </a:solidFill>
              </a:rPr>
              <a:t>w3schools</a:t>
            </a:r>
          </a:p>
        </p:txBody>
      </p:sp>
    </p:spTree>
    <p:extLst>
      <p:ext uri="{BB962C8B-B14F-4D97-AF65-F5344CB8AC3E}">
        <p14:creationId xmlns:p14="http://schemas.microsoft.com/office/powerpoint/2010/main" val="9250500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PYTHON KEYWORDS</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5C88FD45-444B-F6DB-06A6-50DB63238405}"/>
              </a:ext>
            </a:extLst>
          </p:cNvPr>
          <p:cNvSpPr txBox="1"/>
          <p:nvPr/>
        </p:nvSpPr>
        <p:spPr>
          <a:xfrm>
            <a:off x="284955" y="5821204"/>
            <a:ext cx="6946074" cy="369332"/>
          </a:xfrm>
          <a:prstGeom prst="rect">
            <a:avLst/>
          </a:prstGeom>
          <a:noFill/>
        </p:spPr>
        <p:txBody>
          <a:bodyPr wrap="square">
            <a:spAutoFit/>
          </a:bodyPr>
          <a:lstStyle/>
          <a:p>
            <a:pPr algn="l"/>
            <a:r>
              <a:rPr lang="en-US" dirty="0">
                <a:solidFill>
                  <a:srgbClr val="7030A0"/>
                </a:solidFill>
                <a:latin typeface="Times New Roman" panose="02020603050405020304" pitchFamily="18" charset="0"/>
                <a:cs typeface="Times New Roman" panose="02020603050405020304" pitchFamily="18" charset="0"/>
              </a:rPr>
              <a:t>!!! These keywords are reserved for the python programming languages</a:t>
            </a:r>
            <a:endParaRPr lang="en-US" i="0" dirty="0">
              <a:solidFill>
                <a:srgbClr val="7030A0"/>
              </a:solidFill>
              <a:effectLst/>
              <a:latin typeface="Times New Roman" panose="02020603050405020304" pitchFamily="18" charset="0"/>
              <a:cs typeface="Times New Roman" panose="02020603050405020304" pitchFamily="18" charset="0"/>
            </a:endParaRPr>
          </a:p>
        </p:txBody>
      </p:sp>
      <p:pic>
        <p:nvPicPr>
          <p:cNvPr id="17" name="Picture 2" descr="Coding and Fundamentals: Working With Collections - PHT">
            <a:extLst>
              <a:ext uri="{FF2B5EF4-FFF2-40B4-BE49-F238E27FC236}">
                <a16:creationId xmlns:a16="http://schemas.microsoft.com/office/drawing/2014/main" xmlns="" id="{7792A62C-E2FB-F10E-127C-DAC4C57DFD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xmlns="" id="{88087CEC-E49D-6DFA-63D4-8ADE01FD7226}"/>
              </a:ext>
            </a:extLst>
          </p:cNvPr>
          <p:cNvPicPr>
            <a:picLocks noChangeAspect="1"/>
          </p:cNvPicPr>
          <p:nvPr/>
        </p:nvPicPr>
        <p:blipFill>
          <a:blip r:embed="rId3"/>
          <a:stretch>
            <a:fillRect/>
          </a:stretch>
        </p:blipFill>
        <p:spPr>
          <a:xfrm>
            <a:off x="301904" y="2059383"/>
            <a:ext cx="6946075" cy="3631558"/>
          </a:xfrm>
          <a:prstGeom prst="rect">
            <a:avLst/>
          </a:prstGeom>
        </p:spPr>
      </p:pic>
      <p:sp>
        <p:nvSpPr>
          <p:cNvPr id="6" name="TextBox 5">
            <a:extLst>
              <a:ext uri="{FF2B5EF4-FFF2-40B4-BE49-F238E27FC236}">
                <a16:creationId xmlns:a16="http://schemas.microsoft.com/office/drawing/2014/main" xmlns="" id="{043811F6-6F45-42F6-E2E1-621B5962B328}"/>
              </a:ext>
            </a:extLst>
          </p:cNvPr>
          <p:cNvSpPr txBox="1"/>
          <p:nvPr/>
        </p:nvSpPr>
        <p:spPr>
          <a:xfrm>
            <a:off x="301904" y="6306198"/>
            <a:ext cx="6096000" cy="276999"/>
          </a:xfrm>
          <a:prstGeom prst="rect">
            <a:avLst/>
          </a:prstGeom>
          <a:noFill/>
        </p:spPr>
        <p:txBody>
          <a:bodyPr wrap="square">
            <a:spAutoFit/>
          </a:bodyPr>
          <a:lstStyle/>
          <a:p>
            <a:r>
              <a:rPr lang="en-US" sz="1200" dirty="0" err="1">
                <a:solidFill>
                  <a:schemeClr val="bg1">
                    <a:lumMod val="50000"/>
                  </a:schemeClr>
                </a:solidFill>
              </a:rPr>
              <a:t>Credit:programiz</a:t>
            </a:r>
            <a:endParaRPr lang="aa-ET" sz="1200" dirty="0">
              <a:solidFill>
                <a:schemeClr val="bg1">
                  <a:lumMod val="50000"/>
                </a:schemeClr>
              </a:solidFill>
            </a:endParaRPr>
          </a:p>
        </p:txBody>
      </p:sp>
      <p:sp>
        <p:nvSpPr>
          <p:cNvPr id="9" name="TextBox 8">
            <a:extLst>
              <a:ext uri="{FF2B5EF4-FFF2-40B4-BE49-F238E27FC236}">
                <a16:creationId xmlns:a16="http://schemas.microsoft.com/office/drawing/2014/main" xmlns="" id="{C7E2C3BC-B1E0-96CF-33F2-B23FBEE270E6}"/>
              </a:ext>
            </a:extLst>
          </p:cNvPr>
          <p:cNvSpPr txBox="1"/>
          <p:nvPr/>
        </p:nvSpPr>
        <p:spPr>
          <a:xfrm>
            <a:off x="301904" y="1225670"/>
            <a:ext cx="7192590" cy="646331"/>
          </a:xfrm>
          <a:prstGeom prst="rect">
            <a:avLst/>
          </a:prstGeom>
          <a:noFill/>
        </p:spPr>
        <p:txBody>
          <a:bodyPr wrap="square">
            <a:spAutoFit/>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are predefined, reserved words used in Python programming that have special meanings to the compiler.</a:t>
            </a:r>
            <a:endParaRPr lang="aa-E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81604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COMMENTS</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792A62C-E2FB-F10E-127C-DAC4C57DFD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3946CDCB-77D1-22AF-7B41-BA1F3E3488F4}"/>
              </a:ext>
            </a:extLst>
          </p:cNvPr>
          <p:cNvSpPr txBox="1"/>
          <p:nvPr/>
        </p:nvSpPr>
        <p:spPr>
          <a:xfrm>
            <a:off x="377682" y="1277233"/>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In computer programming, </a:t>
            </a:r>
            <a:r>
              <a:rPr lang="en-US" b="0" i="0" dirty="0">
                <a:solidFill>
                  <a:schemeClr val="accent2"/>
                </a:solidFill>
                <a:effectLst/>
                <a:latin typeface="Times New Roman" panose="02020603050405020304" pitchFamily="18" charset="0"/>
                <a:cs typeface="Times New Roman" panose="02020603050405020304" pitchFamily="18" charset="0"/>
              </a:rPr>
              <a:t>comments</a:t>
            </a:r>
            <a:r>
              <a:rPr lang="en-US" b="0" i="0" dirty="0">
                <a:effectLst/>
                <a:latin typeface="Times New Roman" panose="02020603050405020304" pitchFamily="18" charset="0"/>
                <a:cs typeface="Times New Roman" panose="02020603050405020304" pitchFamily="18" charset="0"/>
              </a:rPr>
              <a:t> are hints that we use to make our code more understandable. They are completely ignored by the interpreter. In python, we use the </a:t>
            </a:r>
            <a:r>
              <a:rPr lang="en-US" b="1" i="0" dirty="0">
                <a:effectLst/>
                <a:latin typeface="Times New Roman" panose="02020603050405020304" pitchFamily="18" charset="0"/>
                <a:cs typeface="Times New Roman" panose="02020603050405020304" pitchFamily="18" charset="0"/>
              </a:rPr>
              <a:t>#</a:t>
            </a:r>
            <a:r>
              <a:rPr lang="en-US" b="0" i="0" dirty="0">
                <a:effectLst/>
                <a:latin typeface="Times New Roman" panose="02020603050405020304" pitchFamily="18" charset="0"/>
                <a:cs typeface="Times New Roman" panose="02020603050405020304" pitchFamily="18" charset="0"/>
              </a:rPr>
              <a:t> symbol for commenting.</a:t>
            </a:r>
            <a:endParaRPr lang="aa-ET"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0ED0031F-7D73-592A-9312-853337A42CFC}"/>
              </a:ext>
            </a:extLst>
          </p:cNvPr>
          <p:cNvSpPr txBox="1"/>
          <p:nvPr/>
        </p:nvSpPr>
        <p:spPr>
          <a:xfrm>
            <a:off x="648303" y="4983344"/>
            <a:ext cx="6388991" cy="830997"/>
          </a:xfrm>
          <a:prstGeom prst="rect">
            <a:avLst/>
          </a:prstGeom>
          <a:noFill/>
        </p:spPr>
        <p:txBody>
          <a:bodyPr wrap="square">
            <a:spAutoFit/>
          </a:bodyPr>
          <a:lstStyle/>
          <a:p>
            <a:pPr algn="l"/>
            <a:r>
              <a:rPr lang="en-US" sz="1600" dirty="0">
                <a:solidFill>
                  <a:srgbClr val="7030A0"/>
                </a:solidFill>
                <a:highlight>
                  <a:srgbClr val="00FFFF"/>
                </a:highlight>
                <a:latin typeface="Times New Roman" panose="02020603050405020304" pitchFamily="18" charset="0"/>
                <a:cs typeface="Times New Roman" panose="02020603050405020304" pitchFamily="18" charset="0"/>
              </a:rPr>
              <a:t>Notes:</a:t>
            </a:r>
          </a:p>
          <a:p>
            <a:pPr algn="l"/>
            <a:endParaRPr lang="en-US" sz="1600" dirty="0">
              <a:solidFill>
                <a:srgbClr val="7030A0"/>
              </a:solidFill>
              <a:highlight>
                <a:srgbClr val="00FF00"/>
              </a:highlight>
              <a:latin typeface="Times New Roman" panose="02020603050405020304" pitchFamily="18" charset="0"/>
              <a:cs typeface="Times New Roman" panose="02020603050405020304" pitchFamily="18" charset="0"/>
            </a:endParaRPr>
          </a:p>
          <a:p>
            <a:pPr algn="l"/>
            <a:r>
              <a:rPr lang="en-US" sz="1600" dirty="0">
                <a:solidFill>
                  <a:srgbClr val="7030A0"/>
                </a:solidFill>
                <a:highlight>
                  <a:srgbClr val="00FF00"/>
                </a:highlight>
                <a:latin typeface="Times New Roman" panose="02020603050405020304" pitchFamily="18" charset="0"/>
                <a:cs typeface="Times New Roman" panose="02020603050405020304" pitchFamily="18" charset="0"/>
              </a:rPr>
              <a:t>Anything after the # symbol is ignored</a:t>
            </a:r>
            <a:endParaRPr lang="en-US" sz="1600" i="0" dirty="0">
              <a:solidFill>
                <a:srgbClr val="7030A0"/>
              </a:solidFill>
              <a:effectLst/>
              <a:highlight>
                <a:srgbClr val="00FF00"/>
              </a:highligh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7ADBB6FF-273B-6B67-5B89-A7BD3D16A99F}"/>
              </a:ext>
            </a:extLst>
          </p:cNvPr>
          <p:cNvPicPr>
            <a:picLocks noChangeAspect="1"/>
          </p:cNvPicPr>
          <p:nvPr/>
        </p:nvPicPr>
        <p:blipFill>
          <a:blip r:embed="rId3"/>
          <a:stretch>
            <a:fillRect/>
          </a:stretch>
        </p:blipFill>
        <p:spPr>
          <a:xfrm>
            <a:off x="720963" y="2460532"/>
            <a:ext cx="7047189" cy="2116231"/>
          </a:xfrm>
          <a:prstGeom prst="rect">
            <a:avLst/>
          </a:prstGeom>
        </p:spPr>
      </p:pic>
      <p:sp>
        <p:nvSpPr>
          <p:cNvPr id="9" name="TextBox 8">
            <a:extLst>
              <a:ext uri="{FF2B5EF4-FFF2-40B4-BE49-F238E27FC236}">
                <a16:creationId xmlns:a16="http://schemas.microsoft.com/office/drawing/2014/main" xmlns="" id="{6D17EC77-A9E5-2AC8-2010-375584801130}"/>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cxnSp>
        <p:nvCxnSpPr>
          <p:cNvPr id="2" name="Straight Arrow Connector 1">
            <a:extLst>
              <a:ext uri="{FF2B5EF4-FFF2-40B4-BE49-F238E27FC236}">
                <a16:creationId xmlns:a16="http://schemas.microsoft.com/office/drawing/2014/main" xmlns="" id="{6B2FE6E7-9172-7443-4A3D-B41922C1C124}"/>
              </a:ext>
            </a:extLst>
          </p:cNvPr>
          <p:cNvCxnSpPr>
            <a:cxnSpLocks/>
          </p:cNvCxnSpPr>
          <p:nvPr/>
        </p:nvCxnSpPr>
        <p:spPr>
          <a:xfrm flipH="1" flipV="1">
            <a:off x="2563906" y="3164541"/>
            <a:ext cx="3119718" cy="2231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xmlns="" id="{F43F6E13-9C77-7A2B-678A-E31F653D4B0B}"/>
              </a:ext>
            </a:extLst>
          </p:cNvPr>
          <p:cNvSpPr txBox="1"/>
          <p:nvPr/>
        </p:nvSpPr>
        <p:spPr>
          <a:xfrm>
            <a:off x="4976865" y="5396101"/>
            <a:ext cx="1462894"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Comment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24633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44AAB5-EE7C-8BA3-92DE-4A75E7C86D4A}"/>
            </a:ext>
          </a:extLst>
        </p:cNvPr>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C675034E-26B2-57BC-BDE9-6F6AFEBB67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E02DE77A-0D73-9FCE-AC9A-42CB2975136E}"/>
              </a:ext>
            </a:extLst>
          </p:cNvPr>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EBAA3053-2E23-B90C-94F6-C86C097DC1C7}"/>
              </a:ext>
            </a:extLst>
          </p:cNvPr>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DATA TYPES</a:t>
            </a:r>
          </a:p>
        </p:txBody>
      </p:sp>
    </p:spTree>
    <p:extLst>
      <p:ext uri="{BB962C8B-B14F-4D97-AF65-F5344CB8AC3E}">
        <p14:creationId xmlns:p14="http://schemas.microsoft.com/office/powerpoint/2010/main" val="6985917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DATA TYPES</a:t>
            </a:r>
          </a:p>
        </p:txBody>
      </p:sp>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792A62C-E2FB-F10E-127C-DAC4C57DFD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6D17EC77-A9E5-2AC8-2010-375584801130}"/>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84C833B9-17E0-A59F-054D-02DA0B0321BE}"/>
              </a:ext>
            </a:extLst>
          </p:cNvPr>
          <p:cNvSpPr txBox="1"/>
          <p:nvPr/>
        </p:nvSpPr>
        <p:spPr>
          <a:xfrm>
            <a:off x="377682" y="1313479"/>
            <a:ext cx="7215423" cy="1200329"/>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In computer programming, </a:t>
            </a:r>
            <a:r>
              <a:rPr lang="en-US" b="0" i="0" dirty="0">
                <a:solidFill>
                  <a:schemeClr val="accent2"/>
                </a:solidFill>
                <a:effectLst/>
                <a:latin typeface="Times New Roman" panose="02020603050405020304" pitchFamily="18" charset="0"/>
                <a:cs typeface="Times New Roman" panose="02020603050405020304" pitchFamily="18" charset="0"/>
              </a:rPr>
              <a:t>data type </a:t>
            </a:r>
            <a:r>
              <a:rPr lang="en-US" dirty="0">
                <a:latin typeface="Times New Roman" panose="02020603050405020304" pitchFamily="18" charset="0"/>
                <a:cs typeface="Times New Roman" panose="02020603050405020304" pitchFamily="18" charset="0"/>
              </a:rPr>
              <a:t>refers to the type of value a variable holds. The data type of a variable ensures that mathematical, relational or logical operations can be applied without causing an errors. Python supports the following:</a:t>
            </a:r>
            <a:endParaRPr lang="aa-ET"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6E69DB22-CBA6-A121-DD8B-76D6FFF7767B}"/>
              </a:ext>
            </a:extLst>
          </p:cNvPr>
          <p:cNvPicPr>
            <a:picLocks noChangeAspect="1"/>
          </p:cNvPicPr>
          <p:nvPr/>
        </p:nvPicPr>
        <p:blipFill>
          <a:blip r:embed="rId3"/>
          <a:stretch>
            <a:fillRect/>
          </a:stretch>
        </p:blipFill>
        <p:spPr>
          <a:xfrm>
            <a:off x="648303" y="2513808"/>
            <a:ext cx="4705350" cy="3476625"/>
          </a:xfrm>
          <a:prstGeom prst="rect">
            <a:avLst/>
          </a:prstGeom>
        </p:spPr>
      </p:pic>
    </p:spTree>
    <p:extLst>
      <p:ext uri="{BB962C8B-B14F-4D97-AF65-F5344CB8AC3E}">
        <p14:creationId xmlns:p14="http://schemas.microsoft.com/office/powerpoint/2010/main" val="4305272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7CA858-DF30-8EB0-732C-C9C2A9F92C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8AAC6DD4-C286-B172-E417-A6A0ADA7FB34}"/>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DATA TYPES</a:t>
            </a:r>
          </a:p>
        </p:txBody>
      </p:sp>
      <p:sp>
        <p:nvSpPr>
          <p:cNvPr id="8" name="Rectangle 7">
            <a:extLst>
              <a:ext uri="{FF2B5EF4-FFF2-40B4-BE49-F238E27FC236}">
                <a16:creationId xmlns:a16="http://schemas.microsoft.com/office/drawing/2014/main" xmlns="" id="{EEF5D5AD-34CF-793B-BC43-8752784B7B66}"/>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9ACF66FB-CE8B-B69A-4A70-12F573EFDF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064655F5-E276-FD6A-1073-20A810A2E6DD}"/>
              </a:ext>
            </a:extLst>
          </p:cNvPr>
          <p:cNvSpPr txBox="1"/>
          <p:nvPr/>
        </p:nvSpPr>
        <p:spPr>
          <a:xfrm>
            <a:off x="452112"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pic>
        <p:nvPicPr>
          <p:cNvPr id="5" name="Picture 4">
            <a:extLst>
              <a:ext uri="{FF2B5EF4-FFF2-40B4-BE49-F238E27FC236}">
                <a16:creationId xmlns:a16="http://schemas.microsoft.com/office/drawing/2014/main" xmlns="" id="{664875AF-33D0-17AC-311C-26AE328162A3}"/>
              </a:ext>
            </a:extLst>
          </p:cNvPr>
          <p:cNvPicPr>
            <a:picLocks noChangeAspect="1"/>
          </p:cNvPicPr>
          <p:nvPr/>
        </p:nvPicPr>
        <p:blipFill rotWithShape="1">
          <a:blip r:embed="rId3"/>
          <a:srcRect b="25000"/>
          <a:stretch/>
        </p:blipFill>
        <p:spPr>
          <a:xfrm>
            <a:off x="452112" y="1335742"/>
            <a:ext cx="6488381" cy="3630706"/>
          </a:xfrm>
          <a:prstGeom prst="rect">
            <a:avLst/>
          </a:prstGeom>
        </p:spPr>
      </p:pic>
    </p:spTree>
    <p:extLst>
      <p:ext uri="{BB962C8B-B14F-4D97-AF65-F5344CB8AC3E}">
        <p14:creationId xmlns:p14="http://schemas.microsoft.com/office/powerpoint/2010/main" val="16736155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34153B7-52EA-E335-7A8F-3AF3896908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F785B88A-0982-CA67-A796-2D1672602CB1}"/>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NUMERIC DATA TYPES</a:t>
            </a:r>
          </a:p>
        </p:txBody>
      </p:sp>
      <p:sp>
        <p:nvSpPr>
          <p:cNvPr id="8" name="Rectangle 7">
            <a:extLst>
              <a:ext uri="{FF2B5EF4-FFF2-40B4-BE49-F238E27FC236}">
                <a16:creationId xmlns:a16="http://schemas.microsoft.com/office/drawing/2014/main" xmlns="" id="{3E60604A-B4E7-CAE9-A836-FA04D73ECE33}"/>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66353CAF-3EF3-6D96-3293-C35C99C703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3BAF333A-F614-29FB-4076-8821F0DADDCB}"/>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pic>
        <p:nvPicPr>
          <p:cNvPr id="3" name="Picture 2">
            <a:extLst>
              <a:ext uri="{FF2B5EF4-FFF2-40B4-BE49-F238E27FC236}">
                <a16:creationId xmlns:a16="http://schemas.microsoft.com/office/drawing/2014/main" xmlns="" id="{E697126A-D1A6-E3F0-2647-669BCFE82966}"/>
              </a:ext>
            </a:extLst>
          </p:cNvPr>
          <p:cNvPicPr>
            <a:picLocks noChangeAspect="1"/>
          </p:cNvPicPr>
          <p:nvPr/>
        </p:nvPicPr>
        <p:blipFill>
          <a:blip r:embed="rId3"/>
          <a:stretch>
            <a:fillRect/>
          </a:stretch>
        </p:blipFill>
        <p:spPr>
          <a:xfrm>
            <a:off x="419823" y="1433690"/>
            <a:ext cx="6805729" cy="3598962"/>
          </a:xfrm>
          <a:prstGeom prst="rect">
            <a:avLst/>
          </a:prstGeom>
        </p:spPr>
      </p:pic>
      <p:sp>
        <p:nvSpPr>
          <p:cNvPr id="10" name="TextBox 9">
            <a:extLst>
              <a:ext uri="{FF2B5EF4-FFF2-40B4-BE49-F238E27FC236}">
                <a16:creationId xmlns:a16="http://schemas.microsoft.com/office/drawing/2014/main" xmlns="" id="{D011AFD8-BE7B-44C8-2D7E-953537E29022}"/>
              </a:ext>
            </a:extLst>
          </p:cNvPr>
          <p:cNvSpPr txBox="1"/>
          <p:nvPr/>
        </p:nvSpPr>
        <p:spPr>
          <a:xfrm>
            <a:off x="419823" y="5228234"/>
            <a:ext cx="6388991" cy="830997"/>
          </a:xfrm>
          <a:prstGeom prst="rect">
            <a:avLst/>
          </a:prstGeom>
          <a:noFill/>
        </p:spPr>
        <p:txBody>
          <a:bodyPr wrap="square">
            <a:spAutoFit/>
          </a:bodyPr>
          <a:lstStyle/>
          <a:p>
            <a:pPr algn="l"/>
            <a:r>
              <a:rPr lang="en-US" sz="1600" dirty="0">
                <a:solidFill>
                  <a:srgbClr val="7030A0"/>
                </a:solidFill>
                <a:highlight>
                  <a:srgbClr val="00FFFF"/>
                </a:highlight>
                <a:latin typeface="Times New Roman" panose="02020603050405020304" pitchFamily="18" charset="0"/>
                <a:cs typeface="Times New Roman" panose="02020603050405020304" pitchFamily="18" charset="0"/>
              </a:rPr>
              <a:t>Notes:</a:t>
            </a:r>
          </a:p>
          <a:p>
            <a:pPr algn="l"/>
            <a:endParaRPr lang="en-US" sz="1600" dirty="0">
              <a:solidFill>
                <a:srgbClr val="7030A0"/>
              </a:solidFill>
              <a:highlight>
                <a:srgbClr val="00FF00"/>
              </a:highlight>
              <a:latin typeface="Times New Roman" panose="02020603050405020304" pitchFamily="18" charset="0"/>
              <a:cs typeface="Times New Roman" panose="02020603050405020304" pitchFamily="18" charset="0"/>
            </a:endParaRPr>
          </a:p>
          <a:p>
            <a:pPr algn="l"/>
            <a:r>
              <a:rPr lang="en-US" sz="1600" dirty="0">
                <a:solidFill>
                  <a:srgbClr val="7030A0"/>
                </a:solidFill>
                <a:highlight>
                  <a:srgbClr val="00FF00"/>
                </a:highlight>
                <a:latin typeface="Times New Roman" panose="02020603050405020304" pitchFamily="18" charset="0"/>
                <a:cs typeface="Times New Roman" panose="02020603050405020304" pitchFamily="18" charset="0"/>
              </a:rPr>
              <a:t>But how do I know the data type of a variable ?</a:t>
            </a:r>
          </a:p>
        </p:txBody>
      </p:sp>
      <p:cxnSp>
        <p:nvCxnSpPr>
          <p:cNvPr id="11" name="Straight Arrow Connector 10">
            <a:extLst>
              <a:ext uri="{FF2B5EF4-FFF2-40B4-BE49-F238E27FC236}">
                <a16:creationId xmlns:a16="http://schemas.microsoft.com/office/drawing/2014/main" xmlns="" id="{40BC42CF-6801-F07E-057A-F6A19DEC4FA2}"/>
              </a:ext>
            </a:extLst>
          </p:cNvPr>
          <p:cNvCxnSpPr>
            <a:cxnSpLocks/>
          </p:cNvCxnSpPr>
          <p:nvPr/>
        </p:nvCxnSpPr>
        <p:spPr>
          <a:xfrm flipH="1" flipV="1">
            <a:off x="2823882" y="4840941"/>
            <a:ext cx="3415554" cy="7009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C4EA8F85-8E45-ADA4-CD54-5161E9A6B724}"/>
              </a:ext>
            </a:extLst>
          </p:cNvPr>
          <p:cNvSpPr txBox="1"/>
          <p:nvPr/>
        </p:nvSpPr>
        <p:spPr>
          <a:xfrm>
            <a:off x="5532676" y="5541863"/>
            <a:ext cx="1934924" cy="923330"/>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Concatenation. We can also use the + symbol</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6228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220609A-003E-7299-E558-7906053697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71F57C73-661F-3167-CF01-8808E2C56670}"/>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CHECK DATA TYPE</a:t>
            </a:r>
          </a:p>
        </p:txBody>
      </p:sp>
      <p:sp>
        <p:nvSpPr>
          <p:cNvPr id="8" name="Rectangle 7">
            <a:extLst>
              <a:ext uri="{FF2B5EF4-FFF2-40B4-BE49-F238E27FC236}">
                <a16:creationId xmlns:a16="http://schemas.microsoft.com/office/drawing/2014/main" xmlns="" id="{ABE3040E-E05F-B1BA-D475-DD905D4D43C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223F526D-CEAE-C854-A5DB-2802D0968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9F5C9C2D-4506-3353-FB2F-9C1258F2C161}"/>
              </a:ext>
            </a:extLst>
          </p:cNvPr>
          <p:cNvSpPr txBox="1"/>
          <p:nvPr/>
        </p:nvSpPr>
        <p:spPr>
          <a:xfrm>
            <a:off x="648303" y="6581001"/>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4C63F452-30F6-D97D-5DB0-5832B5228C0B}"/>
              </a:ext>
            </a:extLst>
          </p:cNvPr>
          <p:cNvSpPr txBox="1"/>
          <p:nvPr/>
        </p:nvSpPr>
        <p:spPr>
          <a:xfrm>
            <a:off x="377682" y="1116254"/>
            <a:ext cx="7215423" cy="1200329"/>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python programming, to know the</a:t>
            </a:r>
            <a:r>
              <a:rPr lang="en-US" b="0" i="0" dirty="0">
                <a:effectLst/>
                <a:latin typeface="Times New Roman" panose="02020603050405020304" pitchFamily="18" charset="0"/>
                <a:cs typeface="Times New Roman" panose="02020603050405020304" pitchFamily="18" charset="0"/>
              </a:rPr>
              <a:t> </a:t>
            </a:r>
            <a:r>
              <a:rPr lang="en-US" b="0" i="0" dirty="0">
                <a:solidFill>
                  <a:schemeClr val="accent2"/>
                </a:solidFill>
                <a:effectLst/>
                <a:latin typeface="Times New Roman" panose="02020603050405020304" pitchFamily="18" charset="0"/>
                <a:cs typeface="Times New Roman" panose="02020603050405020304" pitchFamily="18" charset="0"/>
              </a:rPr>
              <a:t>data type </a:t>
            </a:r>
            <a:r>
              <a:rPr lang="en-US" dirty="0">
                <a:latin typeface="Times New Roman" panose="02020603050405020304" pitchFamily="18" charset="0"/>
                <a:cs typeface="Times New Roman" panose="02020603050405020304" pitchFamily="18" charset="0"/>
              </a:rPr>
              <a:t>of a variable,  we use the type() function. Of course you don’t know what functions are. We’ll talk about them in moments. For now, understand that we use the type() function to get the data type of a variable.</a:t>
            </a:r>
            <a:endParaRPr lang="aa-ET"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69F2D43B-4966-6DB5-18C0-3BB16859AD4A}"/>
              </a:ext>
            </a:extLst>
          </p:cNvPr>
          <p:cNvPicPr>
            <a:picLocks noChangeAspect="1"/>
          </p:cNvPicPr>
          <p:nvPr/>
        </p:nvPicPr>
        <p:blipFill>
          <a:blip r:embed="rId3"/>
          <a:stretch>
            <a:fillRect/>
          </a:stretch>
        </p:blipFill>
        <p:spPr>
          <a:xfrm>
            <a:off x="738229" y="2372359"/>
            <a:ext cx="6542113" cy="3723154"/>
          </a:xfrm>
          <a:prstGeom prst="rect">
            <a:avLst/>
          </a:prstGeom>
        </p:spPr>
      </p:pic>
      <p:sp>
        <p:nvSpPr>
          <p:cNvPr id="7" name="TextBox 6">
            <a:extLst>
              <a:ext uri="{FF2B5EF4-FFF2-40B4-BE49-F238E27FC236}">
                <a16:creationId xmlns:a16="http://schemas.microsoft.com/office/drawing/2014/main" xmlns="" id="{798E9EB4-D550-A67C-823A-30AC4F57197A}"/>
              </a:ext>
            </a:extLst>
          </p:cNvPr>
          <p:cNvSpPr txBox="1"/>
          <p:nvPr/>
        </p:nvSpPr>
        <p:spPr>
          <a:xfrm>
            <a:off x="648303" y="6242447"/>
            <a:ext cx="6388991" cy="338554"/>
          </a:xfrm>
          <a:prstGeom prst="rect">
            <a:avLst/>
          </a:prstGeom>
          <a:noFill/>
        </p:spPr>
        <p:txBody>
          <a:bodyPr wrap="square">
            <a:spAutoFit/>
          </a:bodyPr>
          <a:lstStyle/>
          <a:p>
            <a:pPr algn="l"/>
            <a:r>
              <a:rPr lang="en-US" sz="1600" dirty="0">
                <a:solidFill>
                  <a:srgbClr val="7030A0"/>
                </a:solidFill>
                <a:highlight>
                  <a:srgbClr val="00FF00"/>
                </a:highlight>
                <a:latin typeface="Times New Roman" panose="02020603050405020304" pitchFamily="18" charset="0"/>
                <a:cs typeface="Times New Roman" panose="02020603050405020304" pitchFamily="18" charset="0"/>
              </a:rPr>
              <a:t>But how do I convert between data types? Well…</a:t>
            </a:r>
          </a:p>
        </p:txBody>
      </p:sp>
      <p:cxnSp>
        <p:nvCxnSpPr>
          <p:cNvPr id="11" name="Straight Arrow Connector 10">
            <a:extLst>
              <a:ext uri="{FF2B5EF4-FFF2-40B4-BE49-F238E27FC236}">
                <a16:creationId xmlns:a16="http://schemas.microsoft.com/office/drawing/2014/main" xmlns="" id="{5054B0CD-AF34-3053-43DC-AC4E23C19D95}"/>
              </a:ext>
            </a:extLst>
          </p:cNvPr>
          <p:cNvCxnSpPr>
            <a:cxnSpLocks/>
          </p:cNvCxnSpPr>
          <p:nvPr/>
        </p:nvCxnSpPr>
        <p:spPr>
          <a:xfrm flipH="1" flipV="1">
            <a:off x="5836024" y="3290047"/>
            <a:ext cx="376517" cy="30475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E02698F0-BA18-9129-B7A7-AE8FBD1F904A}"/>
              </a:ext>
            </a:extLst>
          </p:cNvPr>
          <p:cNvSpPr txBox="1"/>
          <p:nvPr/>
        </p:nvSpPr>
        <p:spPr>
          <a:xfrm>
            <a:off x="4948518" y="6211669"/>
            <a:ext cx="3056963"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Notice ‘</a:t>
            </a:r>
            <a:r>
              <a:rPr lang="en-US" dirty="0" err="1">
                <a:solidFill>
                  <a:srgbClr val="000000"/>
                </a:solidFill>
                <a:highlight>
                  <a:srgbClr val="FF00FF"/>
                </a:highlight>
                <a:latin typeface="Times New Roman" panose="02020603050405020304" pitchFamily="18" charset="0"/>
                <a:cs typeface="Times New Roman" panose="02020603050405020304" pitchFamily="18" charset="0"/>
              </a:rPr>
              <a:t>complex’,’float</a:t>
            </a:r>
            <a:r>
              <a:rPr lang="en-US" dirty="0">
                <a:solidFill>
                  <a:srgbClr val="000000"/>
                </a:solidFill>
                <a:highlight>
                  <a:srgbClr val="FF00FF"/>
                </a:highlight>
                <a:latin typeface="Times New Roman" panose="02020603050405020304" pitchFamily="18" charset="0"/>
                <a:cs typeface="Times New Roman" panose="02020603050405020304" pitchFamily="18" charset="0"/>
              </a:rPr>
              <a:t>’, ‘int’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B71FAD14-84DD-01E9-2FAD-624B734E82BC}"/>
              </a:ext>
            </a:extLst>
          </p:cNvPr>
          <p:cNvCxnSpPr>
            <a:cxnSpLocks/>
          </p:cNvCxnSpPr>
          <p:nvPr/>
        </p:nvCxnSpPr>
        <p:spPr>
          <a:xfrm flipV="1">
            <a:off x="6275294" y="3290047"/>
            <a:ext cx="170926" cy="30475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13869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5B03120-7D95-484F-6261-BAA801B181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DE9687DE-3BC0-FF0C-8C82-D8EA44590CF8}"/>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 DATA TYPE CONVERTION</a:t>
            </a:r>
          </a:p>
        </p:txBody>
      </p:sp>
      <p:sp>
        <p:nvSpPr>
          <p:cNvPr id="8" name="Rectangle 7">
            <a:extLst>
              <a:ext uri="{FF2B5EF4-FFF2-40B4-BE49-F238E27FC236}">
                <a16:creationId xmlns:a16="http://schemas.microsoft.com/office/drawing/2014/main" xmlns="" id="{51F15BA4-303D-9FB3-623E-409CFF991DA1}"/>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A467021F-9C16-313F-500E-7E2329054F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BF0E3BF6-B0D3-C10D-3803-D9A4A00986B3}"/>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07E7C45F-D65B-2D6E-ED6A-F6373FA2F94C}"/>
              </a:ext>
            </a:extLst>
          </p:cNvPr>
          <p:cNvSpPr txBox="1"/>
          <p:nvPr/>
        </p:nvSpPr>
        <p:spPr>
          <a:xfrm>
            <a:off x="150952" y="1079201"/>
            <a:ext cx="7514478"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can easily switch between data types. Pay close attention to the results after we checked the data types. They returned something like: </a:t>
            </a:r>
          </a:p>
          <a:p>
            <a:pPr algn="l"/>
            <a:r>
              <a:rPr lang="en-US" dirty="0">
                <a:latin typeface="Times New Roman" panose="02020603050405020304" pitchFamily="18" charset="0"/>
                <a:cs typeface="Times New Roman" panose="02020603050405020304" pitchFamily="18" charset="0"/>
              </a:rPr>
              <a:t>     &lt;class ‘int’&gt;. Now, to convert any numeric value to an integer, we use int()     </a:t>
            </a:r>
            <a:endParaRPr lang="aa-ET"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47302AA9-97D6-39AB-D1B3-01C70FFD4727}"/>
              </a:ext>
            </a:extLst>
          </p:cNvPr>
          <p:cNvSpPr txBox="1"/>
          <p:nvPr/>
        </p:nvSpPr>
        <p:spPr>
          <a:xfrm>
            <a:off x="150952" y="5977117"/>
            <a:ext cx="6388991" cy="338554"/>
          </a:xfrm>
          <a:prstGeom prst="rect">
            <a:avLst/>
          </a:prstGeom>
          <a:noFill/>
        </p:spPr>
        <p:txBody>
          <a:bodyPr wrap="square">
            <a:spAutoFit/>
          </a:bodyPr>
          <a:lstStyle/>
          <a:p>
            <a:pPr algn="l"/>
            <a:r>
              <a:rPr lang="en-US" sz="1600" dirty="0">
                <a:solidFill>
                  <a:srgbClr val="7030A0"/>
                </a:solidFill>
                <a:highlight>
                  <a:srgbClr val="00FF00"/>
                </a:highlight>
                <a:latin typeface="Times New Roman" panose="02020603050405020304" pitchFamily="18" charset="0"/>
                <a:cs typeface="Times New Roman" panose="02020603050405020304" pitchFamily="18" charset="0"/>
              </a:rPr>
              <a:t>This applies to converting to int(), float(), complex().</a:t>
            </a:r>
          </a:p>
        </p:txBody>
      </p:sp>
      <p:pic>
        <p:nvPicPr>
          <p:cNvPr id="5" name="Picture 4">
            <a:extLst>
              <a:ext uri="{FF2B5EF4-FFF2-40B4-BE49-F238E27FC236}">
                <a16:creationId xmlns:a16="http://schemas.microsoft.com/office/drawing/2014/main" xmlns="" id="{6EE2AA1E-E1D5-CD98-38C2-99D3883E22B1}"/>
              </a:ext>
            </a:extLst>
          </p:cNvPr>
          <p:cNvPicPr>
            <a:picLocks noChangeAspect="1"/>
          </p:cNvPicPr>
          <p:nvPr/>
        </p:nvPicPr>
        <p:blipFill>
          <a:blip r:embed="rId3"/>
          <a:stretch>
            <a:fillRect/>
          </a:stretch>
        </p:blipFill>
        <p:spPr>
          <a:xfrm>
            <a:off x="234247" y="2366409"/>
            <a:ext cx="7454256" cy="2471174"/>
          </a:xfrm>
          <a:prstGeom prst="rect">
            <a:avLst/>
          </a:prstGeom>
        </p:spPr>
      </p:pic>
      <p:cxnSp>
        <p:nvCxnSpPr>
          <p:cNvPr id="10" name="Straight Arrow Connector 9">
            <a:extLst>
              <a:ext uri="{FF2B5EF4-FFF2-40B4-BE49-F238E27FC236}">
                <a16:creationId xmlns:a16="http://schemas.microsoft.com/office/drawing/2014/main" xmlns="" id="{69ED5BC0-60BD-8203-FBB4-1D8CAC25D3B7}"/>
              </a:ext>
            </a:extLst>
          </p:cNvPr>
          <p:cNvCxnSpPr>
            <a:cxnSpLocks/>
          </p:cNvCxnSpPr>
          <p:nvPr/>
        </p:nvCxnSpPr>
        <p:spPr>
          <a:xfrm flipH="1">
            <a:off x="2277035" y="4373418"/>
            <a:ext cx="287924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352C5B08-28B4-DC43-B1CB-019293583CF0}"/>
              </a:ext>
            </a:extLst>
          </p:cNvPr>
          <p:cNvSpPr txBox="1"/>
          <p:nvPr/>
        </p:nvSpPr>
        <p:spPr>
          <a:xfrm>
            <a:off x="5094979" y="4036353"/>
            <a:ext cx="1958674"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Wrapped in float() function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122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5634" y="475680"/>
            <a:ext cx="6380480" cy="521970"/>
          </a:xfrm>
          <a:prstGeom prst="rect">
            <a:avLst/>
          </a:prstGeom>
          <a:noFill/>
        </p:spPr>
        <p:txBody>
          <a:bodyPr wrap="square" rtlCol="0">
            <a:spAutoFit/>
          </a:bodyPr>
          <a:lstStyle/>
          <a:p>
            <a:r>
              <a:rPr lang="en-US" sz="2800" b="1" dirty="0">
                <a:latin typeface="Arial Rounded MT Bold" panose="020F0704030504030204" pitchFamily="34" charset="0"/>
              </a:rPr>
              <a:t>Hands-on: 5 mins maximum</a:t>
            </a:r>
          </a:p>
        </p:txBody>
      </p:sp>
      <p:sp>
        <p:nvSpPr>
          <p:cNvPr id="8" name="Rectangle 7"/>
          <p:cNvSpPr/>
          <p:nvPr/>
        </p:nvSpPr>
        <p:spPr>
          <a:xfrm>
            <a:off x="780622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ontent Placeholder 1" descr="Creating-a-New-Database-in-MySQL_1068x580-removebg-preview"/>
          <p:cNvPicPr>
            <a:picLocks noGrp="1" noChangeAspect="1"/>
          </p:cNvPicPr>
          <p:nvPr>
            <p:ph idx="1"/>
          </p:nvPr>
        </p:nvPicPr>
        <p:blipFill>
          <a:blip r:embed="rId2"/>
          <a:stretch>
            <a:fillRect/>
          </a:stretch>
        </p:blipFill>
        <p:spPr>
          <a:xfrm>
            <a:off x="7629525" y="2240280"/>
            <a:ext cx="4398645" cy="2387600"/>
          </a:xfrm>
          <a:prstGeom prst="rect">
            <a:avLst/>
          </a:prstGeom>
        </p:spPr>
      </p:pic>
      <p:sp>
        <p:nvSpPr>
          <p:cNvPr id="3" name="TextBox 2">
            <a:extLst>
              <a:ext uri="{FF2B5EF4-FFF2-40B4-BE49-F238E27FC236}">
                <a16:creationId xmlns:a16="http://schemas.microsoft.com/office/drawing/2014/main" xmlns="" id="{0719B790-E48D-BD84-51E1-E031B849EE23}"/>
              </a:ext>
            </a:extLst>
          </p:cNvPr>
          <p:cNvSpPr txBox="1"/>
          <p:nvPr/>
        </p:nvSpPr>
        <p:spPr>
          <a:xfrm>
            <a:off x="625634" y="1262879"/>
            <a:ext cx="5999284" cy="2862322"/>
          </a:xfrm>
          <a:prstGeom prst="rect">
            <a:avLst/>
          </a:prstGeom>
          <a:noFill/>
        </p:spPr>
        <p:txBody>
          <a:bodyPr wrap="square">
            <a:spAutoFit/>
          </a:bodyPr>
          <a:lstStyle/>
          <a:p>
            <a:pPr marL="0" marR="0">
              <a:spcBef>
                <a:spcPts val="0"/>
              </a:spcBef>
              <a:spcAft>
                <a:spcPts val="0"/>
              </a:spcAft>
            </a:pPr>
            <a:r>
              <a:rPr lang="en-US" sz="2000" kern="100" dirty="0">
                <a:highlight>
                  <a:srgbClr val="00FF00"/>
                </a:highlight>
                <a:latin typeface="Times New Roman" panose="02020603050405020304" pitchFamily="18" charset="0"/>
                <a:ea typeface="SimSun" panose="02010600030101010101" pitchFamily="2" charset="-122"/>
              </a:rPr>
              <a:t>Create:</a:t>
            </a:r>
          </a:p>
          <a:p>
            <a:pPr marL="0" marR="0">
              <a:spcBef>
                <a:spcPts val="0"/>
              </a:spcBef>
              <a:spcAft>
                <a:spcPts val="0"/>
              </a:spcAft>
            </a:pPr>
            <a:r>
              <a:rPr lang="en-US" sz="2000" kern="100" dirty="0">
                <a:highlight>
                  <a:srgbClr val="00FF00"/>
                </a:highlight>
                <a:latin typeface="Times New Roman" panose="02020603050405020304" pitchFamily="18" charset="0"/>
                <a:ea typeface="SimSun" panose="02010600030101010101" pitchFamily="2" charset="-122"/>
              </a:rPr>
              <a:t> </a:t>
            </a:r>
          </a:p>
          <a:p>
            <a:pPr marL="0" marR="0">
              <a:spcBef>
                <a:spcPts val="0"/>
              </a:spcBef>
              <a:spcAft>
                <a:spcPts val="0"/>
              </a:spcAft>
            </a:pPr>
            <a:r>
              <a:rPr lang="en-US" sz="2000" kern="100" dirty="0">
                <a:highlight>
                  <a:srgbClr val="FFFF00"/>
                </a:highlight>
                <a:latin typeface="Times New Roman" panose="02020603050405020304" pitchFamily="18" charset="0"/>
                <a:ea typeface="SimSun" panose="02010600030101010101" pitchFamily="2" charset="-122"/>
              </a:rPr>
              <a:t>variable X = 23 </a:t>
            </a:r>
          </a:p>
          <a:p>
            <a:pPr marL="0" marR="0">
              <a:spcBef>
                <a:spcPts val="0"/>
              </a:spcBef>
              <a:spcAft>
                <a:spcPts val="0"/>
              </a:spcAft>
            </a:pPr>
            <a:r>
              <a:rPr lang="en-US" sz="2000" kern="100" dirty="0">
                <a:highlight>
                  <a:srgbClr val="FFFF00"/>
                </a:highlight>
                <a:latin typeface="Times New Roman" panose="02020603050405020304" pitchFamily="18" charset="0"/>
                <a:ea typeface="SimSun" panose="02010600030101010101" pitchFamily="2" charset="-122"/>
              </a:rPr>
              <a:t>Variable Y = “12”</a:t>
            </a:r>
          </a:p>
          <a:p>
            <a:pPr marL="0" marR="0">
              <a:spcBef>
                <a:spcPts val="0"/>
              </a:spcBef>
              <a:spcAft>
                <a:spcPts val="0"/>
              </a:spcAft>
            </a:pPr>
            <a:endParaRPr lang="en-US" sz="2000" kern="100" dirty="0">
              <a:highlight>
                <a:srgbClr val="00FF00"/>
              </a:highlight>
              <a:latin typeface="Times New Roman" panose="02020603050405020304" pitchFamily="18" charset="0"/>
              <a:ea typeface="SimSun" panose="02010600030101010101" pitchFamily="2" charset="-122"/>
            </a:endParaRPr>
          </a:p>
          <a:p>
            <a:pPr marL="0" marR="0">
              <a:spcBef>
                <a:spcPts val="0"/>
              </a:spcBef>
              <a:spcAft>
                <a:spcPts val="0"/>
              </a:spcAft>
            </a:pPr>
            <a:r>
              <a:rPr lang="en-US" sz="2000" kern="100" dirty="0">
                <a:highlight>
                  <a:srgbClr val="00FF00"/>
                </a:highlight>
                <a:latin typeface="Times New Roman" panose="02020603050405020304" pitchFamily="18" charset="0"/>
                <a:ea typeface="SimSun" panose="02010600030101010101" pitchFamily="2" charset="-122"/>
              </a:rPr>
              <a:t>Tasks:</a:t>
            </a:r>
          </a:p>
          <a:p>
            <a:pPr marL="457200" marR="0" indent="-457200">
              <a:spcBef>
                <a:spcPts val="0"/>
              </a:spcBef>
              <a:spcAft>
                <a:spcPts val="0"/>
              </a:spcAft>
              <a:buAutoNum type="arabicPeriod"/>
            </a:pPr>
            <a:r>
              <a:rPr lang="en-US" sz="2000" kern="100" dirty="0">
                <a:highlight>
                  <a:srgbClr val="00FF00"/>
                </a:highlight>
                <a:latin typeface="Times New Roman" panose="02020603050405020304" pitchFamily="18" charset="0"/>
                <a:ea typeface="SimSun" panose="02010600030101010101" pitchFamily="2" charset="-122"/>
              </a:rPr>
              <a:t>Print the data type of X</a:t>
            </a:r>
          </a:p>
          <a:p>
            <a:pPr marL="457200" marR="0" indent="-457200">
              <a:spcBef>
                <a:spcPts val="0"/>
              </a:spcBef>
              <a:spcAft>
                <a:spcPts val="0"/>
              </a:spcAft>
              <a:buAutoNum type="arabicPeriod"/>
            </a:pPr>
            <a:r>
              <a:rPr lang="en-US" sz="2000" kern="100" dirty="0">
                <a:highlight>
                  <a:srgbClr val="00FF00"/>
                </a:highlight>
                <a:latin typeface="Times New Roman" panose="02020603050405020304" pitchFamily="18" charset="0"/>
                <a:ea typeface="SimSun" panose="02010600030101010101" pitchFamily="2" charset="-122"/>
              </a:rPr>
              <a:t>Print the data type of Y</a:t>
            </a:r>
          </a:p>
          <a:p>
            <a:pPr marL="457200" marR="0" indent="-457200">
              <a:spcBef>
                <a:spcPts val="0"/>
              </a:spcBef>
              <a:spcAft>
                <a:spcPts val="0"/>
              </a:spcAft>
              <a:buAutoNum type="arabicPeriod"/>
            </a:pPr>
            <a:r>
              <a:rPr lang="en-US" sz="2000" kern="100" dirty="0">
                <a:highlight>
                  <a:srgbClr val="00FF00"/>
                </a:highlight>
                <a:latin typeface="Times New Roman" panose="02020603050405020304" pitchFamily="18" charset="0"/>
                <a:ea typeface="SimSun" panose="02010600030101010101" pitchFamily="2" charset="-122"/>
              </a:rPr>
              <a:t>Compute Z = X+Y such that the result of Z = 35</a:t>
            </a:r>
          </a:p>
        </p:txBody>
      </p:sp>
    </p:spTree>
    <p:extLst>
      <p:ext uri="{BB962C8B-B14F-4D97-AF65-F5344CB8AC3E}">
        <p14:creationId xmlns:p14="http://schemas.microsoft.com/office/powerpoint/2010/main" val="7506735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F7AE565-DB99-8D1B-0786-513316BF62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03FB229D-E743-8862-B362-ABE5E4C91F86}"/>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STRING DATA TYPE</a:t>
            </a:r>
          </a:p>
        </p:txBody>
      </p:sp>
      <p:sp>
        <p:nvSpPr>
          <p:cNvPr id="8" name="Rectangle 7">
            <a:extLst>
              <a:ext uri="{FF2B5EF4-FFF2-40B4-BE49-F238E27FC236}">
                <a16:creationId xmlns:a16="http://schemas.microsoft.com/office/drawing/2014/main" xmlns="" id="{1F79FD19-0DE8-BAD3-BCA6-57B46F7E7896}"/>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D8D544A1-F5FC-92CD-794F-B4F33EF844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567CFB8C-399E-A499-3792-D425648A9D19}"/>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6BF9CA69-2895-9E4D-DC2E-76682407F9BD}"/>
              </a:ext>
            </a:extLst>
          </p:cNvPr>
          <p:cNvSpPr txBox="1"/>
          <p:nvPr/>
        </p:nvSpPr>
        <p:spPr>
          <a:xfrm>
            <a:off x="0" y="110855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python programming, to know the</a:t>
            </a:r>
            <a:r>
              <a:rPr lang="en-US" b="0" i="0" dirty="0">
                <a:effectLst/>
                <a:latin typeface="Times New Roman" panose="02020603050405020304" pitchFamily="18" charset="0"/>
                <a:cs typeface="Times New Roman" panose="02020603050405020304" pitchFamily="18" charset="0"/>
              </a:rPr>
              <a:t> </a:t>
            </a:r>
            <a:r>
              <a:rPr lang="en-US" b="0" i="0" dirty="0">
                <a:solidFill>
                  <a:schemeClr val="accent2"/>
                </a:solidFill>
                <a:effectLst/>
                <a:latin typeface="Times New Roman" panose="02020603050405020304" pitchFamily="18" charset="0"/>
                <a:cs typeface="Times New Roman" panose="02020603050405020304" pitchFamily="18" charset="0"/>
              </a:rPr>
              <a:t>strings are enclosed in quotation marks “”</a:t>
            </a:r>
            <a:r>
              <a:rPr lang="en-US" dirty="0">
                <a:latin typeface="Times New Roman" panose="02020603050405020304" pitchFamily="18" charset="0"/>
                <a:cs typeface="Times New Roman" panose="02020603050405020304" pitchFamily="18" charset="0"/>
              </a:rPr>
              <a:t>. For instance, 22 is an integer but “22” is a string. We can use the single or double quotes to create string variables in python</a:t>
            </a:r>
            <a:endParaRPr lang="aa-ET"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xmlns="" id="{77A5A36B-6DBD-1A95-4652-F144BCE4B85A}"/>
              </a:ext>
            </a:extLst>
          </p:cNvPr>
          <p:cNvPicPr>
            <a:picLocks noChangeAspect="1"/>
          </p:cNvPicPr>
          <p:nvPr/>
        </p:nvPicPr>
        <p:blipFill>
          <a:blip r:embed="rId3"/>
          <a:stretch>
            <a:fillRect/>
          </a:stretch>
        </p:blipFill>
        <p:spPr>
          <a:xfrm>
            <a:off x="405965" y="2400110"/>
            <a:ext cx="6703048" cy="1869037"/>
          </a:xfrm>
          <a:prstGeom prst="rect">
            <a:avLst/>
          </a:prstGeom>
        </p:spPr>
      </p:pic>
      <p:cxnSp>
        <p:nvCxnSpPr>
          <p:cNvPr id="13" name="Straight Arrow Connector 12">
            <a:extLst>
              <a:ext uri="{FF2B5EF4-FFF2-40B4-BE49-F238E27FC236}">
                <a16:creationId xmlns:a16="http://schemas.microsoft.com/office/drawing/2014/main" xmlns="" id="{C5C8CC34-1EAE-FFDB-25A1-D8600DA86498}"/>
              </a:ext>
            </a:extLst>
          </p:cNvPr>
          <p:cNvCxnSpPr>
            <a:cxnSpLocks/>
          </p:cNvCxnSpPr>
          <p:nvPr/>
        </p:nvCxnSpPr>
        <p:spPr>
          <a:xfrm flipV="1">
            <a:off x="1873624" y="4008718"/>
            <a:ext cx="0" cy="6286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E215D466-C57F-9A22-A964-C2FF0E3A6C27}"/>
              </a:ext>
            </a:extLst>
          </p:cNvPr>
          <p:cNvSpPr txBox="1"/>
          <p:nvPr/>
        </p:nvSpPr>
        <p:spPr>
          <a:xfrm>
            <a:off x="1390983" y="4637368"/>
            <a:ext cx="1462894"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In quote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xmlns="" id="{5CF34BF3-F3CF-991D-5B28-A9F6B2707BB8}"/>
              </a:ext>
            </a:extLst>
          </p:cNvPr>
          <p:cNvCxnSpPr>
            <a:cxnSpLocks/>
            <a:stCxn id="16" idx="1"/>
          </p:cNvCxnSpPr>
          <p:nvPr/>
        </p:nvCxnSpPr>
        <p:spPr>
          <a:xfrm flipH="1">
            <a:off x="1801904" y="3215756"/>
            <a:ext cx="98025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736599CE-5149-E19F-3253-88A69B092CA8}"/>
              </a:ext>
            </a:extLst>
          </p:cNvPr>
          <p:cNvSpPr txBox="1"/>
          <p:nvPr/>
        </p:nvSpPr>
        <p:spPr>
          <a:xfrm>
            <a:off x="2782157" y="3031090"/>
            <a:ext cx="1462894"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Not in quote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2309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2D1403-4883-4948-C68F-F6DF81130D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36640133-F126-0DA1-A817-E79BA71E31D1}"/>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STRING MANIPULATION: LEN()</a:t>
            </a:r>
          </a:p>
        </p:txBody>
      </p:sp>
      <p:sp>
        <p:nvSpPr>
          <p:cNvPr id="8" name="Rectangle 7">
            <a:extLst>
              <a:ext uri="{FF2B5EF4-FFF2-40B4-BE49-F238E27FC236}">
                <a16:creationId xmlns:a16="http://schemas.microsoft.com/office/drawing/2014/main" xmlns="" id="{F97E6B74-7BA8-8D67-3241-BAA7B375352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94F494D-ECFF-3EDD-4AC3-085AC0CA84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70196D63-BBBB-83D0-140D-6FA68DCA0BF9}"/>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99758D02-EE5F-C711-D3D1-5B1A1F15AA7F}"/>
              </a:ext>
            </a:extLst>
          </p:cNvPr>
          <p:cNvSpPr txBox="1"/>
          <p:nvPr/>
        </p:nvSpPr>
        <p:spPr>
          <a:xfrm>
            <a:off x="0" y="110855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are several operations on strings. For instance, we can get the length of the string, slice parts of the string, check values in a string, etc.</a:t>
            </a:r>
            <a:endParaRPr lang="aa-ET"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7F4C9046-8A78-30EF-EE21-104D84C083EF}"/>
              </a:ext>
            </a:extLst>
          </p:cNvPr>
          <p:cNvPicPr>
            <a:picLocks noChangeAspect="1"/>
          </p:cNvPicPr>
          <p:nvPr/>
        </p:nvPicPr>
        <p:blipFill>
          <a:blip r:embed="rId3"/>
          <a:stretch>
            <a:fillRect/>
          </a:stretch>
        </p:blipFill>
        <p:spPr>
          <a:xfrm>
            <a:off x="410421" y="2020141"/>
            <a:ext cx="6528261" cy="2823532"/>
          </a:xfrm>
          <a:prstGeom prst="rect">
            <a:avLst/>
          </a:prstGeom>
        </p:spPr>
      </p:pic>
      <p:cxnSp>
        <p:nvCxnSpPr>
          <p:cNvPr id="6" name="Straight Arrow Connector 5">
            <a:extLst>
              <a:ext uri="{FF2B5EF4-FFF2-40B4-BE49-F238E27FC236}">
                <a16:creationId xmlns:a16="http://schemas.microsoft.com/office/drawing/2014/main" xmlns="" id="{8409F99F-6732-289A-F79F-AD9158ED1056}"/>
              </a:ext>
            </a:extLst>
          </p:cNvPr>
          <p:cNvCxnSpPr>
            <a:cxnSpLocks/>
          </p:cNvCxnSpPr>
          <p:nvPr/>
        </p:nvCxnSpPr>
        <p:spPr>
          <a:xfrm flipH="1" flipV="1">
            <a:off x="2698376" y="4285129"/>
            <a:ext cx="923366" cy="9682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E69F1E43-8A73-8A93-08FC-4578F2CEB60D}"/>
              </a:ext>
            </a:extLst>
          </p:cNvPr>
          <p:cNvSpPr txBox="1"/>
          <p:nvPr/>
        </p:nvSpPr>
        <p:spPr>
          <a:xfrm>
            <a:off x="3139101" y="5253358"/>
            <a:ext cx="4076322"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Len() function counts the number of characters including white spaces</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xmlns="" id="{3A9A5AD1-C809-1B0B-A73C-1943F810F055}"/>
              </a:ext>
            </a:extLst>
          </p:cNvPr>
          <p:cNvCxnSpPr>
            <a:cxnSpLocks/>
          </p:cNvCxnSpPr>
          <p:nvPr/>
        </p:nvCxnSpPr>
        <p:spPr>
          <a:xfrm flipH="1" flipV="1">
            <a:off x="5375210" y="2690808"/>
            <a:ext cx="720790" cy="45580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xmlns="" id="{55F8EB6E-A0CB-C7E1-AF6A-EF27986D52E8}"/>
              </a:ext>
            </a:extLst>
          </p:cNvPr>
          <p:cNvSpPr txBox="1"/>
          <p:nvPr/>
        </p:nvSpPr>
        <p:spPr>
          <a:xfrm>
            <a:off x="5481747" y="3059668"/>
            <a:ext cx="1462894" cy="369332"/>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18 characters</a:t>
            </a:r>
          </a:p>
        </p:txBody>
      </p:sp>
    </p:spTree>
    <p:extLst>
      <p:ext uri="{BB962C8B-B14F-4D97-AF65-F5344CB8AC3E}">
        <p14:creationId xmlns:p14="http://schemas.microsoft.com/office/powerpoint/2010/main" val="7736782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B9BBB3-6B78-EA09-C49A-51C4DF800B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D313ECA6-EF79-F2F5-1642-2F3D958D1CF6}"/>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CHECK STRING EXISTENCE: IN</a:t>
            </a:r>
          </a:p>
        </p:txBody>
      </p:sp>
      <p:sp>
        <p:nvSpPr>
          <p:cNvPr id="8" name="Rectangle 7">
            <a:extLst>
              <a:ext uri="{FF2B5EF4-FFF2-40B4-BE49-F238E27FC236}">
                <a16:creationId xmlns:a16="http://schemas.microsoft.com/office/drawing/2014/main" xmlns="" id="{731C1C1C-C5DF-AFB7-4EE0-B09705CB8B8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E86FB7D8-5442-B719-C011-8E7DDA3A23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0CFB3312-5614-0401-07FD-29F0A35EA35D}"/>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17F47B80-5FD5-8E4A-00CB-C4DDA90BF032}"/>
              </a:ext>
            </a:extLst>
          </p:cNvPr>
          <p:cNvSpPr txBox="1"/>
          <p:nvPr/>
        </p:nvSpPr>
        <p:spPr>
          <a:xfrm>
            <a:off x="0" y="110855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check if a set of characters are present in the string, we use the </a:t>
            </a:r>
            <a:r>
              <a:rPr lang="en-US" b="1" dirty="0">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keyword. The result is a Boolean: True / False</a:t>
            </a:r>
            <a:endParaRPr lang="aa-ET"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xmlns="" id="{D024CA45-8437-42A3-190F-DCBE4874431C}"/>
              </a:ext>
            </a:extLst>
          </p:cNvPr>
          <p:cNvPicPr>
            <a:picLocks noChangeAspect="1"/>
          </p:cNvPicPr>
          <p:nvPr/>
        </p:nvPicPr>
        <p:blipFill>
          <a:blip r:embed="rId3"/>
          <a:stretch>
            <a:fillRect/>
          </a:stretch>
        </p:blipFill>
        <p:spPr>
          <a:xfrm>
            <a:off x="469223" y="2101943"/>
            <a:ext cx="6276975" cy="2905125"/>
          </a:xfrm>
          <a:prstGeom prst="rect">
            <a:avLst/>
          </a:prstGeom>
        </p:spPr>
      </p:pic>
      <p:cxnSp>
        <p:nvCxnSpPr>
          <p:cNvPr id="12" name="Straight Arrow Connector 11">
            <a:extLst>
              <a:ext uri="{FF2B5EF4-FFF2-40B4-BE49-F238E27FC236}">
                <a16:creationId xmlns:a16="http://schemas.microsoft.com/office/drawing/2014/main" xmlns="" id="{A2BEB5F1-7AFE-4139-1D5F-1D8BD3A63988}"/>
              </a:ext>
            </a:extLst>
          </p:cNvPr>
          <p:cNvCxnSpPr>
            <a:cxnSpLocks/>
          </p:cNvCxnSpPr>
          <p:nvPr/>
        </p:nvCxnSpPr>
        <p:spPr>
          <a:xfrm flipV="1">
            <a:off x="5319967" y="2895650"/>
            <a:ext cx="0" cy="6286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3501C030-1845-A647-89D9-9567FC4FF2BA}"/>
              </a:ext>
            </a:extLst>
          </p:cNvPr>
          <p:cNvSpPr txBox="1"/>
          <p:nvPr/>
        </p:nvSpPr>
        <p:spPr>
          <a:xfrm>
            <a:off x="4837325" y="3524300"/>
            <a:ext cx="1908871"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Boolean result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A6F61309-F139-21C0-0E42-DC95CBFBA9F3}"/>
              </a:ext>
            </a:extLst>
          </p:cNvPr>
          <p:cNvCxnSpPr>
            <a:cxnSpLocks/>
          </p:cNvCxnSpPr>
          <p:nvPr/>
        </p:nvCxnSpPr>
        <p:spPr>
          <a:xfrm flipV="1">
            <a:off x="2698377" y="4383180"/>
            <a:ext cx="0" cy="6286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29ACA983-AD14-4093-1254-CD045A5924F6}"/>
              </a:ext>
            </a:extLst>
          </p:cNvPr>
          <p:cNvSpPr txBox="1"/>
          <p:nvPr/>
        </p:nvSpPr>
        <p:spPr>
          <a:xfrm>
            <a:off x="2215736" y="5011830"/>
            <a:ext cx="3951982" cy="923330"/>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The in keyword to check if the set of characters in a sequential order “prog” exists in the text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2310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D40B5C-D3FD-C7D4-78A0-E3C852CC65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2F413E3C-2B4A-8907-EE82-C40AFE82020D}"/>
              </a:ext>
            </a:extLst>
          </p:cNvPr>
          <p:cNvPicPr>
            <a:picLocks noChangeAspect="1"/>
          </p:cNvPicPr>
          <p:nvPr/>
        </p:nvPicPr>
        <p:blipFill>
          <a:blip r:embed="rId2"/>
          <a:stretch>
            <a:fillRect/>
          </a:stretch>
        </p:blipFill>
        <p:spPr>
          <a:xfrm>
            <a:off x="445894" y="2108693"/>
            <a:ext cx="6300300" cy="2886075"/>
          </a:xfrm>
          <a:prstGeom prst="rect">
            <a:avLst/>
          </a:prstGeom>
        </p:spPr>
      </p:pic>
      <p:sp>
        <p:nvSpPr>
          <p:cNvPr id="4" name="TextBox 3">
            <a:extLst>
              <a:ext uri="{FF2B5EF4-FFF2-40B4-BE49-F238E27FC236}">
                <a16:creationId xmlns:a16="http://schemas.microsoft.com/office/drawing/2014/main" xmlns="" id="{2F932327-ABDB-BDDE-9030-79E9BA1E4286}"/>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CHECK STRING NOT EXIST: NOT IN</a:t>
            </a:r>
          </a:p>
        </p:txBody>
      </p:sp>
      <p:sp>
        <p:nvSpPr>
          <p:cNvPr id="8" name="Rectangle 7">
            <a:extLst>
              <a:ext uri="{FF2B5EF4-FFF2-40B4-BE49-F238E27FC236}">
                <a16:creationId xmlns:a16="http://schemas.microsoft.com/office/drawing/2014/main" xmlns="" id="{BB2EF1B8-2EC8-3D8D-1EF3-B37170AD24DD}"/>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D9ECDE64-FD1D-3B64-F433-019A867205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3C7EA75D-8185-2CDC-D31D-2C2051F8708B}"/>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EF08D403-98A0-B765-ECC9-4460B4324496}"/>
              </a:ext>
            </a:extLst>
          </p:cNvPr>
          <p:cNvSpPr txBox="1"/>
          <p:nvPr/>
        </p:nvSpPr>
        <p:spPr>
          <a:xfrm>
            <a:off x="0" y="110855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check if a set of characters are not present in the string, we use the </a:t>
            </a:r>
            <a:r>
              <a:rPr lang="en-US" b="1" dirty="0">
                <a:latin typeface="Times New Roman" panose="02020603050405020304" pitchFamily="18" charset="0"/>
                <a:cs typeface="Times New Roman" panose="02020603050405020304" pitchFamily="18" charset="0"/>
              </a:rPr>
              <a:t>NOT</a:t>
            </a:r>
            <a:r>
              <a:rPr lang="en-US" dirty="0">
                <a:latin typeface="Times New Roman" panose="02020603050405020304" pitchFamily="18" charset="0"/>
                <a:cs typeface="Times New Roman" panose="02020603050405020304" pitchFamily="18" charset="0"/>
              </a:rPr>
              <a:t> keyword. Basically the NOT keyword is for negation. The result is a Boolean: True / False</a:t>
            </a:r>
            <a:endParaRPr lang="aa-ET" dirty="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xmlns="" id="{CD275098-CFAF-A477-1D71-F737DC921505}"/>
              </a:ext>
            </a:extLst>
          </p:cNvPr>
          <p:cNvCxnSpPr>
            <a:cxnSpLocks/>
          </p:cNvCxnSpPr>
          <p:nvPr/>
        </p:nvCxnSpPr>
        <p:spPr>
          <a:xfrm flipV="1">
            <a:off x="5319967" y="2895650"/>
            <a:ext cx="0" cy="6286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8E1500B7-C612-0405-71F0-9E32B7A014F8}"/>
              </a:ext>
            </a:extLst>
          </p:cNvPr>
          <p:cNvSpPr txBox="1"/>
          <p:nvPr/>
        </p:nvSpPr>
        <p:spPr>
          <a:xfrm>
            <a:off x="4837325" y="3524300"/>
            <a:ext cx="1908871"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Boolean result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A8747006-746D-1318-1EB6-9298D290A6EF}"/>
              </a:ext>
            </a:extLst>
          </p:cNvPr>
          <p:cNvCxnSpPr>
            <a:cxnSpLocks/>
          </p:cNvCxnSpPr>
          <p:nvPr/>
        </p:nvCxnSpPr>
        <p:spPr>
          <a:xfrm flipV="1">
            <a:off x="2698377" y="4383180"/>
            <a:ext cx="0" cy="6286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A36F4592-CC45-8A5F-5B4A-CA3E444C3B4E}"/>
              </a:ext>
            </a:extLst>
          </p:cNvPr>
          <p:cNvSpPr txBox="1"/>
          <p:nvPr/>
        </p:nvSpPr>
        <p:spPr>
          <a:xfrm>
            <a:off x="2215736" y="5011830"/>
            <a:ext cx="3951982"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The </a:t>
            </a:r>
            <a:r>
              <a:rPr lang="en-US" b="1" dirty="0">
                <a:solidFill>
                  <a:srgbClr val="000000"/>
                </a:solidFill>
                <a:highlight>
                  <a:srgbClr val="FF00FF"/>
                </a:highlight>
                <a:latin typeface="Times New Roman" panose="02020603050405020304" pitchFamily="18" charset="0"/>
                <a:cs typeface="Times New Roman" panose="02020603050405020304" pitchFamily="18" charset="0"/>
              </a:rPr>
              <a:t>not</a:t>
            </a:r>
            <a:r>
              <a:rPr lang="en-US" dirty="0">
                <a:solidFill>
                  <a:srgbClr val="000000"/>
                </a:solidFill>
                <a:highlight>
                  <a:srgbClr val="FF00FF"/>
                </a:highlight>
                <a:latin typeface="Times New Roman" panose="02020603050405020304" pitchFamily="18" charset="0"/>
                <a:cs typeface="Times New Roman" panose="02020603050405020304" pitchFamily="18" charset="0"/>
              </a:rPr>
              <a:t> keyword to check if the set of characters is not in a text.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2296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69FDBB9-CB97-B9A8-5294-1F74CAD4F05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18865E46-E9F0-5DD4-3B9C-97288B28643C}"/>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STRING SLICING</a:t>
            </a:r>
          </a:p>
        </p:txBody>
      </p:sp>
      <p:sp>
        <p:nvSpPr>
          <p:cNvPr id="8" name="Rectangle 7">
            <a:extLst>
              <a:ext uri="{FF2B5EF4-FFF2-40B4-BE49-F238E27FC236}">
                <a16:creationId xmlns:a16="http://schemas.microsoft.com/office/drawing/2014/main" xmlns="" id="{492266D5-1B9F-4198-64D0-8F797B02ABFD}"/>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8733B0E4-3E84-00A5-9508-5DD5DE6EDB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8469FCF5-5446-DC01-FE98-AB38E4D72A4C}"/>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297A3F93-60ED-9373-0D02-E37FDE81260C}"/>
              </a:ext>
            </a:extLst>
          </p:cNvPr>
          <p:cNvSpPr txBox="1"/>
          <p:nvPr/>
        </p:nvSpPr>
        <p:spPr>
          <a:xfrm>
            <a:off x="0" y="110855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Sometimes you may want to slice a portion of a string. Imagine you have the string “Hello world”, but your interest is the text “world”. To slice those characters from the string, we leverage the slicing technique</a:t>
            </a:r>
            <a:endParaRPr lang="aa-ET"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xmlns="" id="{49B554C1-A3FA-FE89-C1FE-7B67C6F00D90}"/>
              </a:ext>
            </a:extLst>
          </p:cNvPr>
          <p:cNvGraphicFramePr>
            <a:graphicFrameLocks noGrp="1"/>
          </p:cNvGraphicFramePr>
          <p:nvPr>
            <p:extLst>
              <p:ext uri="{D42A27DB-BD31-4B8C-83A1-F6EECF244321}">
                <p14:modId xmlns:p14="http://schemas.microsoft.com/office/powerpoint/2010/main" val="1363428957"/>
              </p:ext>
            </p:extLst>
          </p:nvPr>
        </p:nvGraphicFramePr>
        <p:xfrm>
          <a:off x="275688" y="3144375"/>
          <a:ext cx="5971260" cy="1086968"/>
        </p:xfrm>
        <a:graphic>
          <a:graphicData uri="http://schemas.openxmlformats.org/drawingml/2006/table">
            <a:tbl>
              <a:tblPr firstRow="1" bandRow="1">
                <a:tableStyleId>{5C22544A-7EE6-4342-B048-85BDC9FD1C3A}</a:tableStyleId>
              </a:tblPr>
              <a:tblGrid>
                <a:gridCol w="597126">
                  <a:extLst>
                    <a:ext uri="{9D8B030D-6E8A-4147-A177-3AD203B41FA5}">
                      <a16:colId xmlns:a16="http://schemas.microsoft.com/office/drawing/2014/main" xmlns="" val="2329379412"/>
                    </a:ext>
                  </a:extLst>
                </a:gridCol>
                <a:gridCol w="597126">
                  <a:extLst>
                    <a:ext uri="{9D8B030D-6E8A-4147-A177-3AD203B41FA5}">
                      <a16:colId xmlns:a16="http://schemas.microsoft.com/office/drawing/2014/main" xmlns="" val="1777196298"/>
                    </a:ext>
                  </a:extLst>
                </a:gridCol>
                <a:gridCol w="597126">
                  <a:extLst>
                    <a:ext uri="{9D8B030D-6E8A-4147-A177-3AD203B41FA5}">
                      <a16:colId xmlns:a16="http://schemas.microsoft.com/office/drawing/2014/main" xmlns="" val="3729991912"/>
                    </a:ext>
                  </a:extLst>
                </a:gridCol>
                <a:gridCol w="597126">
                  <a:extLst>
                    <a:ext uri="{9D8B030D-6E8A-4147-A177-3AD203B41FA5}">
                      <a16:colId xmlns:a16="http://schemas.microsoft.com/office/drawing/2014/main" xmlns="" val="1427920652"/>
                    </a:ext>
                  </a:extLst>
                </a:gridCol>
                <a:gridCol w="597126">
                  <a:extLst>
                    <a:ext uri="{9D8B030D-6E8A-4147-A177-3AD203B41FA5}">
                      <a16:colId xmlns:a16="http://schemas.microsoft.com/office/drawing/2014/main" xmlns="" val="1178176713"/>
                    </a:ext>
                  </a:extLst>
                </a:gridCol>
                <a:gridCol w="597126">
                  <a:extLst>
                    <a:ext uri="{9D8B030D-6E8A-4147-A177-3AD203B41FA5}">
                      <a16:colId xmlns:a16="http://schemas.microsoft.com/office/drawing/2014/main" xmlns="" val="500309441"/>
                    </a:ext>
                  </a:extLst>
                </a:gridCol>
                <a:gridCol w="597126">
                  <a:extLst>
                    <a:ext uri="{9D8B030D-6E8A-4147-A177-3AD203B41FA5}">
                      <a16:colId xmlns:a16="http://schemas.microsoft.com/office/drawing/2014/main" xmlns="" val="3018754414"/>
                    </a:ext>
                  </a:extLst>
                </a:gridCol>
                <a:gridCol w="597126">
                  <a:extLst>
                    <a:ext uri="{9D8B030D-6E8A-4147-A177-3AD203B41FA5}">
                      <a16:colId xmlns:a16="http://schemas.microsoft.com/office/drawing/2014/main" xmlns="" val="1397711106"/>
                    </a:ext>
                  </a:extLst>
                </a:gridCol>
                <a:gridCol w="597126">
                  <a:extLst>
                    <a:ext uri="{9D8B030D-6E8A-4147-A177-3AD203B41FA5}">
                      <a16:colId xmlns:a16="http://schemas.microsoft.com/office/drawing/2014/main" xmlns="" val="1098293537"/>
                    </a:ext>
                  </a:extLst>
                </a:gridCol>
                <a:gridCol w="597126">
                  <a:extLst>
                    <a:ext uri="{9D8B030D-6E8A-4147-A177-3AD203B41FA5}">
                      <a16:colId xmlns:a16="http://schemas.microsoft.com/office/drawing/2014/main" xmlns="" val="226579151"/>
                    </a:ext>
                  </a:extLst>
                </a:gridCol>
              </a:tblGrid>
              <a:tr h="543484">
                <a:tc>
                  <a:txBody>
                    <a:bodyPr/>
                    <a:lstStyle/>
                    <a:p>
                      <a:r>
                        <a:rPr lang="en-US" dirty="0"/>
                        <a:t>+</a:t>
                      </a:r>
                      <a:r>
                        <a:rPr lang="en-US" dirty="0" err="1"/>
                        <a:t>i</a:t>
                      </a:r>
                      <a:endParaRPr lang="aa-ET" dirty="0"/>
                    </a:p>
                  </a:txBody>
                  <a:tcPr/>
                </a:tc>
                <a:tc>
                  <a:txBody>
                    <a:bodyPr/>
                    <a:lstStyle/>
                    <a:p>
                      <a:r>
                        <a:rPr lang="en-US" dirty="0"/>
                        <a:t>0</a:t>
                      </a:r>
                      <a:endParaRPr lang="aa-ET" dirty="0"/>
                    </a:p>
                  </a:txBody>
                  <a:tcPr/>
                </a:tc>
                <a:tc>
                  <a:txBody>
                    <a:bodyPr/>
                    <a:lstStyle/>
                    <a:p>
                      <a:r>
                        <a:rPr lang="en-US" dirty="0"/>
                        <a:t>1</a:t>
                      </a:r>
                      <a:endParaRPr lang="aa-ET" dirty="0"/>
                    </a:p>
                  </a:txBody>
                  <a:tcPr/>
                </a:tc>
                <a:tc>
                  <a:txBody>
                    <a:bodyPr/>
                    <a:lstStyle/>
                    <a:p>
                      <a:r>
                        <a:rPr lang="en-US" dirty="0"/>
                        <a:t>2</a:t>
                      </a:r>
                      <a:endParaRPr lang="aa-ET" dirty="0"/>
                    </a:p>
                  </a:txBody>
                  <a:tcPr/>
                </a:tc>
                <a:tc>
                  <a:txBody>
                    <a:bodyPr/>
                    <a:lstStyle/>
                    <a:p>
                      <a:r>
                        <a:rPr lang="en-US" dirty="0"/>
                        <a:t>3</a:t>
                      </a:r>
                      <a:endParaRPr lang="aa-ET" dirty="0"/>
                    </a:p>
                  </a:txBody>
                  <a:tcPr/>
                </a:tc>
                <a:tc>
                  <a:txBody>
                    <a:bodyPr/>
                    <a:lstStyle/>
                    <a:p>
                      <a:r>
                        <a:rPr lang="en-US" dirty="0"/>
                        <a:t>4</a:t>
                      </a:r>
                      <a:endParaRPr lang="aa-ET" dirty="0"/>
                    </a:p>
                  </a:txBody>
                  <a:tcPr/>
                </a:tc>
                <a:tc>
                  <a:txBody>
                    <a:bodyPr/>
                    <a:lstStyle/>
                    <a:p>
                      <a:r>
                        <a:rPr lang="en-US" dirty="0"/>
                        <a:t>5</a:t>
                      </a:r>
                      <a:endParaRPr lang="aa-ET" dirty="0"/>
                    </a:p>
                  </a:txBody>
                  <a:tcPr/>
                </a:tc>
                <a:tc>
                  <a:txBody>
                    <a:bodyPr/>
                    <a:lstStyle/>
                    <a:p>
                      <a:r>
                        <a:rPr lang="en-US" dirty="0"/>
                        <a:t>6</a:t>
                      </a:r>
                      <a:endParaRPr lang="aa-ET" dirty="0"/>
                    </a:p>
                  </a:txBody>
                  <a:tcPr/>
                </a:tc>
                <a:tc>
                  <a:txBody>
                    <a:bodyPr/>
                    <a:lstStyle/>
                    <a:p>
                      <a:r>
                        <a:rPr lang="en-US" dirty="0"/>
                        <a:t>7</a:t>
                      </a:r>
                      <a:endParaRPr lang="aa-ET" dirty="0"/>
                    </a:p>
                  </a:txBody>
                  <a:tcPr/>
                </a:tc>
                <a:tc>
                  <a:txBody>
                    <a:bodyPr/>
                    <a:lstStyle/>
                    <a:p>
                      <a:r>
                        <a:rPr lang="en-US" dirty="0"/>
                        <a:t>8</a:t>
                      </a:r>
                      <a:endParaRPr lang="aa-ET" dirty="0"/>
                    </a:p>
                  </a:txBody>
                  <a:tcPr/>
                </a:tc>
                <a:extLst>
                  <a:ext uri="{0D108BD9-81ED-4DB2-BD59-A6C34878D82A}">
                    <a16:rowId xmlns:a16="http://schemas.microsoft.com/office/drawing/2014/main" xmlns="" val="3409160862"/>
                  </a:ext>
                </a:extLst>
              </a:tr>
              <a:tr h="543484">
                <a:tc>
                  <a:txBody>
                    <a:bodyPr/>
                    <a:lstStyle/>
                    <a:p>
                      <a:r>
                        <a:rPr lang="en-US" dirty="0"/>
                        <a:t>char</a:t>
                      </a:r>
                      <a:endParaRPr lang="aa-ET" dirty="0"/>
                    </a:p>
                  </a:txBody>
                  <a:tcPr/>
                </a:tc>
                <a:tc>
                  <a:txBody>
                    <a:bodyPr/>
                    <a:lstStyle/>
                    <a:p>
                      <a:r>
                        <a:rPr lang="en-US" dirty="0"/>
                        <a:t>H</a:t>
                      </a:r>
                      <a:endParaRPr lang="aa-ET" dirty="0"/>
                    </a:p>
                  </a:txBody>
                  <a:tcPr/>
                </a:tc>
                <a:tc>
                  <a:txBody>
                    <a:bodyPr/>
                    <a:lstStyle/>
                    <a:p>
                      <a:r>
                        <a:rPr lang="en-US" dirty="0"/>
                        <a:t>e</a:t>
                      </a:r>
                      <a:endParaRPr lang="aa-ET" dirty="0"/>
                    </a:p>
                  </a:txBody>
                  <a:tcPr/>
                </a:tc>
                <a:tc>
                  <a:txBody>
                    <a:bodyPr/>
                    <a:lstStyle/>
                    <a:p>
                      <a:r>
                        <a:rPr lang="en-US" dirty="0"/>
                        <a:t>l</a:t>
                      </a:r>
                      <a:endParaRPr lang="aa-ET" dirty="0"/>
                    </a:p>
                  </a:txBody>
                  <a:tcPr/>
                </a:tc>
                <a:tc>
                  <a:txBody>
                    <a:bodyPr/>
                    <a:lstStyle/>
                    <a:p>
                      <a:r>
                        <a:rPr lang="en-US" dirty="0"/>
                        <a:t>l</a:t>
                      </a:r>
                      <a:endParaRPr lang="aa-ET" dirty="0"/>
                    </a:p>
                  </a:txBody>
                  <a:tcPr/>
                </a:tc>
                <a:tc>
                  <a:txBody>
                    <a:bodyPr/>
                    <a:lstStyle/>
                    <a:p>
                      <a:r>
                        <a:rPr lang="en-US" dirty="0"/>
                        <a:t>o</a:t>
                      </a:r>
                      <a:endParaRPr lang="aa-ET" dirty="0"/>
                    </a:p>
                  </a:txBody>
                  <a:tcPr/>
                </a:tc>
                <a:tc>
                  <a:txBody>
                    <a:bodyPr/>
                    <a:lstStyle/>
                    <a:p>
                      <a:endParaRPr lang="aa-ET" dirty="0"/>
                    </a:p>
                  </a:txBody>
                  <a:tcPr/>
                </a:tc>
                <a:tc>
                  <a:txBody>
                    <a:bodyPr/>
                    <a:lstStyle/>
                    <a:p>
                      <a:r>
                        <a:rPr lang="en-US" dirty="0"/>
                        <a:t>w</a:t>
                      </a:r>
                      <a:endParaRPr lang="aa-ET" dirty="0"/>
                    </a:p>
                  </a:txBody>
                  <a:tcPr/>
                </a:tc>
                <a:tc>
                  <a:txBody>
                    <a:bodyPr/>
                    <a:lstStyle/>
                    <a:p>
                      <a:r>
                        <a:rPr lang="en-US" dirty="0"/>
                        <a:t>o</a:t>
                      </a:r>
                      <a:endParaRPr lang="aa-ET" dirty="0"/>
                    </a:p>
                  </a:txBody>
                  <a:tcPr/>
                </a:tc>
                <a:tc>
                  <a:txBody>
                    <a:bodyPr/>
                    <a:lstStyle/>
                    <a:p>
                      <a:r>
                        <a:rPr lang="en-US" dirty="0"/>
                        <a:t>r</a:t>
                      </a:r>
                      <a:endParaRPr lang="aa-ET" dirty="0"/>
                    </a:p>
                  </a:txBody>
                  <a:tcPr/>
                </a:tc>
                <a:extLst>
                  <a:ext uri="{0D108BD9-81ED-4DB2-BD59-A6C34878D82A}">
                    <a16:rowId xmlns:a16="http://schemas.microsoft.com/office/drawing/2014/main" xmlns="" val="4059154684"/>
                  </a:ext>
                </a:extLst>
              </a:tr>
            </a:tbl>
          </a:graphicData>
        </a:graphic>
      </p:graphicFrame>
      <p:graphicFrame>
        <p:nvGraphicFramePr>
          <p:cNvPr id="7" name="Table 6">
            <a:extLst>
              <a:ext uri="{FF2B5EF4-FFF2-40B4-BE49-F238E27FC236}">
                <a16:creationId xmlns:a16="http://schemas.microsoft.com/office/drawing/2014/main" xmlns="" id="{61320EC5-AB0D-8BD0-10C6-E52CD65E7851}"/>
              </a:ext>
            </a:extLst>
          </p:cNvPr>
          <p:cNvGraphicFramePr>
            <a:graphicFrameLocks noGrp="1"/>
          </p:cNvGraphicFramePr>
          <p:nvPr>
            <p:extLst>
              <p:ext uri="{D42A27DB-BD31-4B8C-83A1-F6EECF244321}">
                <p14:modId xmlns:p14="http://schemas.microsoft.com/office/powerpoint/2010/main" val="3378035396"/>
              </p:ext>
            </p:extLst>
          </p:nvPr>
        </p:nvGraphicFramePr>
        <p:xfrm>
          <a:off x="6139429" y="3144375"/>
          <a:ext cx="1362634" cy="1086968"/>
        </p:xfrm>
        <a:graphic>
          <a:graphicData uri="http://schemas.openxmlformats.org/drawingml/2006/table">
            <a:tbl>
              <a:tblPr firstRow="1" bandRow="1">
                <a:tableStyleId>{5C22544A-7EE6-4342-B048-85BDC9FD1C3A}</a:tableStyleId>
              </a:tblPr>
              <a:tblGrid>
                <a:gridCol w="681317">
                  <a:extLst>
                    <a:ext uri="{9D8B030D-6E8A-4147-A177-3AD203B41FA5}">
                      <a16:colId xmlns:a16="http://schemas.microsoft.com/office/drawing/2014/main" xmlns="" val="3012596883"/>
                    </a:ext>
                  </a:extLst>
                </a:gridCol>
                <a:gridCol w="681317">
                  <a:extLst>
                    <a:ext uri="{9D8B030D-6E8A-4147-A177-3AD203B41FA5}">
                      <a16:colId xmlns:a16="http://schemas.microsoft.com/office/drawing/2014/main" xmlns="" val="791827327"/>
                    </a:ext>
                  </a:extLst>
                </a:gridCol>
              </a:tblGrid>
              <a:tr h="543484">
                <a:tc>
                  <a:txBody>
                    <a:bodyPr/>
                    <a:lstStyle/>
                    <a:p>
                      <a:r>
                        <a:rPr lang="en-US" dirty="0"/>
                        <a:t>9</a:t>
                      </a:r>
                      <a:endParaRPr lang="aa-ET" dirty="0"/>
                    </a:p>
                  </a:txBody>
                  <a:tcPr/>
                </a:tc>
                <a:tc>
                  <a:txBody>
                    <a:bodyPr/>
                    <a:lstStyle/>
                    <a:p>
                      <a:r>
                        <a:rPr lang="en-US" dirty="0"/>
                        <a:t>10 </a:t>
                      </a:r>
                      <a:endParaRPr lang="aa-ET" dirty="0"/>
                    </a:p>
                  </a:txBody>
                  <a:tcPr/>
                </a:tc>
                <a:extLst>
                  <a:ext uri="{0D108BD9-81ED-4DB2-BD59-A6C34878D82A}">
                    <a16:rowId xmlns:a16="http://schemas.microsoft.com/office/drawing/2014/main" xmlns="" val="817070029"/>
                  </a:ext>
                </a:extLst>
              </a:tr>
              <a:tr h="543484">
                <a:tc>
                  <a:txBody>
                    <a:bodyPr/>
                    <a:lstStyle/>
                    <a:p>
                      <a:r>
                        <a:rPr lang="en-US" dirty="0"/>
                        <a:t>l</a:t>
                      </a:r>
                      <a:endParaRPr lang="aa-ET" dirty="0"/>
                    </a:p>
                  </a:txBody>
                  <a:tcPr/>
                </a:tc>
                <a:tc>
                  <a:txBody>
                    <a:bodyPr/>
                    <a:lstStyle/>
                    <a:p>
                      <a:r>
                        <a:rPr lang="en-US" dirty="0"/>
                        <a:t>d</a:t>
                      </a:r>
                      <a:endParaRPr lang="aa-ET" dirty="0"/>
                    </a:p>
                  </a:txBody>
                  <a:tcPr/>
                </a:tc>
                <a:extLst>
                  <a:ext uri="{0D108BD9-81ED-4DB2-BD59-A6C34878D82A}">
                    <a16:rowId xmlns:a16="http://schemas.microsoft.com/office/drawing/2014/main" xmlns="" val="461655278"/>
                  </a:ext>
                </a:extLst>
              </a:tr>
            </a:tbl>
          </a:graphicData>
        </a:graphic>
      </p:graphicFrame>
      <p:sp>
        <p:nvSpPr>
          <p:cNvPr id="10" name="TextBox 9">
            <a:extLst>
              <a:ext uri="{FF2B5EF4-FFF2-40B4-BE49-F238E27FC236}">
                <a16:creationId xmlns:a16="http://schemas.microsoft.com/office/drawing/2014/main" xmlns="" id="{D42356F3-8BFA-1FF6-AE59-37DA4B513A66}"/>
              </a:ext>
            </a:extLst>
          </p:cNvPr>
          <p:cNvSpPr txBox="1"/>
          <p:nvPr/>
        </p:nvSpPr>
        <p:spPr>
          <a:xfrm>
            <a:off x="0" y="2130677"/>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highlight>
                  <a:srgbClr val="00FFFF"/>
                </a:highlight>
                <a:latin typeface="Times New Roman" panose="02020603050405020304" pitchFamily="18" charset="0"/>
                <a:cs typeface="Times New Roman" panose="02020603050405020304" pitchFamily="18" charset="0"/>
              </a:rPr>
              <a:t>Text = “Hello world”</a:t>
            </a:r>
            <a:endParaRPr lang="aa-ET" dirty="0">
              <a:highlight>
                <a:srgbClr val="00FFFF"/>
              </a:highligh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F17FDA16-05E2-8585-F66B-E588663012A5}"/>
              </a:ext>
            </a:extLst>
          </p:cNvPr>
          <p:cNvSpPr txBox="1"/>
          <p:nvPr/>
        </p:nvSpPr>
        <p:spPr>
          <a:xfrm>
            <a:off x="-1" y="4670373"/>
            <a:ext cx="7529743" cy="369332"/>
          </a:xfrm>
          <a:prstGeom prst="rect">
            <a:avLst/>
          </a:prstGeom>
          <a:noFill/>
        </p:spPr>
        <p:txBody>
          <a:bodyPr wrap="square">
            <a:spAutoFit/>
          </a:bodyPr>
          <a:lstStyle/>
          <a:p>
            <a:pPr marL="285750" indent="-285750" algn="l">
              <a:buFont typeface="Arial" panose="020B0604020202020204" pitchFamily="34" charset="0"/>
              <a:buChar char="•"/>
            </a:pPr>
            <a:r>
              <a:rPr lang="en-US" dirty="0">
                <a:highlight>
                  <a:srgbClr val="00FFFF"/>
                </a:highlight>
                <a:latin typeface="Times New Roman" panose="02020603050405020304" pitchFamily="18" charset="0"/>
                <a:cs typeface="Times New Roman" panose="02020603050405020304" pitchFamily="18" charset="0"/>
              </a:rPr>
              <a:t>Variable[start index : end index] # default start and end is 0:0 respectively</a:t>
            </a:r>
            <a:endParaRPr lang="aa-ET" dirty="0">
              <a:highlight>
                <a:srgbClr val="00FFFF"/>
              </a:highligh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43F4D559-35BD-F237-3C86-0CA0CC4C4AC4}"/>
              </a:ext>
            </a:extLst>
          </p:cNvPr>
          <p:cNvSpPr txBox="1"/>
          <p:nvPr/>
        </p:nvSpPr>
        <p:spPr>
          <a:xfrm>
            <a:off x="0" y="540867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highlight>
                  <a:srgbClr val="00FFFF"/>
                </a:highlight>
                <a:latin typeface="Times New Roman" panose="02020603050405020304" pitchFamily="18" charset="0"/>
                <a:cs typeface="Times New Roman" panose="02020603050405020304" pitchFamily="18" charset="0"/>
              </a:rPr>
              <a:t>The length of your result will always be = end index – start index</a:t>
            </a:r>
            <a:endParaRPr lang="aa-ET" dirty="0">
              <a:highlight>
                <a:srgbClr val="00FFFF"/>
              </a:highlight>
              <a:latin typeface="Times New Roman" panose="02020603050405020304" pitchFamily="18" charset="0"/>
              <a:cs typeface="Times New Roman" panose="02020603050405020304" pitchFamily="18" charset="0"/>
            </a:endParaRPr>
          </a:p>
        </p:txBody>
      </p:sp>
      <p:graphicFrame>
        <p:nvGraphicFramePr>
          <p:cNvPr id="19" name="Table 18">
            <a:extLst>
              <a:ext uri="{FF2B5EF4-FFF2-40B4-BE49-F238E27FC236}">
                <a16:creationId xmlns:a16="http://schemas.microsoft.com/office/drawing/2014/main" xmlns="" id="{B8240002-97EC-D2CC-AEE2-8D4490B9AC17}"/>
              </a:ext>
            </a:extLst>
          </p:cNvPr>
          <p:cNvGraphicFramePr>
            <a:graphicFrameLocks noGrp="1"/>
          </p:cNvGraphicFramePr>
          <p:nvPr>
            <p:extLst>
              <p:ext uri="{D42A27DB-BD31-4B8C-83A1-F6EECF244321}">
                <p14:modId xmlns:p14="http://schemas.microsoft.com/office/powerpoint/2010/main" val="200866359"/>
              </p:ext>
            </p:extLst>
          </p:nvPr>
        </p:nvGraphicFramePr>
        <p:xfrm>
          <a:off x="275688" y="2709569"/>
          <a:ext cx="5971260" cy="370840"/>
        </p:xfrm>
        <a:graphic>
          <a:graphicData uri="http://schemas.openxmlformats.org/drawingml/2006/table">
            <a:tbl>
              <a:tblPr firstRow="1" bandRow="1">
                <a:tableStyleId>{5C22544A-7EE6-4342-B048-85BDC9FD1C3A}</a:tableStyleId>
              </a:tblPr>
              <a:tblGrid>
                <a:gridCol w="597126">
                  <a:extLst>
                    <a:ext uri="{9D8B030D-6E8A-4147-A177-3AD203B41FA5}">
                      <a16:colId xmlns:a16="http://schemas.microsoft.com/office/drawing/2014/main" xmlns="" val="2303766234"/>
                    </a:ext>
                  </a:extLst>
                </a:gridCol>
                <a:gridCol w="597126">
                  <a:extLst>
                    <a:ext uri="{9D8B030D-6E8A-4147-A177-3AD203B41FA5}">
                      <a16:colId xmlns:a16="http://schemas.microsoft.com/office/drawing/2014/main" xmlns="" val="2016405718"/>
                    </a:ext>
                  </a:extLst>
                </a:gridCol>
                <a:gridCol w="597126">
                  <a:extLst>
                    <a:ext uri="{9D8B030D-6E8A-4147-A177-3AD203B41FA5}">
                      <a16:colId xmlns:a16="http://schemas.microsoft.com/office/drawing/2014/main" xmlns="" val="325159095"/>
                    </a:ext>
                  </a:extLst>
                </a:gridCol>
                <a:gridCol w="597126">
                  <a:extLst>
                    <a:ext uri="{9D8B030D-6E8A-4147-A177-3AD203B41FA5}">
                      <a16:colId xmlns:a16="http://schemas.microsoft.com/office/drawing/2014/main" xmlns="" val="3363568649"/>
                    </a:ext>
                  </a:extLst>
                </a:gridCol>
                <a:gridCol w="597126">
                  <a:extLst>
                    <a:ext uri="{9D8B030D-6E8A-4147-A177-3AD203B41FA5}">
                      <a16:colId xmlns:a16="http://schemas.microsoft.com/office/drawing/2014/main" xmlns="" val="1165756021"/>
                    </a:ext>
                  </a:extLst>
                </a:gridCol>
                <a:gridCol w="597126">
                  <a:extLst>
                    <a:ext uri="{9D8B030D-6E8A-4147-A177-3AD203B41FA5}">
                      <a16:colId xmlns:a16="http://schemas.microsoft.com/office/drawing/2014/main" xmlns="" val="362959690"/>
                    </a:ext>
                  </a:extLst>
                </a:gridCol>
                <a:gridCol w="597126">
                  <a:extLst>
                    <a:ext uri="{9D8B030D-6E8A-4147-A177-3AD203B41FA5}">
                      <a16:colId xmlns:a16="http://schemas.microsoft.com/office/drawing/2014/main" xmlns="" val="1945036116"/>
                    </a:ext>
                  </a:extLst>
                </a:gridCol>
                <a:gridCol w="597126">
                  <a:extLst>
                    <a:ext uri="{9D8B030D-6E8A-4147-A177-3AD203B41FA5}">
                      <a16:colId xmlns:a16="http://schemas.microsoft.com/office/drawing/2014/main" xmlns="" val="2406806088"/>
                    </a:ext>
                  </a:extLst>
                </a:gridCol>
                <a:gridCol w="597126">
                  <a:extLst>
                    <a:ext uri="{9D8B030D-6E8A-4147-A177-3AD203B41FA5}">
                      <a16:colId xmlns:a16="http://schemas.microsoft.com/office/drawing/2014/main" xmlns="" val="1234830047"/>
                    </a:ext>
                  </a:extLst>
                </a:gridCol>
                <a:gridCol w="597126">
                  <a:extLst>
                    <a:ext uri="{9D8B030D-6E8A-4147-A177-3AD203B41FA5}">
                      <a16:colId xmlns:a16="http://schemas.microsoft.com/office/drawing/2014/main" xmlns="" val="2782165638"/>
                    </a:ext>
                  </a:extLst>
                </a:gridCol>
              </a:tblGrid>
              <a:tr h="370840">
                <a:tc>
                  <a:txBody>
                    <a:bodyPr/>
                    <a:lstStyle/>
                    <a:p>
                      <a:r>
                        <a:rPr lang="en-US" dirty="0"/>
                        <a:t>-</a:t>
                      </a:r>
                      <a:r>
                        <a:rPr lang="en-US" dirty="0" err="1"/>
                        <a:t>i</a:t>
                      </a:r>
                      <a:endParaRPr lang="aa-ET" dirty="0"/>
                    </a:p>
                  </a:txBody>
                  <a:tcPr/>
                </a:tc>
                <a:tc>
                  <a:txBody>
                    <a:bodyPr/>
                    <a:lstStyle/>
                    <a:p>
                      <a:r>
                        <a:rPr lang="en-US" dirty="0"/>
                        <a:t>-11</a:t>
                      </a:r>
                      <a:endParaRPr lang="aa-ET" dirty="0"/>
                    </a:p>
                  </a:txBody>
                  <a:tcPr/>
                </a:tc>
                <a:tc>
                  <a:txBody>
                    <a:bodyPr/>
                    <a:lstStyle/>
                    <a:p>
                      <a:r>
                        <a:rPr lang="en-US" dirty="0"/>
                        <a:t>-10</a:t>
                      </a:r>
                      <a:endParaRPr lang="aa-ET" dirty="0"/>
                    </a:p>
                  </a:txBody>
                  <a:tcPr/>
                </a:tc>
                <a:tc>
                  <a:txBody>
                    <a:bodyPr/>
                    <a:lstStyle/>
                    <a:p>
                      <a:r>
                        <a:rPr lang="en-US" dirty="0"/>
                        <a:t>-9</a:t>
                      </a:r>
                      <a:endParaRPr lang="aa-ET" dirty="0"/>
                    </a:p>
                  </a:txBody>
                  <a:tcPr/>
                </a:tc>
                <a:tc>
                  <a:txBody>
                    <a:bodyPr/>
                    <a:lstStyle/>
                    <a:p>
                      <a:r>
                        <a:rPr lang="en-US" dirty="0"/>
                        <a:t>-8</a:t>
                      </a:r>
                      <a:endParaRPr lang="aa-ET" dirty="0"/>
                    </a:p>
                  </a:txBody>
                  <a:tcPr/>
                </a:tc>
                <a:tc>
                  <a:txBody>
                    <a:bodyPr/>
                    <a:lstStyle/>
                    <a:p>
                      <a:r>
                        <a:rPr lang="en-US" dirty="0"/>
                        <a:t>-7</a:t>
                      </a:r>
                      <a:endParaRPr lang="aa-ET" dirty="0"/>
                    </a:p>
                  </a:txBody>
                  <a:tcPr/>
                </a:tc>
                <a:tc>
                  <a:txBody>
                    <a:bodyPr/>
                    <a:lstStyle/>
                    <a:p>
                      <a:r>
                        <a:rPr lang="en-US" dirty="0"/>
                        <a:t>-6</a:t>
                      </a:r>
                      <a:endParaRPr lang="aa-ET" dirty="0"/>
                    </a:p>
                  </a:txBody>
                  <a:tcPr/>
                </a:tc>
                <a:tc>
                  <a:txBody>
                    <a:bodyPr/>
                    <a:lstStyle/>
                    <a:p>
                      <a:r>
                        <a:rPr lang="en-US" dirty="0"/>
                        <a:t>-5</a:t>
                      </a:r>
                      <a:endParaRPr lang="aa-ET" dirty="0"/>
                    </a:p>
                  </a:txBody>
                  <a:tcPr/>
                </a:tc>
                <a:tc>
                  <a:txBody>
                    <a:bodyPr/>
                    <a:lstStyle/>
                    <a:p>
                      <a:r>
                        <a:rPr lang="en-US" dirty="0"/>
                        <a:t>-4</a:t>
                      </a:r>
                      <a:endParaRPr lang="aa-ET" dirty="0"/>
                    </a:p>
                  </a:txBody>
                  <a:tcPr/>
                </a:tc>
                <a:tc>
                  <a:txBody>
                    <a:bodyPr/>
                    <a:lstStyle/>
                    <a:p>
                      <a:r>
                        <a:rPr lang="en-US" dirty="0"/>
                        <a:t>-3</a:t>
                      </a:r>
                      <a:endParaRPr lang="aa-ET" dirty="0"/>
                    </a:p>
                  </a:txBody>
                  <a:tcPr/>
                </a:tc>
                <a:extLst>
                  <a:ext uri="{0D108BD9-81ED-4DB2-BD59-A6C34878D82A}">
                    <a16:rowId xmlns:a16="http://schemas.microsoft.com/office/drawing/2014/main" xmlns="" val="4222949019"/>
                  </a:ext>
                </a:extLst>
              </a:tr>
            </a:tbl>
          </a:graphicData>
        </a:graphic>
      </p:graphicFrame>
      <p:graphicFrame>
        <p:nvGraphicFramePr>
          <p:cNvPr id="20" name="Table 19">
            <a:extLst>
              <a:ext uri="{FF2B5EF4-FFF2-40B4-BE49-F238E27FC236}">
                <a16:creationId xmlns:a16="http://schemas.microsoft.com/office/drawing/2014/main" xmlns="" id="{41D028EE-E315-B514-F774-6B20D11D0365}"/>
              </a:ext>
            </a:extLst>
          </p:cNvPr>
          <p:cNvGraphicFramePr>
            <a:graphicFrameLocks noGrp="1"/>
          </p:cNvGraphicFramePr>
          <p:nvPr>
            <p:extLst>
              <p:ext uri="{D42A27DB-BD31-4B8C-83A1-F6EECF244321}">
                <p14:modId xmlns:p14="http://schemas.microsoft.com/office/powerpoint/2010/main" val="2469033092"/>
              </p:ext>
            </p:extLst>
          </p:nvPr>
        </p:nvGraphicFramePr>
        <p:xfrm>
          <a:off x="6139429" y="2709569"/>
          <a:ext cx="1362634" cy="370840"/>
        </p:xfrm>
        <a:graphic>
          <a:graphicData uri="http://schemas.openxmlformats.org/drawingml/2006/table">
            <a:tbl>
              <a:tblPr firstRow="1" bandRow="1">
                <a:tableStyleId>{5C22544A-7EE6-4342-B048-85BDC9FD1C3A}</a:tableStyleId>
              </a:tblPr>
              <a:tblGrid>
                <a:gridCol w="681317">
                  <a:extLst>
                    <a:ext uri="{9D8B030D-6E8A-4147-A177-3AD203B41FA5}">
                      <a16:colId xmlns:a16="http://schemas.microsoft.com/office/drawing/2014/main" xmlns="" val="62847330"/>
                    </a:ext>
                  </a:extLst>
                </a:gridCol>
                <a:gridCol w="681317">
                  <a:extLst>
                    <a:ext uri="{9D8B030D-6E8A-4147-A177-3AD203B41FA5}">
                      <a16:colId xmlns:a16="http://schemas.microsoft.com/office/drawing/2014/main" xmlns="" val="2313534543"/>
                    </a:ext>
                  </a:extLst>
                </a:gridCol>
              </a:tblGrid>
              <a:tr h="370840">
                <a:tc>
                  <a:txBody>
                    <a:bodyPr/>
                    <a:lstStyle/>
                    <a:p>
                      <a:r>
                        <a:rPr lang="en-US" dirty="0"/>
                        <a:t>-2</a:t>
                      </a:r>
                      <a:endParaRPr lang="aa-ET" dirty="0"/>
                    </a:p>
                  </a:txBody>
                  <a:tcPr/>
                </a:tc>
                <a:tc>
                  <a:txBody>
                    <a:bodyPr/>
                    <a:lstStyle/>
                    <a:p>
                      <a:r>
                        <a:rPr lang="en-US" dirty="0"/>
                        <a:t>-1</a:t>
                      </a:r>
                      <a:endParaRPr lang="aa-ET" dirty="0"/>
                    </a:p>
                  </a:txBody>
                  <a:tcPr/>
                </a:tc>
                <a:extLst>
                  <a:ext uri="{0D108BD9-81ED-4DB2-BD59-A6C34878D82A}">
                    <a16:rowId xmlns:a16="http://schemas.microsoft.com/office/drawing/2014/main" xmlns="" val="599650194"/>
                  </a:ext>
                </a:extLst>
              </a:tr>
            </a:tbl>
          </a:graphicData>
        </a:graphic>
      </p:graphicFrame>
    </p:spTree>
    <p:extLst>
      <p:ext uri="{BB962C8B-B14F-4D97-AF65-F5344CB8AC3E}">
        <p14:creationId xmlns:p14="http://schemas.microsoft.com/office/powerpoint/2010/main" val="34139098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5AD040C-364A-A772-171B-01AB40DE08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487689DE-01B7-8F7D-A879-6036C70C2BC1}"/>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STRING SLICING</a:t>
            </a:r>
          </a:p>
        </p:txBody>
      </p:sp>
      <p:sp>
        <p:nvSpPr>
          <p:cNvPr id="8" name="Rectangle 7">
            <a:extLst>
              <a:ext uri="{FF2B5EF4-FFF2-40B4-BE49-F238E27FC236}">
                <a16:creationId xmlns:a16="http://schemas.microsoft.com/office/drawing/2014/main" xmlns="" id="{4B35A042-F800-ABDA-48D9-52839A114FE3}"/>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BBFA2947-E002-F427-08BA-484EABB8E5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7F06B7DC-58E0-79FD-C871-94817DCE40D5}"/>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pic>
        <p:nvPicPr>
          <p:cNvPr id="6" name="Picture 5">
            <a:extLst>
              <a:ext uri="{FF2B5EF4-FFF2-40B4-BE49-F238E27FC236}">
                <a16:creationId xmlns:a16="http://schemas.microsoft.com/office/drawing/2014/main" xmlns="" id="{DA67B3AB-91EE-FCF6-FF09-AE0AECDFDFDA}"/>
              </a:ext>
            </a:extLst>
          </p:cNvPr>
          <p:cNvPicPr>
            <a:picLocks noChangeAspect="1"/>
          </p:cNvPicPr>
          <p:nvPr/>
        </p:nvPicPr>
        <p:blipFill>
          <a:blip r:embed="rId3"/>
          <a:stretch>
            <a:fillRect/>
          </a:stretch>
        </p:blipFill>
        <p:spPr>
          <a:xfrm>
            <a:off x="150952" y="1186983"/>
            <a:ext cx="6913236" cy="5050812"/>
          </a:xfrm>
          <a:prstGeom prst="rect">
            <a:avLst/>
          </a:prstGeom>
        </p:spPr>
      </p:pic>
      <p:cxnSp>
        <p:nvCxnSpPr>
          <p:cNvPr id="7" name="Straight Arrow Connector 6">
            <a:extLst>
              <a:ext uri="{FF2B5EF4-FFF2-40B4-BE49-F238E27FC236}">
                <a16:creationId xmlns:a16="http://schemas.microsoft.com/office/drawing/2014/main" xmlns="" id="{875005FA-382D-DB68-3F8E-55B9547C1EE3}"/>
              </a:ext>
            </a:extLst>
          </p:cNvPr>
          <p:cNvCxnSpPr>
            <a:cxnSpLocks/>
          </p:cNvCxnSpPr>
          <p:nvPr/>
        </p:nvCxnSpPr>
        <p:spPr>
          <a:xfrm flipH="1">
            <a:off x="2572870" y="5849230"/>
            <a:ext cx="29959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xmlns="" id="{2A3CC43C-E254-DEE4-E9BC-32F7AC487243}"/>
              </a:ext>
            </a:extLst>
          </p:cNvPr>
          <p:cNvSpPr txBox="1"/>
          <p:nvPr/>
        </p:nvSpPr>
        <p:spPr>
          <a:xfrm>
            <a:off x="2872464" y="5664564"/>
            <a:ext cx="2421918"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From the back, the index starts from -1</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092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958D40-B1E9-B198-66AB-10102EB00E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3A629107-3298-F695-AD06-B3336EF8B32D}"/>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STRING METHODS</a:t>
            </a:r>
          </a:p>
        </p:txBody>
      </p:sp>
      <p:sp>
        <p:nvSpPr>
          <p:cNvPr id="8" name="Rectangle 7">
            <a:extLst>
              <a:ext uri="{FF2B5EF4-FFF2-40B4-BE49-F238E27FC236}">
                <a16:creationId xmlns:a16="http://schemas.microsoft.com/office/drawing/2014/main" xmlns="" id="{8DB244B9-713D-BE60-245F-A78D47F0188A}"/>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98DCB925-E307-E555-CE57-AFEB44322E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49976803-6FA7-37B3-B0BD-BCA1FC902FF6}"/>
              </a:ext>
            </a:extLst>
          </p:cNvPr>
          <p:cNvSpPr txBox="1"/>
          <p:nvPr/>
        </p:nvSpPr>
        <p:spPr>
          <a:xfrm>
            <a:off x="452112"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6" name="TextBox 5">
            <a:extLst>
              <a:ext uri="{FF2B5EF4-FFF2-40B4-BE49-F238E27FC236}">
                <a16:creationId xmlns:a16="http://schemas.microsoft.com/office/drawing/2014/main" xmlns="" id="{431C5676-8177-B3E0-45D0-F9907C61B815}"/>
              </a:ext>
            </a:extLst>
          </p:cNvPr>
          <p:cNvSpPr txBox="1"/>
          <p:nvPr/>
        </p:nvSpPr>
        <p:spPr>
          <a:xfrm>
            <a:off x="0" y="1108559"/>
            <a:ext cx="7215423" cy="1754326"/>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are other several operations we can carry on strings. For instance, we can convert from upper to lower, check if a string is numeric, etc. Kindly find a complete list for your reference at:</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3"/>
              </a:rPr>
              <a:t>https://www.w3schools.com/python/python_strings_methods.asp</a:t>
            </a: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aa-ET"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xmlns="" id="{DE39A9CA-2375-582D-C70D-31E31E3475E3}"/>
              </a:ext>
            </a:extLst>
          </p:cNvPr>
          <p:cNvPicPr>
            <a:picLocks noChangeAspect="1"/>
          </p:cNvPicPr>
          <p:nvPr/>
        </p:nvPicPr>
        <p:blipFill>
          <a:blip r:embed="rId4"/>
          <a:stretch>
            <a:fillRect/>
          </a:stretch>
        </p:blipFill>
        <p:spPr>
          <a:xfrm>
            <a:off x="357983" y="2661643"/>
            <a:ext cx="6462763" cy="3530528"/>
          </a:xfrm>
          <a:prstGeom prst="rect">
            <a:avLst/>
          </a:prstGeom>
        </p:spPr>
      </p:pic>
      <p:cxnSp>
        <p:nvCxnSpPr>
          <p:cNvPr id="13" name="Straight Arrow Connector 12">
            <a:extLst>
              <a:ext uri="{FF2B5EF4-FFF2-40B4-BE49-F238E27FC236}">
                <a16:creationId xmlns:a16="http://schemas.microsoft.com/office/drawing/2014/main" xmlns="" id="{E9B72A3F-9FED-F993-9177-A550084B3651}"/>
              </a:ext>
            </a:extLst>
          </p:cNvPr>
          <p:cNvCxnSpPr>
            <a:cxnSpLocks/>
            <a:stCxn id="14" idx="1"/>
          </p:cNvCxnSpPr>
          <p:nvPr/>
        </p:nvCxnSpPr>
        <p:spPr>
          <a:xfrm flipH="1">
            <a:off x="4130494" y="4739135"/>
            <a:ext cx="781381" cy="461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EC619457-50D5-604A-9A74-585EEC2DD9E1}"/>
              </a:ext>
            </a:extLst>
          </p:cNvPr>
          <p:cNvSpPr txBox="1"/>
          <p:nvPr/>
        </p:nvSpPr>
        <p:spPr>
          <a:xfrm>
            <a:off x="4911875" y="4415969"/>
            <a:ext cx="2188172"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Name of the string, dot, method name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xmlns="" id="{18ED08DE-61D2-3101-831A-7742460B96F2}"/>
              </a:ext>
            </a:extLst>
          </p:cNvPr>
          <p:cNvCxnSpPr>
            <a:cxnSpLocks/>
          </p:cNvCxnSpPr>
          <p:nvPr/>
        </p:nvCxnSpPr>
        <p:spPr>
          <a:xfrm flipH="1" flipV="1">
            <a:off x="3500112" y="3995116"/>
            <a:ext cx="1411763" cy="6217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A3871A21-9EC5-61B0-EFBA-A7181DB432E4}"/>
              </a:ext>
            </a:extLst>
          </p:cNvPr>
          <p:cNvCxnSpPr>
            <a:cxnSpLocks/>
          </p:cNvCxnSpPr>
          <p:nvPr/>
        </p:nvCxnSpPr>
        <p:spPr>
          <a:xfrm flipH="1">
            <a:off x="3255213" y="4785301"/>
            <a:ext cx="1656662" cy="10921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12622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B91358D-CA05-1292-E534-F3B70F6244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2061E0CF-0AB6-2C0D-F92B-7E0DBE916C21}"/>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STRING FORMATTING</a:t>
            </a:r>
          </a:p>
        </p:txBody>
      </p:sp>
      <p:sp>
        <p:nvSpPr>
          <p:cNvPr id="8" name="Rectangle 7">
            <a:extLst>
              <a:ext uri="{FF2B5EF4-FFF2-40B4-BE49-F238E27FC236}">
                <a16:creationId xmlns:a16="http://schemas.microsoft.com/office/drawing/2014/main" xmlns="" id="{2BA42578-9EF5-7AEA-7F94-1C5A1E1BAD43}"/>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2FC3451-1EB2-8457-722C-1119A3772B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5B4B75B0-F1D2-6DB6-AD8F-85C4BF2534DF}"/>
              </a:ext>
            </a:extLst>
          </p:cNvPr>
          <p:cNvSpPr txBox="1"/>
          <p:nvPr/>
        </p:nvSpPr>
        <p:spPr>
          <a:xfrm>
            <a:off x="452112"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6" name="TextBox 5">
            <a:extLst>
              <a:ext uri="{FF2B5EF4-FFF2-40B4-BE49-F238E27FC236}">
                <a16:creationId xmlns:a16="http://schemas.microsoft.com/office/drawing/2014/main" xmlns="" id="{0F69DEFC-DDE6-2ADC-BB1B-8089D79CAC07}"/>
              </a:ext>
            </a:extLst>
          </p:cNvPr>
          <p:cNvSpPr txBox="1"/>
          <p:nvPr/>
        </p:nvSpPr>
        <p:spPr>
          <a:xfrm>
            <a:off x="0" y="110855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are different approaches in formatting string. </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aa-ET"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60274FF1-BC2A-A0FC-7031-3801528D700C}"/>
              </a:ext>
            </a:extLst>
          </p:cNvPr>
          <p:cNvPicPr>
            <a:picLocks noChangeAspect="1"/>
          </p:cNvPicPr>
          <p:nvPr/>
        </p:nvPicPr>
        <p:blipFill>
          <a:blip r:embed="rId3"/>
          <a:stretch>
            <a:fillRect/>
          </a:stretch>
        </p:blipFill>
        <p:spPr>
          <a:xfrm>
            <a:off x="141613" y="1651607"/>
            <a:ext cx="7374290" cy="3554786"/>
          </a:xfrm>
          <a:prstGeom prst="rect">
            <a:avLst/>
          </a:prstGeom>
        </p:spPr>
      </p:pic>
      <p:sp>
        <p:nvSpPr>
          <p:cNvPr id="5" name="TextBox 4">
            <a:extLst>
              <a:ext uri="{FF2B5EF4-FFF2-40B4-BE49-F238E27FC236}">
                <a16:creationId xmlns:a16="http://schemas.microsoft.com/office/drawing/2014/main" xmlns="" id="{EA796049-A650-DF34-9795-5A9C17117041}"/>
              </a:ext>
            </a:extLst>
          </p:cNvPr>
          <p:cNvSpPr txBox="1"/>
          <p:nvPr/>
        </p:nvSpPr>
        <p:spPr>
          <a:xfrm>
            <a:off x="141613" y="5547976"/>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highlight>
                  <a:srgbClr val="00FFFF"/>
                </a:highlight>
                <a:latin typeface="Times New Roman" panose="02020603050405020304" pitchFamily="18" charset="0"/>
                <a:cs typeface="Times New Roman" panose="02020603050405020304" pitchFamily="18" charset="0"/>
              </a:rPr>
              <a:t>I will be using the 3</a:t>
            </a:r>
            <a:r>
              <a:rPr lang="en-US" baseline="30000" dirty="0">
                <a:highlight>
                  <a:srgbClr val="00FFFF"/>
                </a:highlight>
                <a:latin typeface="Times New Roman" panose="02020603050405020304" pitchFamily="18" charset="0"/>
                <a:cs typeface="Times New Roman" panose="02020603050405020304" pitchFamily="18" charset="0"/>
              </a:rPr>
              <a:t>rd</a:t>
            </a:r>
            <a:r>
              <a:rPr lang="en-US" dirty="0">
                <a:highlight>
                  <a:srgbClr val="00FFFF"/>
                </a:highlight>
                <a:latin typeface="Times New Roman" panose="02020603050405020304" pitchFamily="18" charset="0"/>
                <a:cs typeface="Times New Roman" panose="02020603050405020304" pitchFamily="18" charset="0"/>
              </a:rPr>
              <a:t> approach for examples</a:t>
            </a:r>
            <a:endParaRPr lang="aa-ET" dirty="0">
              <a:highlight>
                <a:srgbClr val="00FFFF"/>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7483CADF-1531-7BEC-32CC-9E622498F06C}"/>
              </a:ext>
            </a:extLst>
          </p:cNvPr>
          <p:cNvSpPr txBox="1"/>
          <p:nvPr/>
        </p:nvSpPr>
        <p:spPr>
          <a:xfrm>
            <a:off x="4861947" y="4492390"/>
            <a:ext cx="2188172" cy="307777"/>
          </a:xfrm>
          <a:prstGeom prst="rect">
            <a:avLst/>
          </a:prstGeom>
          <a:noFill/>
        </p:spPr>
        <p:txBody>
          <a:bodyPr wrap="square">
            <a:spAutoFit/>
          </a:bodyPr>
          <a:lstStyle/>
          <a:p>
            <a:pPr algn="l"/>
            <a:r>
              <a:rPr lang="en-US" sz="1400" dirty="0">
                <a:solidFill>
                  <a:srgbClr val="000000"/>
                </a:solidFill>
                <a:highlight>
                  <a:srgbClr val="FF00FF"/>
                </a:highlight>
                <a:latin typeface="Times New Roman" panose="02020603050405020304" pitchFamily="18" charset="0"/>
                <a:cs typeface="Times New Roman" panose="02020603050405020304" pitchFamily="18" charset="0"/>
              </a:rPr>
              <a:t>Injected the variable names</a:t>
            </a:r>
            <a:endParaRPr lang="en-US" sz="14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xmlns="" id="{3D9453C9-260F-376A-C8AF-93E7CB25CDC8}"/>
              </a:ext>
            </a:extLst>
          </p:cNvPr>
          <p:cNvCxnSpPr>
            <a:cxnSpLocks/>
          </p:cNvCxnSpPr>
          <p:nvPr/>
        </p:nvCxnSpPr>
        <p:spPr>
          <a:xfrm flipH="1">
            <a:off x="4392706" y="4616824"/>
            <a:ext cx="519169" cy="2092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A114DAF2-A090-BF67-8C73-7B99763B9C57}"/>
              </a:ext>
            </a:extLst>
          </p:cNvPr>
          <p:cNvCxnSpPr>
            <a:cxnSpLocks/>
          </p:cNvCxnSpPr>
          <p:nvPr/>
        </p:nvCxnSpPr>
        <p:spPr>
          <a:xfrm flipH="1">
            <a:off x="2814918" y="4616824"/>
            <a:ext cx="2096957" cy="1496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AF11E5B4-4BA4-E54A-424B-C3AC3A21A21E}"/>
              </a:ext>
            </a:extLst>
          </p:cNvPr>
          <p:cNvSpPr txBox="1"/>
          <p:nvPr/>
        </p:nvSpPr>
        <p:spPr>
          <a:xfrm>
            <a:off x="4870519" y="3457102"/>
            <a:ext cx="2188172" cy="830997"/>
          </a:xfrm>
          <a:prstGeom prst="rect">
            <a:avLst/>
          </a:prstGeom>
          <a:noFill/>
        </p:spPr>
        <p:txBody>
          <a:bodyPr wrap="square">
            <a:spAutoFit/>
          </a:bodyPr>
          <a:lstStyle/>
          <a:p>
            <a:pPr algn="l"/>
            <a:r>
              <a:rPr lang="en-US" sz="1200" dirty="0">
                <a:solidFill>
                  <a:srgbClr val="000000"/>
                </a:solidFill>
                <a:highlight>
                  <a:srgbClr val="FF00FF"/>
                </a:highlight>
                <a:latin typeface="Times New Roman" panose="02020603050405020304" pitchFamily="18" charset="0"/>
                <a:cs typeface="Times New Roman" panose="02020603050405020304" pitchFamily="18" charset="0"/>
              </a:rPr>
              <a:t>Use placeholders for the variable names. It matches the positions of the variables used in the format method</a:t>
            </a:r>
            <a:endParaRPr lang="en-US" sz="12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xmlns="" id="{D02A49F3-445D-F79B-4B97-1175186F8F95}"/>
              </a:ext>
            </a:extLst>
          </p:cNvPr>
          <p:cNvCxnSpPr>
            <a:cxnSpLocks/>
          </p:cNvCxnSpPr>
          <p:nvPr/>
        </p:nvCxnSpPr>
        <p:spPr>
          <a:xfrm flipH="1" flipV="1">
            <a:off x="3971365" y="3815282"/>
            <a:ext cx="940510" cy="922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9CF8A4E2-3ED0-E966-08EA-4E4A41B7E743}"/>
              </a:ext>
            </a:extLst>
          </p:cNvPr>
          <p:cNvCxnSpPr>
            <a:cxnSpLocks/>
          </p:cNvCxnSpPr>
          <p:nvPr/>
        </p:nvCxnSpPr>
        <p:spPr>
          <a:xfrm flipH="1" flipV="1">
            <a:off x="2537012" y="3907513"/>
            <a:ext cx="2383435" cy="518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D1A2059A-CDA8-07D5-180D-7298C5AFF665}"/>
              </a:ext>
            </a:extLst>
          </p:cNvPr>
          <p:cNvSpPr txBox="1"/>
          <p:nvPr/>
        </p:nvSpPr>
        <p:spPr>
          <a:xfrm>
            <a:off x="2675916" y="2063072"/>
            <a:ext cx="1860225" cy="584775"/>
          </a:xfrm>
          <a:prstGeom prst="rect">
            <a:avLst/>
          </a:prstGeom>
          <a:noFill/>
        </p:spPr>
        <p:txBody>
          <a:bodyPr wrap="square">
            <a:spAutoFit/>
          </a:bodyPr>
          <a:lstStyle/>
          <a:p>
            <a:pPr algn="l"/>
            <a:r>
              <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rPr>
              <a:t>Use + to concatenate strings</a:t>
            </a:r>
          </a:p>
        </p:txBody>
      </p:sp>
      <p:cxnSp>
        <p:nvCxnSpPr>
          <p:cNvPr id="25" name="Straight Arrow Connector 24">
            <a:extLst>
              <a:ext uri="{FF2B5EF4-FFF2-40B4-BE49-F238E27FC236}">
                <a16:creationId xmlns:a16="http://schemas.microsoft.com/office/drawing/2014/main" xmlns="" id="{2BFCBDBE-C733-B5B1-0BC6-651A78AF2ADF}"/>
              </a:ext>
            </a:extLst>
          </p:cNvPr>
          <p:cNvCxnSpPr>
            <a:cxnSpLocks/>
          </p:cNvCxnSpPr>
          <p:nvPr/>
        </p:nvCxnSpPr>
        <p:spPr>
          <a:xfrm flipH="1">
            <a:off x="2563906" y="2618586"/>
            <a:ext cx="519953" cy="3118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74EBF8CF-392E-4C17-1DF2-2B9F00C2F3F4}"/>
              </a:ext>
            </a:extLst>
          </p:cNvPr>
          <p:cNvCxnSpPr>
            <a:cxnSpLocks/>
          </p:cNvCxnSpPr>
          <p:nvPr/>
        </p:nvCxnSpPr>
        <p:spPr>
          <a:xfrm flipH="1">
            <a:off x="2043953" y="2574937"/>
            <a:ext cx="923365" cy="34262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F099B59D-5E59-09BD-C4A2-96D5FF61C86E}"/>
              </a:ext>
            </a:extLst>
          </p:cNvPr>
          <p:cNvCxnSpPr>
            <a:cxnSpLocks/>
          </p:cNvCxnSpPr>
          <p:nvPr/>
        </p:nvCxnSpPr>
        <p:spPr>
          <a:xfrm>
            <a:off x="3119994" y="2573185"/>
            <a:ext cx="859943" cy="3998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98345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94BAE45-4A7E-6C32-815D-B014CA10AF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2D86B192-5F7F-92FC-13E0-D9CDD1CFBD91}"/>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LIST DATA TYPE</a:t>
            </a:r>
          </a:p>
        </p:txBody>
      </p:sp>
      <p:sp>
        <p:nvSpPr>
          <p:cNvPr id="8" name="Rectangle 7">
            <a:extLst>
              <a:ext uri="{FF2B5EF4-FFF2-40B4-BE49-F238E27FC236}">
                <a16:creationId xmlns:a16="http://schemas.microsoft.com/office/drawing/2014/main" xmlns="" id="{D5E38A79-8F2A-B370-90B7-541483826BB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C79375A7-9A45-739C-9D25-32B9082B71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D9DEEB42-7F3D-3BF7-FC14-1808D36F79FC}"/>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A8E770BF-126D-4AB2-C80F-E889A2C9CFD0}"/>
              </a:ext>
            </a:extLst>
          </p:cNvPr>
          <p:cNvSpPr txBox="1"/>
          <p:nvPr/>
        </p:nvSpPr>
        <p:spPr>
          <a:xfrm>
            <a:off x="0" y="1108559"/>
            <a:ext cx="7215423" cy="1200329"/>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python programming, </a:t>
            </a:r>
            <a:r>
              <a:rPr lang="en-US" dirty="0">
                <a:solidFill>
                  <a:schemeClr val="accent2"/>
                </a:solidFill>
                <a:latin typeface="Times New Roman" panose="02020603050405020304" pitchFamily="18" charset="0"/>
                <a:cs typeface="Times New Roman" panose="02020603050405020304" pitchFamily="18" charset="0"/>
              </a:rPr>
              <a:t>lists</a:t>
            </a:r>
            <a:r>
              <a:rPr lang="en-US" dirty="0">
                <a:latin typeface="Times New Roman" panose="02020603050405020304" pitchFamily="18" charset="0"/>
                <a:cs typeface="Times New Roman" panose="02020603050405020304" pitchFamily="18" charset="0"/>
              </a:rPr>
              <a:t> are used to store multiple items in a single variable. Have you realized we have been creating single items per variable? There are instances where you may need to store more than one item</a:t>
            </a:r>
            <a:endParaRPr lang="aa-ET"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1C22335D-F000-E45B-1F9E-32672CB9E009}"/>
              </a:ext>
            </a:extLst>
          </p:cNvPr>
          <p:cNvSpPr txBox="1"/>
          <p:nvPr/>
        </p:nvSpPr>
        <p:spPr>
          <a:xfrm>
            <a:off x="1927412" y="2047623"/>
            <a:ext cx="165847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Variable name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A97B9724-7158-7F3D-6B93-B5264AF2E7AD}"/>
              </a:ext>
            </a:extLst>
          </p:cNvPr>
          <p:cNvPicPr>
            <a:picLocks noChangeAspect="1"/>
          </p:cNvPicPr>
          <p:nvPr/>
        </p:nvPicPr>
        <p:blipFill>
          <a:blip r:embed="rId3"/>
          <a:stretch>
            <a:fillRect/>
          </a:stretch>
        </p:blipFill>
        <p:spPr>
          <a:xfrm>
            <a:off x="331086" y="2582477"/>
            <a:ext cx="5610225" cy="638175"/>
          </a:xfrm>
          <a:prstGeom prst="rect">
            <a:avLst/>
          </a:prstGeom>
          <a:ln>
            <a:noFill/>
          </a:ln>
          <a:effectLst>
            <a:outerShdw blurRad="292100" dist="139700" dir="2700000" algn="tl" rotWithShape="0">
              <a:srgbClr val="333333">
                <a:alpha val="65000"/>
              </a:srgbClr>
            </a:outerShdw>
          </a:effectLst>
        </p:spPr>
      </p:pic>
      <p:cxnSp>
        <p:nvCxnSpPr>
          <p:cNvPr id="13" name="Straight Arrow Connector 12">
            <a:extLst>
              <a:ext uri="{FF2B5EF4-FFF2-40B4-BE49-F238E27FC236}">
                <a16:creationId xmlns:a16="http://schemas.microsoft.com/office/drawing/2014/main" xmlns="" id="{603A03AD-112C-3D7F-388D-6D3E84648542}"/>
              </a:ext>
            </a:extLst>
          </p:cNvPr>
          <p:cNvCxnSpPr>
            <a:cxnSpLocks/>
          </p:cNvCxnSpPr>
          <p:nvPr/>
        </p:nvCxnSpPr>
        <p:spPr>
          <a:xfrm flipH="1">
            <a:off x="1165412" y="2232289"/>
            <a:ext cx="762000" cy="4709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CB790342-2F1A-B277-5B0B-4CA2596BF3C4}"/>
              </a:ext>
            </a:extLst>
          </p:cNvPr>
          <p:cNvSpPr txBox="1"/>
          <p:nvPr/>
        </p:nvSpPr>
        <p:spPr>
          <a:xfrm>
            <a:off x="2026024" y="3705464"/>
            <a:ext cx="1658470" cy="369332"/>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items</a:t>
            </a:r>
          </a:p>
        </p:txBody>
      </p:sp>
      <p:cxnSp>
        <p:nvCxnSpPr>
          <p:cNvPr id="10" name="Straight Arrow Connector 9">
            <a:extLst>
              <a:ext uri="{FF2B5EF4-FFF2-40B4-BE49-F238E27FC236}">
                <a16:creationId xmlns:a16="http://schemas.microsoft.com/office/drawing/2014/main" xmlns="" id="{C3BE1E9C-1C31-B727-1615-88AEC7E246D7}"/>
              </a:ext>
            </a:extLst>
          </p:cNvPr>
          <p:cNvCxnSpPr>
            <a:cxnSpLocks/>
          </p:cNvCxnSpPr>
          <p:nvPr/>
        </p:nvCxnSpPr>
        <p:spPr>
          <a:xfrm flipV="1">
            <a:off x="2377096" y="3008917"/>
            <a:ext cx="0" cy="6284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D617C4E4-05DF-FA8F-9ADF-864A95D8F856}"/>
              </a:ext>
            </a:extLst>
          </p:cNvPr>
          <p:cNvSpPr txBox="1"/>
          <p:nvPr/>
        </p:nvSpPr>
        <p:spPr>
          <a:xfrm>
            <a:off x="0" y="5779594"/>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can get the length, count items, slice, etc.</a:t>
            </a:r>
            <a:endParaRPr lang="aa-ET" dirty="0">
              <a:latin typeface="Times New Roman" panose="02020603050405020304" pitchFamily="18" charset="0"/>
              <a:cs typeface="Times New Roman" panose="02020603050405020304" pitchFamily="18" charset="0"/>
            </a:endParaRPr>
          </a:p>
        </p:txBody>
      </p:sp>
      <p:graphicFrame>
        <p:nvGraphicFramePr>
          <p:cNvPr id="21" name="Table 20">
            <a:extLst>
              <a:ext uri="{FF2B5EF4-FFF2-40B4-BE49-F238E27FC236}">
                <a16:creationId xmlns:a16="http://schemas.microsoft.com/office/drawing/2014/main" xmlns="" id="{077AC362-2FF8-B9A2-5C6D-D4EDE0A88EA0}"/>
              </a:ext>
            </a:extLst>
          </p:cNvPr>
          <p:cNvGraphicFramePr>
            <a:graphicFrameLocks noGrp="1"/>
          </p:cNvGraphicFramePr>
          <p:nvPr>
            <p:extLst>
              <p:ext uri="{D42A27DB-BD31-4B8C-83A1-F6EECF244321}">
                <p14:modId xmlns:p14="http://schemas.microsoft.com/office/powerpoint/2010/main" val="2769826283"/>
              </p:ext>
            </p:extLst>
          </p:nvPr>
        </p:nvGraphicFramePr>
        <p:xfrm>
          <a:off x="311619" y="4521745"/>
          <a:ext cx="6985650" cy="820402"/>
        </p:xfrm>
        <a:graphic>
          <a:graphicData uri="http://schemas.openxmlformats.org/drawingml/2006/table">
            <a:tbl>
              <a:tblPr firstRow="1" bandRow="1">
                <a:tableStyleId>{5C22544A-7EE6-4342-B048-85BDC9FD1C3A}</a:tableStyleId>
              </a:tblPr>
              <a:tblGrid>
                <a:gridCol w="1397130">
                  <a:extLst>
                    <a:ext uri="{9D8B030D-6E8A-4147-A177-3AD203B41FA5}">
                      <a16:colId xmlns:a16="http://schemas.microsoft.com/office/drawing/2014/main" xmlns="" val="1570421611"/>
                    </a:ext>
                  </a:extLst>
                </a:gridCol>
                <a:gridCol w="1397130">
                  <a:extLst>
                    <a:ext uri="{9D8B030D-6E8A-4147-A177-3AD203B41FA5}">
                      <a16:colId xmlns:a16="http://schemas.microsoft.com/office/drawing/2014/main" xmlns="" val="1808238441"/>
                    </a:ext>
                  </a:extLst>
                </a:gridCol>
                <a:gridCol w="1397130">
                  <a:extLst>
                    <a:ext uri="{9D8B030D-6E8A-4147-A177-3AD203B41FA5}">
                      <a16:colId xmlns:a16="http://schemas.microsoft.com/office/drawing/2014/main" xmlns="" val="3092534722"/>
                    </a:ext>
                  </a:extLst>
                </a:gridCol>
                <a:gridCol w="1397130">
                  <a:extLst>
                    <a:ext uri="{9D8B030D-6E8A-4147-A177-3AD203B41FA5}">
                      <a16:colId xmlns:a16="http://schemas.microsoft.com/office/drawing/2014/main" xmlns="" val="820698570"/>
                    </a:ext>
                  </a:extLst>
                </a:gridCol>
                <a:gridCol w="1397130">
                  <a:extLst>
                    <a:ext uri="{9D8B030D-6E8A-4147-A177-3AD203B41FA5}">
                      <a16:colId xmlns:a16="http://schemas.microsoft.com/office/drawing/2014/main" xmlns="" val="1909794284"/>
                    </a:ext>
                  </a:extLst>
                </a:gridCol>
              </a:tblGrid>
              <a:tr h="410201">
                <a:tc>
                  <a:txBody>
                    <a:bodyPr/>
                    <a:lstStyle/>
                    <a:p>
                      <a:r>
                        <a:rPr lang="en-US" dirty="0"/>
                        <a:t>0</a:t>
                      </a:r>
                      <a:endParaRPr lang="aa-ET" dirty="0"/>
                    </a:p>
                  </a:txBody>
                  <a:tcPr/>
                </a:tc>
                <a:tc>
                  <a:txBody>
                    <a:bodyPr/>
                    <a:lstStyle/>
                    <a:p>
                      <a:r>
                        <a:rPr lang="en-US" dirty="0"/>
                        <a:t>1</a:t>
                      </a:r>
                      <a:endParaRPr lang="aa-ET" dirty="0"/>
                    </a:p>
                  </a:txBody>
                  <a:tcPr/>
                </a:tc>
                <a:tc>
                  <a:txBody>
                    <a:bodyPr/>
                    <a:lstStyle/>
                    <a:p>
                      <a:r>
                        <a:rPr lang="en-US" dirty="0"/>
                        <a:t>2</a:t>
                      </a:r>
                      <a:endParaRPr lang="aa-ET" dirty="0"/>
                    </a:p>
                  </a:txBody>
                  <a:tcPr/>
                </a:tc>
                <a:tc>
                  <a:txBody>
                    <a:bodyPr/>
                    <a:lstStyle/>
                    <a:p>
                      <a:r>
                        <a:rPr lang="en-US" dirty="0"/>
                        <a:t>3</a:t>
                      </a:r>
                      <a:endParaRPr lang="aa-ET" dirty="0"/>
                    </a:p>
                  </a:txBody>
                  <a:tcPr/>
                </a:tc>
                <a:tc>
                  <a:txBody>
                    <a:bodyPr/>
                    <a:lstStyle/>
                    <a:p>
                      <a:r>
                        <a:rPr lang="en-US" dirty="0"/>
                        <a:t>4</a:t>
                      </a:r>
                      <a:endParaRPr lang="aa-ET" dirty="0"/>
                    </a:p>
                  </a:txBody>
                  <a:tcPr/>
                </a:tc>
                <a:extLst>
                  <a:ext uri="{0D108BD9-81ED-4DB2-BD59-A6C34878D82A}">
                    <a16:rowId xmlns:a16="http://schemas.microsoft.com/office/drawing/2014/main" xmlns="" val="1129816827"/>
                  </a:ext>
                </a:extLst>
              </a:tr>
              <a:tr h="410201">
                <a:tc>
                  <a:txBody>
                    <a:bodyPr/>
                    <a:lstStyle/>
                    <a:p>
                      <a:r>
                        <a:rPr lang="en-US" dirty="0"/>
                        <a:t>apple</a:t>
                      </a:r>
                      <a:endParaRPr lang="aa-ET" dirty="0"/>
                    </a:p>
                  </a:txBody>
                  <a:tcPr/>
                </a:tc>
                <a:tc>
                  <a:txBody>
                    <a:bodyPr/>
                    <a:lstStyle/>
                    <a:p>
                      <a:r>
                        <a:rPr lang="en-US" dirty="0"/>
                        <a:t>banana</a:t>
                      </a:r>
                      <a:endParaRPr lang="aa-ET" dirty="0"/>
                    </a:p>
                  </a:txBody>
                  <a:tcPr/>
                </a:tc>
                <a:tc>
                  <a:txBody>
                    <a:bodyPr/>
                    <a:lstStyle/>
                    <a:p>
                      <a:r>
                        <a:rPr lang="en-US" dirty="0"/>
                        <a:t>cherry</a:t>
                      </a:r>
                      <a:endParaRPr lang="aa-ET" dirty="0"/>
                    </a:p>
                  </a:txBody>
                  <a:tcPr/>
                </a:tc>
                <a:tc>
                  <a:txBody>
                    <a:bodyPr/>
                    <a:lstStyle/>
                    <a:p>
                      <a:r>
                        <a:rPr lang="en-US" dirty="0"/>
                        <a:t>apple</a:t>
                      </a:r>
                      <a:endParaRPr lang="aa-ET" dirty="0"/>
                    </a:p>
                  </a:txBody>
                  <a:tcPr/>
                </a:tc>
                <a:tc>
                  <a:txBody>
                    <a:bodyPr/>
                    <a:lstStyle/>
                    <a:p>
                      <a:r>
                        <a:rPr lang="en-US" dirty="0"/>
                        <a:t>cherry</a:t>
                      </a:r>
                      <a:endParaRPr lang="aa-ET" dirty="0"/>
                    </a:p>
                  </a:txBody>
                  <a:tcPr/>
                </a:tc>
                <a:extLst>
                  <a:ext uri="{0D108BD9-81ED-4DB2-BD59-A6C34878D82A}">
                    <a16:rowId xmlns:a16="http://schemas.microsoft.com/office/drawing/2014/main" xmlns="" val="4236831730"/>
                  </a:ext>
                </a:extLst>
              </a:tr>
            </a:tbl>
          </a:graphicData>
        </a:graphic>
      </p:graphicFrame>
      <p:cxnSp>
        <p:nvCxnSpPr>
          <p:cNvPr id="22" name="Straight Arrow Connector 21">
            <a:extLst>
              <a:ext uri="{FF2B5EF4-FFF2-40B4-BE49-F238E27FC236}">
                <a16:creationId xmlns:a16="http://schemas.microsoft.com/office/drawing/2014/main" xmlns="" id="{8C19D632-EE53-4070-9D0D-1FD4FF7BBBDA}"/>
              </a:ext>
            </a:extLst>
          </p:cNvPr>
          <p:cNvCxnSpPr>
            <a:cxnSpLocks/>
          </p:cNvCxnSpPr>
          <p:nvPr/>
        </p:nvCxnSpPr>
        <p:spPr>
          <a:xfrm flipH="1" flipV="1">
            <a:off x="3623190" y="2930557"/>
            <a:ext cx="769516" cy="8137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5635E3E9-6398-054B-FCAC-C61CD0C8DAF4}"/>
              </a:ext>
            </a:extLst>
          </p:cNvPr>
          <p:cNvCxnSpPr>
            <a:cxnSpLocks/>
          </p:cNvCxnSpPr>
          <p:nvPr/>
        </p:nvCxnSpPr>
        <p:spPr>
          <a:xfrm flipV="1">
            <a:off x="4500282" y="2930557"/>
            <a:ext cx="808273" cy="8137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E40F65BA-8EAD-7088-195A-9A5448E73F08}"/>
              </a:ext>
            </a:extLst>
          </p:cNvPr>
          <p:cNvSpPr txBox="1"/>
          <p:nvPr/>
        </p:nvSpPr>
        <p:spPr>
          <a:xfrm>
            <a:off x="4042662" y="3744273"/>
            <a:ext cx="1919474"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List accepts duplicates</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35051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E618FBE-822A-BA72-4284-E26DD415A4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C3EB5DB7-158F-0701-4909-837E3402FCC3}"/>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REPLACE &amp; ADD TO LIST</a:t>
            </a:r>
          </a:p>
        </p:txBody>
      </p:sp>
      <p:sp>
        <p:nvSpPr>
          <p:cNvPr id="8" name="Rectangle 7">
            <a:extLst>
              <a:ext uri="{FF2B5EF4-FFF2-40B4-BE49-F238E27FC236}">
                <a16:creationId xmlns:a16="http://schemas.microsoft.com/office/drawing/2014/main" xmlns="" id="{838AC4C3-8869-4A59-15C2-6586F653E3EB}"/>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36317362-44E7-1FB7-2789-5676EDE4D9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20FD4AE4-0BA4-32E1-48C6-DCD986207E91}"/>
              </a:ext>
            </a:extLst>
          </p:cNvPr>
          <p:cNvSpPr txBox="1"/>
          <p:nvPr/>
        </p:nvSpPr>
        <p:spPr>
          <a:xfrm>
            <a:off x="0" y="110855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Replace</a:t>
            </a:r>
            <a:endParaRPr lang="aa-ET"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23B025C0-56AE-711A-841E-A9E931B8B747}"/>
              </a:ext>
            </a:extLst>
          </p:cNvPr>
          <p:cNvPicPr>
            <a:picLocks noChangeAspect="1"/>
          </p:cNvPicPr>
          <p:nvPr/>
        </p:nvPicPr>
        <p:blipFill>
          <a:blip r:embed="rId3"/>
          <a:stretch>
            <a:fillRect/>
          </a:stretch>
        </p:blipFill>
        <p:spPr>
          <a:xfrm>
            <a:off x="394169" y="1757650"/>
            <a:ext cx="3981450" cy="885825"/>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xmlns="" id="{E700BF42-9BE4-6CD5-2208-F8FE3E07680E}"/>
              </a:ext>
            </a:extLst>
          </p:cNvPr>
          <p:cNvSpPr txBox="1"/>
          <p:nvPr/>
        </p:nvSpPr>
        <p:spPr>
          <a:xfrm>
            <a:off x="5115814" y="2200562"/>
            <a:ext cx="2398664"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Banana will be replaced with blackcurrant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xmlns="" id="{7BE4E9F5-C855-A73C-BA21-550C83FA0434}"/>
              </a:ext>
            </a:extLst>
          </p:cNvPr>
          <p:cNvCxnSpPr>
            <a:cxnSpLocks/>
            <a:stCxn id="11" idx="1"/>
          </p:cNvCxnSpPr>
          <p:nvPr/>
        </p:nvCxnSpPr>
        <p:spPr>
          <a:xfrm flipH="1" flipV="1">
            <a:off x="3067378" y="2015043"/>
            <a:ext cx="2048436" cy="5086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xmlns="" id="{260ECB0F-6014-9AA0-EC0C-A9F6875CC48C}"/>
              </a:ext>
            </a:extLst>
          </p:cNvPr>
          <p:cNvCxnSpPr>
            <a:cxnSpLocks/>
            <a:stCxn id="11" idx="1"/>
          </p:cNvCxnSpPr>
          <p:nvPr/>
        </p:nvCxnSpPr>
        <p:spPr>
          <a:xfrm flipH="1" flipV="1">
            <a:off x="3067378" y="2217321"/>
            <a:ext cx="2048436" cy="306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4BF4E921-2A90-3F6A-F4C2-A856F440A275}"/>
              </a:ext>
            </a:extLst>
          </p:cNvPr>
          <p:cNvCxnSpPr>
            <a:cxnSpLocks/>
            <a:stCxn id="24" idx="1"/>
          </p:cNvCxnSpPr>
          <p:nvPr/>
        </p:nvCxnSpPr>
        <p:spPr>
          <a:xfrm flipH="1" flipV="1">
            <a:off x="1432770" y="2292053"/>
            <a:ext cx="362790" cy="6181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6E9DCC77-A393-508E-C4DE-8E9501B6380A}"/>
              </a:ext>
            </a:extLst>
          </p:cNvPr>
          <p:cNvSpPr txBox="1"/>
          <p:nvPr/>
        </p:nvSpPr>
        <p:spPr>
          <a:xfrm>
            <a:off x="1795560" y="2725534"/>
            <a:ext cx="2398664"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Index of item to replace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xmlns="" id="{780524AE-E060-CBEE-B108-8737E1037D50}"/>
              </a:ext>
            </a:extLst>
          </p:cNvPr>
          <p:cNvSpPr txBox="1"/>
          <p:nvPr/>
        </p:nvSpPr>
        <p:spPr>
          <a:xfrm>
            <a:off x="62753" y="3640143"/>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a:t>
            </a:r>
            <a:endParaRPr lang="aa-ET" dirty="0">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xmlns="" id="{89926507-CB31-127C-C0A2-9E1C13D808A9}"/>
              </a:ext>
            </a:extLst>
          </p:cNvPr>
          <p:cNvPicPr>
            <a:picLocks noChangeAspect="1"/>
          </p:cNvPicPr>
          <p:nvPr/>
        </p:nvPicPr>
        <p:blipFill>
          <a:blip r:embed="rId4"/>
          <a:stretch>
            <a:fillRect/>
          </a:stretch>
        </p:blipFill>
        <p:spPr>
          <a:xfrm>
            <a:off x="394169" y="4297215"/>
            <a:ext cx="4591050" cy="828675"/>
          </a:xfrm>
          <a:prstGeom prst="rect">
            <a:avLst/>
          </a:prstGeom>
          <a:ln>
            <a:noFill/>
          </a:ln>
          <a:effectLst>
            <a:outerShdw blurRad="292100" dist="139700" dir="2700000" algn="tl" rotWithShape="0">
              <a:srgbClr val="333333">
                <a:alpha val="65000"/>
              </a:srgbClr>
            </a:outerShdw>
          </a:effectLst>
        </p:spPr>
      </p:pic>
      <p:cxnSp>
        <p:nvCxnSpPr>
          <p:cNvPr id="29" name="Straight Arrow Connector 28">
            <a:extLst>
              <a:ext uri="{FF2B5EF4-FFF2-40B4-BE49-F238E27FC236}">
                <a16:creationId xmlns:a16="http://schemas.microsoft.com/office/drawing/2014/main" xmlns="" id="{F9FC95F1-8026-FE56-4600-C5A76C09D903}"/>
              </a:ext>
            </a:extLst>
          </p:cNvPr>
          <p:cNvCxnSpPr>
            <a:cxnSpLocks/>
          </p:cNvCxnSpPr>
          <p:nvPr/>
        </p:nvCxnSpPr>
        <p:spPr>
          <a:xfrm flipH="1">
            <a:off x="2813497" y="4739418"/>
            <a:ext cx="247362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xmlns="" id="{E715D00F-2AF0-7FFF-C25B-81FC974A3900}"/>
              </a:ext>
            </a:extLst>
          </p:cNvPr>
          <p:cNvSpPr txBox="1"/>
          <p:nvPr/>
        </p:nvSpPr>
        <p:spPr>
          <a:xfrm>
            <a:off x="5201468" y="4526886"/>
            <a:ext cx="2398664"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Item to be added to the list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xmlns="" id="{9AD2E8EA-AC61-F970-B932-77AF45A96C5B}"/>
              </a:ext>
            </a:extLst>
          </p:cNvPr>
          <p:cNvCxnSpPr>
            <a:cxnSpLocks/>
          </p:cNvCxnSpPr>
          <p:nvPr/>
        </p:nvCxnSpPr>
        <p:spPr>
          <a:xfrm flipH="1" flipV="1">
            <a:off x="1614165" y="4850051"/>
            <a:ext cx="1584787" cy="8993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xmlns="" id="{9F634140-298D-1D2D-96FF-87C75063465B}"/>
              </a:ext>
            </a:extLst>
          </p:cNvPr>
          <p:cNvCxnSpPr>
            <a:cxnSpLocks/>
          </p:cNvCxnSpPr>
          <p:nvPr/>
        </p:nvCxnSpPr>
        <p:spPr>
          <a:xfrm flipH="1" flipV="1">
            <a:off x="929896" y="4835597"/>
            <a:ext cx="2269056" cy="9138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xmlns="" id="{728DD0D4-0D60-3B3C-86CA-53E9462545FE}"/>
              </a:ext>
            </a:extLst>
          </p:cNvPr>
          <p:cNvSpPr txBox="1"/>
          <p:nvPr/>
        </p:nvSpPr>
        <p:spPr>
          <a:xfrm>
            <a:off x="3211710" y="5472991"/>
            <a:ext cx="4302767"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Call the method append() on the name of the list or variable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xmlns="" id="{30DF49FD-D240-CD6B-1C20-93526DF6972F}"/>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Tree>
    <p:extLst>
      <p:ext uri="{BB962C8B-B14F-4D97-AF65-F5344CB8AC3E}">
        <p14:creationId xmlns:p14="http://schemas.microsoft.com/office/powerpoint/2010/main" val="29557466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F9E563A-888E-F5E7-B1B0-82765C6F97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E7F6B36-F9BA-79C8-881F-10F2742DA998}"/>
              </a:ext>
            </a:extLst>
          </p:cNvPr>
          <p:cNvPicPr>
            <a:picLocks noChangeAspect="1"/>
          </p:cNvPicPr>
          <p:nvPr/>
        </p:nvPicPr>
        <p:blipFill>
          <a:blip r:embed="rId2"/>
          <a:stretch>
            <a:fillRect/>
          </a:stretch>
        </p:blipFill>
        <p:spPr>
          <a:xfrm>
            <a:off x="293898" y="1658025"/>
            <a:ext cx="4114800" cy="1362075"/>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2320E817-EC3C-D306-CE90-05FFFC46D8B2}"/>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REMOVE FROM LIST</a:t>
            </a:r>
          </a:p>
        </p:txBody>
      </p:sp>
      <p:sp>
        <p:nvSpPr>
          <p:cNvPr id="8" name="Rectangle 7">
            <a:extLst>
              <a:ext uri="{FF2B5EF4-FFF2-40B4-BE49-F238E27FC236}">
                <a16:creationId xmlns:a16="http://schemas.microsoft.com/office/drawing/2014/main" xmlns="" id="{19E3D784-B4F1-FB53-AB3D-C7E69ADD8AB1}"/>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59BA8760-2F02-23CC-5DEB-6E48D8CBF2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44D0A2C8-6496-749D-5A66-E1FD98E9679D}"/>
              </a:ext>
            </a:extLst>
          </p:cNvPr>
          <p:cNvSpPr txBox="1"/>
          <p:nvPr/>
        </p:nvSpPr>
        <p:spPr>
          <a:xfrm>
            <a:off x="0" y="110855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a:t>
            </a:r>
            <a:endParaRPr lang="aa-ET" dirty="0">
              <a:latin typeface="Times New Roman" panose="02020603050405020304" pitchFamily="18"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xmlns="" id="{ED646699-D900-8D08-71CC-ED1583B866D7}"/>
              </a:ext>
            </a:extLst>
          </p:cNvPr>
          <p:cNvCxnSpPr>
            <a:cxnSpLocks/>
          </p:cNvCxnSpPr>
          <p:nvPr/>
        </p:nvCxnSpPr>
        <p:spPr>
          <a:xfrm flipH="1" flipV="1">
            <a:off x="1452539" y="2600852"/>
            <a:ext cx="1584787" cy="8993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842DD482-0ED3-DCC1-36A3-97388DD2BD22}"/>
              </a:ext>
            </a:extLst>
          </p:cNvPr>
          <p:cNvCxnSpPr>
            <a:cxnSpLocks/>
          </p:cNvCxnSpPr>
          <p:nvPr/>
        </p:nvCxnSpPr>
        <p:spPr>
          <a:xfrm flipH="1" flipV="1">
            <a:off x="768270" y="2586398"/>
            <a:ext cx="2269056" cy="9138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C349BEA5-D269-C477-B5ED-F0FE9DBEE858}"/>
              </a:ext>
            </a:extLst>
          </p:cNvPr>
          <p:cNvSpPr txBox="1"/>
          <p:nvPr/>
        </p:nvSpPr>
        <p:spPr>
          <a:xfrm>
            <a:off x="3050084" y="3223792"/>
            <a:ext cx="4302767"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Call the method remove() on the name of the list or variable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xmlns="" id="{3740CD88-2BD8-8B52-2BEA-84F4D274B174}"/>
              </a:ext>
            </a:extLst>
          </p:cNvPr>
          <p:cNvPicPr>
            <a:picLocks noChangeAspect="1"/>
          </p:cNvPicPr>
          <p:nvPr/>
        </p:nvPicPr>
        <p:blipFill>
          <a:blip r:embed="rId4"/>
          <a:stretch>
            <a:fillRect/>
          </a:stretch>
        </p:blipFill>
        <p:spPr>
          <a:xfrm>
            <a:off x="307298" y="4494303"/>
            <a:ext cx="6600825" cy="1552575"/>
          </a:xfrm>
          <a:prstGeom prst="rect">
            <a:avLst/>
          </a:prstGeom>
          <a:ln>
            <a:noFill/>
          </a:ln>
          <a:effectLst>
            <a:outerShdw blurRad="292100" dist="139700" dir="2700000" algn="tl" rotWithShape="0">
              <a:srgbClr val="333333">
                <a:alpha val="65000"/>
              </a:srgbClr>
            </a:outerShdw>
          </a:effectLst>
        </p:spPr>
      </p:pic>
      <p:sp>
        <p:nvSpPr>
          <p:cNvPr id="18" name="TextBox 17">
            <a:extLst>
              <a:ext uri="{FF2B5EF4-FFF2-40B4-BE49-F238E27FC236}">
                <a16:creationId xmlns:a16="http://schemas.microsoft.com/office/drawing/2014/main" xmlns="" id="{26E175D8-7A1A-851A-533D-CB514134A9FA}"/>
              </a:ext>
            </a:extLst>
          </p:cNvPr>
          <p:cNvSpPr txBox="1"/>
          <p:nvPr/>
        </p:nvSpPr>
        <p:spPr>
          <a:xfrm>
            <a:off x="-4276" y="3965957"/>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can also achieve that with the </a:t>
            </a:r>
            <a:r>
              <a:rPr lang="en-US" b="1" dirty="0">
                <a:latin typeface="Times New Roman" panose="02020603050405020304" pitchFamily="18" charset="0"/>
                <a:cs typeface="Times New Roman" panose="02020603050405020304" pitchFamily="18" charset="0"/>
              </a:rPr>
              <a:t>del</a:t>
            </a:r>
            <a:r>
              <a:rPr lang="en-US" dirty="0">
                <a:latin typeface="Times New Roman" panose="02020603050405020304" pitchFamily="18" charset="0"/>
                <a:cs typeface="Times New Roman" panose="02020603050405020304" pitchFamily="18" charset="0"/>
              </a:rPr>
              <a:t> keyword</a:t>
            </a:r>
            <a:endParaRPr lang="aa-ET"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6F850ABC-695E-021B-F080-421DB55558AE}"/>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Tree>
    <p:extLst>
      <p:ext uri="{BB962C8B-B14F-4D97-AF65-F5344CB8AC3E}">
        <p14:creationId xmlns:p14="http://schemas.microsoft.com/office/powerpoint/2010/main" val="9579078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5DADA9-3D19-94C0-3B58-C1B70B3581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56F947C0-C449-6E5C-4998-4E511D1AFFB3}"/>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LIST METHODS</a:t>
            </a:r>
          </a:p>
        </p:txBody>
      </p:sp>
      <p:sp>
        <p:nvSpPr>
          <p:cNvPr id="8" name="Rectangle 7">
            <a:extLst>
              <a:ext uri="{FF2B5EF4-FFF2-40B4-BE49-F238E27FC236}">
                <a16:creationId xmlns:a16="http://schemas.microsoft.com/office/drawing/2014/main" xmlns="" id="{41C96530-F9E6-1653-6ACD-942F75DE475E}"/>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B351FC76-3A43-30B2-B172-6577AD11D0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2941DC56-B4BD-D7F1-7163-F3B3B40A1034}"/>
              </a:ext>
            </a:extLst>
          </p:cNvPr>
          <p:cNvSpPr txBox="1"/>
          <p:nvPr/>
        </p:nvSpPr>
        <p:spPr>
          <a:xfrm>
            <a:off x="0" y="1108559"/>
            <a:ext cx="7215423" cy="338554"/>
          </a:xfrm>
          <a:prstGeom prst="rect">
            <a:avLst/>
          </a:prstGeom>
          <a:noFill/>
        </p:spPr>
        <p:txBody>
          <a:bodyPr wrap="square">
            <a:spAutoFit/>
          </a:bodyPr>
          <a:lstStyle/>
          <a:p>
            <a:pPr marL="285750" indent="-285750" algn="l">
              <a:buFont typeface="Arial" panose="020B0604020202020204" pitchFamily="34" charset="0"/>
              <a:buChar char="•"/>
            </a:pPr>
            <a:r>
              <a:rPr lang="en-US" sz="1600" dirty="0">
                <a:highlight>
                  <a:srgbClr val="00FFFF"/>
                </a:highlight>
                <a:latin typeface="Times New Roman" panose="02020603050405020304" pitchFamily="18" charset="0"/>
                <a:cs typeface="Times New Roman" panose="02020603050405020304" pitchFamily="18" charset="0"/>
              </a:rPr>
              <a:t>Reference: </a:t>
            </a:r>
            <a:r>
              <a:rPr lang="en-US" sz="1600" dirty="0">
                <a:highlight>
                  <a:srgbClr val="00FFFF"/>
                </a:highlight>
                <a:latin typeface="Times New Roman" panose="02020603050405020304" pitchFamily="18" charset="0"/>
                <a:cs typeface="Times New Roman" panose="02020603050405020304" pitchFamily="18" charset="0"/>
                <a:hlinkClick r:id="rId3"/>
              </a:rPr>
              <a:t>https://www.w3schools.com/python/python_lists_methods.asp</a:t>
            </a:r>
            <a:endParaRPr lang="en-US" sz="1600" dirty="0">
              <a:highlight>
                <a:srgbClr val="00FFFF"/>
              </a:highligh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C3FE189B-3436-E330-59D1-0E8FAE944D3D}"/>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pic>
        <p:nvPicPr>
          <p:cNvPr id="11" name="Picture 10">
            <a:extLst>
              <a:ext uri="{FF2B5EF4-FFF2-40B4-BE49-F238E27FC236}">
                <a16:creationId xmlns:a16="http://schemas.microsoft.com/office/drawing/2014/main" xmlns="" id="{7477B702-1CA8-C3B4-7782-E60469A5C2C2}"/>
              </a:ext>
            </a:extLst>
          </p:cNvPr>
          <p:cNvPicPr>
            <a:picLocks noChangeAspect="1"/>
          </p:cNvPicPr>
          <p:nvPr/>
        </p:nvPicPr>
        <p:blipFill>
          <a:blip r:embed="rId4"/>
          <a:stretch>
            <a:fillRect/>
          </a:stretch>
        </p:blipFill>
        <p:spPr>
          <a:xfrm>
            <a:off x="231568" y="1604681"/>
            <a:ext cx="5934767" cy="4512049"/>
          </a:xfrm>
          <a:prstGeom prst="rect">
            <a:avLst/>
          </a:prstGeom>
        </p:spPr>
      </p:pic>
    </p:spTree>
    <p:extLst>
      <p:ext uri="{BB962C8B-B14F-4D97-AF65-F5344CB8AC3E}">
        <p14:creationId xmlns:p14="http://schemas.microsoft.com/office/powerpoint/2010/main" val="5201043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6CEC77-2F10-B4DB-1985-22ED6B8AE0C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xmlns="" id="{537B48BA-7ECD-2DD7-B3AB-56DDE7AED0F5}"/>
              </a:ext>
            </a:extLst>
          </p:cNvPr>
          <p:cNvPicPr>
            <a:picLocks noChangeAspect="1"/>
          </p:cNvPicPr>
          <p:nvPr/>
        </p:nvPicPr>
        <p:blipFill>
          <a:blip r:embed="rId2"/>
          <a:stretch>
            <a:fillRect/>
          </a:stretch>
        </p:blipFill>
        <p:spPr>
          <a:xfrm>
            <a:off x="541244" y="2591665"/>
            <a:ext cx="3905250" cy="695325"/>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CB76D483-C101-635A-6E5A-CB40B32D4A81}"/>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TUPLE DATA TYPE</a:t>
            </a:r>
          </a:p>
        </p:txBody>
      </p:sp>
      <p:sp>
        <p:nvSpPr>
          <p:cNvPr id="8" name="Rectangle 7">
            <a:extLst>
              <a:ext uri="{FF2B5EF4-FFF2-40B4-BE49-F238E27FC236}">
                <a16:creationId xmlns:a16="http://schemas.microsoft.com/office/drawing/2014/main" xmlns="" id="{CE729E5A-C94E-76FA-62E4-3DD39745C84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666AE5E9-DE08-1469-9773-90ABD37A53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05374EE6-5A66-D3A4-5A8A-CDE737E7A8C8}"/>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DD3CD0E5-17CB-7FF0-5601-009ED68A3FDE}"/>
              </a:ext>
            </a:extLst>
          </p:cNvPr>
          <p:cNvSpPr txBox="1"/>
          <p:nvPr/>
        </p:nvSpPr>
        <p:spPr>
          <a:xfrm>
            <a:off x="0" y="110855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Tuples are used to store multiple items in a single variable. A tuple is a collection which is ordered and </a:t>
            </a:r>
            <a:r>
              <a:rPr lang="en-US" dirty="0">
                <a:highlight>
                  <a:srgbClr val="00FFFF"/>
                </a:highlight>
                <a:latin typeface="Times New Roman" panose="02020603050405020304" pitchFamily="18" charset="0"/>
                <a:cs typeface="Times New Roman" panose="02020603050405020304" pitchFamily="18" charset="0"/>
              </a:rPr>
              <a:t>unchangeable</a:t>
            </a:r>
            <a:r>
              <a:rPr lang="en-US" dirty="0">
                <a:latin typeface="Times New Roman" panose="02020603050405020304" pitchFamily="18" charset="0"/>
                <a:cs typeface="Times New Roman" panose="02020603050405020304" pitchFamily="18" charset="0"/>
              </a:rPr>
              <a:t>. Tuples are written with round brackets.</a:t>
            </a:r>
            <a:endParaRPr lang="aa-ET"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451F4E47-58E9-3374-B8AB-67C1F1FB7EC5}"/>
              </a:ext>
            </a:extLst>
          </p:cNvPr>
          <p:cNvSpPr txBox="1"/>
          <p:nvPr/>
        </p:nvSpPr>
        <p:spPr>
          <a:xfrm>
            <a:off x="1927412" y="2047623"/>
            <a:ext cx="165847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Variable name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xmlns="" id="{B95D0509-F5B1-79A7-CAA5-C9427081E9E9}"/>
              </a:ext>
            </a:extLst>
          </p:cNvPr>
          <p:cNvCxnSpPr>
            <a:cxnSpLocks/>
          </p:cNvCxnSpPr>
          <p:nvPr/>
        </p:nvCxnSpPr>
        <p:spPr>
          <a:xfrm flipH="1">
            <a:off x="1165412" y="2232289"/>
            <a:ext cx="762000" cy="4709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D20D9DE3-8BD2-4A50-C5AB-41DF0462D0AA}"/>
              </a:ext>
            </a:extLst>
          </p:cNvPr>
          <p:cNvSpPr txBox="1"/>
          <p:nvPr/>
        </p:nvSpPr>
        <p:spPr>
          <a:xfrm>
            <a:off x="2026024" y="3705464"/>
            <a:ext cx="1658470" cy="369332"/>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items</a:t>
            </a:r>
          </a:p>
        </p:txBody>
      </p:sp>
      <p:cxnSp>
        <p:nvCxnSpPr>
          <p:cNvPr id="10" name="Straight Arrow Connector 9">
            <a:extLst>
              <a:ext uri="{FF2B5EF4-FFF2-40B4-BE49-F238E27FC236}">
                <a16:creationId xmlns:a16="http://schemas.microsoft.com/office/drawing/2014/main" xmlns="" id="{70E97B19-4F5D-F53E-2730-9FB65BBDA395}"/>
              </a:ext>
            </a:extLst>
          </p:cNvPr>
          <p:cNvCxnSpPr>
            <a:cxnSpLocks/>
          </p:cNvCxnSpPr>
          <p:nvPr/>
        </p:nvCxnSpPr>
        <p:spPr>
          <a:xfrm flipV="1">
            <a:off x="2377096" y="3008917"/>
            <a:ext cx="0" cy="6284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444B3F97-25B8-3A91-2958-3CECBCBA3A83}"/>
              </a:ext>
            </a:extLst>
          </p:cNvPr>
          <p:cNvSpPr txBox="1"/>
          <p:nvPr/>
        </p:nvSpPr>
        <p:spPr>
          <a:xfrm>
            <a:off x="0" y="4357376"/>
            <a:ext cx="7215423" cy="1200329"/>
          </a:xfrm>
          <a:prstGeom prst="rect">
            <a:avLst/>
          </a:prstGeom>
          <a:noFill/>
        </p:spPr>
        <p:txBody>
          <a:bodyPr wrap="square">
            <a:spAutoFit/>
          </a:bodyPr>
          <a:lstStyle/>
          <a:p>
            <a:pPr marL="285750" indent="-285750" algn="l">
              <a:buFont typeface="Arial" panose="020B0604020202020204" pitchFamily="34" charset="0"/>
              <a:buChar char="•"/>
            </a:pPr>
            <a:r>
              <a:rPr lang="en-US" dirty="0">
                <a:highlight>
                  <a:srgbClr val="00FFFF"/>
                </a:highlight>
                <a:latin typeface="Times New Roman" panose="02020603050405020304" pitchFamily="18" charset="0"/>
                <a:cs typeface="Times New Roman" panose="02020603050405020304" pitchFamily="18" charset="0"/>
              </a:rPr>
              <a:t>How would you add “grapes” to the tuple?</a:t>
            </a:r>
          </a:p>
          <a:p>
            <a:pPr marL="285750" indent="-285750" algn="l">
              <a:buFont typeface="Arial" panose="020B0604020202020204" pitchFamily="34" charset="0"/>
              <a:buChar char="•"/>
            </a:pPr>
            <a:endParaRPr lang="en-US" dirty="0">
              <a:highlight>
                <a:srgbClr val="00FFFF"/>
              </a:highligh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highlight>
                  <a:srgbClr val="00FFFF"/>
                </a:highlight>
                <a:latin typeface="Times New Roman" panose="02020603050405020304" pitchFamily="18" charset="0"/>
                <a:cs typeface="Times New Roman" panose="02020603050405020304" pitchFamily="18" charset="0"/>
              </a:rPr>
              <a:t>Remember we can convert a tuple to a list, add grapes, and convert it back to tuple!</a:t>
            </a:r>
            <a:endParaRPr lang="aa-ET" dirty="0">
              <a:highlight>
                <a:srgbClr val="00FFFF"/>
              </a:highlight>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xmlns="" id="{E87600A2-D6AB-FAD9-2501-137FC11820DF}"/>
              </a:ext>
            </a:extLst>
          </p:cNvPr>
          <p:cNvSpPr txBox="1"/>
          <p:nvPr/>
        </p:nvSpPr>
        <p:spPr>
          <a:xfrm>
            <a:off x="200864" y="5753952"/>
            <a:ext cx="7087441" cy="923330"/>
          </a:xfrm>
          <a:prstGeom prst="rect">
            <a:avLst/>
          </a:prstGeom>
          <a:noFill/>
        </p:spPr>
        <p:txBody>
          <a:bodyPr wrap="square">
            <a:spAutoFit/>
          </a:bodyPr>
          <a:lstStyle/>
          <a:p>
            <a:r>
              <a:rPr lang="en-US" dirty="0"/>
              <a:t>Tuple Methods Reference: </a:t>
            </a:r>
            <a:r>
              <a:rPr lang="aa-ET" dirty="0">
                <a:hlinkClick r:id="rId4"/>
              </a:rPr>
              <a:t>https://www.w3schools.com/python/python_tuples_methods.asp</a:t>
            </a:r>
            <a:endParaRPr lang="en-US" dirty="0"/>
          </a:p>
          <a:p>
            <a:endParaRPr lang="en-US" dirty="0"/>
          </a:p>
        </p:txBody>
      </p:sp>
    </p:spTree>
    <p:extLst>
      <p:ext uri="{BB962C8B-B14F-4D97-AF65-F5344CB8AC3E}">
        <p14:creationId xmlns:p14="http://schemas.microsoft.com/office/powerpoint/2010/main" val="34947911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F6B57C-2FA1-2537-CF58-E30E229AB35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C7F1716-DBF3-69A1-4057-B337981AFDE7}"/>
              </a:ext>
            </a:extLst>
          </p:cNvPr>
          <p:cNvPicPr>
            <a:picLocks noChangeAspect="1"/>
          </p:cNvPicPr>
          <p:nvPr/>
        </p:nvPicPr>
        <p:blipFill>
          <a:blip r:embed="rId2"/>
          <a:stretch>
            <a:fillRect/>
          </a:stretch>
        </p:blipFill>
        <p:spPr>
          <a:xfrm>
            <a:off x="634533" y="2617355"/>
            <a:ext cx="3876675" cy="695325"/>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6C8BD129-7C36-483F-8E9F-A4D0C3885589}"/>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SET DATA TYPE</a:t>
            </a:r>
          </a:p>
        </p:txBody>
      </p:sp>
      <p:sp>
        <p:nvSpPr>
          <p:cNvPr id="8" name="Rectangle 7">
            <a:extLst>
              <a:ext uri="{FF2B5EF4-FFF2-40B4-BE49-F238E27FC236}">
                <a16:creationId xmlns:a16="http://schemas.microsoft.com/office/drawing/2014/main" xmlns="" id="{18F23CBD-7933-0CD2-B173-FA47B14D2C1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076613C-803D-F99A-25BB-167774904D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DB84923C-AF7C-5534-613C-90339D55F639}"/>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F9971296-4465-7E44-6261-17EE5E6F0D7B}"/>
              </a:ext>
            </a:extLst>
          </p:cNvPr>
          <p:cNvSpPr txBox="1"/>
          <p:nvPr/>
        </p:nvSpPr>
        <p:spPr>
          <a:xfrm>
            <a:off x="0" y="110855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Sets are </a:t>
            </a:r>
            <a:r>
              <a:rPr lang="en-US" dirty="0">
                <a:highlight>
                  <a:srgbClr val="00FFFF"/>
                </a:highlight>
                <a:latin typeface="Times New Roman" panose="02020603050405020304" pitchFamily="18" charset="0"/>
                <a:cs typeface="Times New Roman" panose="02020603050405020304" pitchFamily="18" charset="0"/>
              </a:rPr>
              <a:t>unindexed</a:t>
            </a:r>
            <a:r>
              <a:rPr lang="en-US" dirty="0">
                <a:latin typeface="Times New Roman" panose="02020603050405020304" pitchFamily="18" charset="0"/>
                <a:cs typeface="Times New Roman" panose="02020603050405020304" pitchFamily="18" charset="0"/>
              </a:rPr>
              <a:t> data types used to store multiple items in a single variable. Sets remove duplicates from list of items</a:t>
            </a:r>
            <a:endParaRPr lang="aa-ET"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0B642041-4D9A-3E23-A231-FB2FBA040E3A}"/>
              </a:ext>
            </a:extLst>
          </p:cNvPr>
          <p:cNvSpPr txBox="1"/>
          <p:nvPr/>
        </p:nvSpPr>
        <p:spPr>
          <a:xfrm>
            <a:off x="1927412" y="2047623"/>
            <a:ext cx="165847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Variable name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xmlns="" id="{8241EEE4-A1DA-8E81-BBB0-61B2341E748F}"/>
              </a:ext>
            </a:extLst>
          </p:cNvPr>
          <p:cNvCxnSpPr>
            <a:cxnSpLocks/>
          </p:cNvCxnSpPr>
          <p:nvPr/>
        </p:nvCxnSpPr>
        <p:spPr>
          <a:xfrm flipH="1">
            <a:off x="1165412" y="2232289"/>
            <a:ext cx="762000" cy="4709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445DF827-3A7C-097E-113E-0423F9754443}"/>
              </a:ext>
            </a:extLst>
          </p:cNvPr>
          <p:cNvSpPr txBox="1"/>
          <p:nvPr/>
        </p:nvSpPr>
        <p:spPr>
          <a:xfrm>
            <a:off x="2026024" y="3705464"/>
            <a:ext cx="1658470" cy="369332"/>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items</a:t>
            </a:r>
          </a:p>
        </p:txBody>
      </p:sp>
      <p:cxnSp>
        <p:nvCxnSpPr>
          <p:cNvPr id="10" name="Straight Arrow Connector 9">
            <a:extLst>
              <a:ext uri="{FF2B5EF4-FFF2-40B4-BE49-F238E27FC236}">
                <a16:creationId xmlns:a16="http://schemas.microsoft.com/office/drawing/2014/main" xmlns="" id="{19E5D543-6054-EE47-167F-8C5C0DD4D5A4}"/>
              </a:ext>
            </a:extLst>
          </p:cNvPr>
          <p:cNvCxnSpPr>
            <a:cxnSpLocks/>
          </p:cNvCxnSpPr>
          <p:nvPr/>
        </p:nvCxnSpPr>
        <p:spPr>
          <a:xfrm flipV="1">
            <a:off x="2377096" y="3008917"/>
            <a:ext cx="0" cy="6284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xmlns="" id="{920E8DC9-45F5-506C-5AE2-B806D545EC58}"/>
              </a:ext>
            </a:extLst>
          </p:cNvPr>
          <p:cNvPicPr>
            <a:picLocks noChangeAspect="1"/>
          </p:cNvPicPr>
          <p:nvPr/>
        </p:nvPicPr>
        <p:blipFill>
          <a:blip r:embed="rId4"/>
          <a:stretch>
            <a:fillRect/>
          </a:stretch>
        </p:blipFill>
        <p:spPr>
          <a:xfrm>
            <a:off x="600635" y="4395528"/>
            <a:ext cx="6717226" cy="923330"/>
          </a:xfrm>
          <a:prstGeom prst="rect">
            <a:avLst/>
          </a:prstGeom>
          <a:ln>
            <a:noFill/>
          </a:ln>
          <a:effectLst>
            <a:outerShdw blurRad="292100" dist="139700" dir="2700000" algn="tl" rotWithShape="0">
              <a:srgbClr val="333333">
                <a:alpha val="65000"/>
              </a:srgbClr>
            </a:outerShdw>
          </a:effectLst>
        </p:spPr>
      </p:pic>
      <p:cxnSp>
        <p:nvCxnSpPr>
          <p:cNvPr id="18" name="Straight Arrow Connector 17">
            <a:extLst>
              <a:ext uri="{FF2B5EF4-FFF2-40B4-BE49-F238E27FC236}">
                <a16:creationId xmlns:a16="http://schemas.microsoft.com/office/drawing/2014/main" xmlns="" id="{91A78DD4-9312-C79E-8B00-215A1569E9B0}"/>
              </a:ext>
            </a:extLst>
          </p:cNvPr>
          <p:cNvCxnSpPr>
            <a:cxnSpLocks/>
          </p:cNvCxnSpPr>
          <p:nvPr/>
        </p:nvCxnSpPr>
        <p:spPr>
          <a:xfrm flipH="1" flipV="1">
            <a:off x="3022555" y="4576063"/>
            <a:ext cx="661939" cy="11879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BAC49E50-85AE-A74E-79EE-8194E98C7764}"/>
              </a:ext>
            </a:extLst>
          </p:cNvPr>
          <p:cNvCxnSpPr>
            <a:cxnSpLocks/>
          </p:cNvCxnSpPr>
          <p:nvPr/>
        </p:nvCxnSpPr>
        <p:spPr>
          <a:xfrm flipV="1">
            <a:off x="3757239" y="4590637"/>
            <a:ext cx="0" cy="11733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64D2BC76-520D-E47D-6E34-945BA2696DC9}"/>
              </a:ext>
            </a:extLst>
          </p:cNvPr>
          <p:cNvSpPr txBox="1"/>
          <p:nvPr/>
        </p:nvSpPr>
        <p:spPr>
          <a:xfrm>
            <a:off x="2928004" y="5928895"/>
            <a:ext cx="2047408" cy="646331"/>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It removed all duplicated values</a:t>
            </a:r>
          </a:p>
        </p:txBody>
      </p:sp>
      <p:cxnSp>
        <p:nvCxnSpPr>
          <p:cNvPr id="22" name="Straight Arrow Connector 21">
            <a:extLst>
              <a:ext uri="{FF2B5EF4-FFF2-40B4-BE49-F238E27FC236}">
                <a16:creationId xmlns:a16="http://schemas.microsoft.com/office/drawing/2014/main" xmlns="" id="{3B57F753-2D3F-4C8D-C6C2-824D2E809981}"/>
              </a:ext>
            </a:extLst>
          </p:cNvPr>
          <p:cNvCxnSpPr>
            <a:cxnSpLocks/>
          </p:cNvCxnSpPr>
          <p:nvPr/>
        </p:nvCxnSpPr>
        <p:spPr>
          <a:xfrm flipV="1">
            <a:off x="3863788" y="4732169"/>
            <a:ext cx="1865686" cy="10318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64154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ECC48B8-D7AF-770C-5E8F-BD5EA6393E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4E0F8EDF-7310-238E-202E-E33BAD660A3A}"/>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MANIPULATING SETS</a:t>
            </a:r>
          </a:p>
        </p:txBody>
      </p:sp>
      <p:sp>
        <p:nvSpPr>
          <p:cNvPr id="8" name="Rectangle 7">
            <a:extLst>
              <a:ext uri="{FF2B5EF4-FFF2-40B4-BE49-F238E27FC236}">
                <a16:creationId xmlns:a16="http://schemas.microsoft.com/office/drawing/2014/main" xmlns="" id="{44E8C801-7493-8669-3EB2-2FC1E72BEB7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96EA7285-2587-5D05-F1B5-EBBA587B37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7E1394CD-2CA9-3E92-61A8-CB263BCC215A}"/>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EA7E9790-7002-A048-583B-BA154E18217A}"/>
              </a:ext>
            </a:extLst>
          </p:cNvPr>
          <p:cNvSpPr txBox="1"/>
          <p:nvPr/>
        </p:nvSpPr>
        <p:spPr>
          <a:xfrm>
            <a:off x="0" y="110855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a:t>
            </a:r>
            <a:endParaRPr lang="aa-ET"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7357BB53-EB50-4127-536A-CE2EC00B29E9}"/>
              </a:ext>
            </a:extLst>
          </p:cNvPr>
          <p:cNvPicPr>
            <a:picLocks noChangeAspect="1"/>
          </p:cNvPicPr>
          <p:nvPr/>
        </p:nvPicPr>
        <p:blipFill>
          <a:blip r:embed="rId3"/>
          <a:stretch>
            <a:fillRect/>
          </a:stretch>
        </p:blipFill>
        <p:spPr>
          <a:xfrm>
            <a:off x="150952" y="1658426"/>
            <a:ext cx="7514478" cy="980508"/>
          </a:xfrm>
          <a:prstGeom prst="rect">
            <a:avLst/>
          </a:prstGeom>
          <a:ln>
            <a:noFill/>
          </a:ln>
          <a:effectLst>
            <a:outerShdw blurRad="292100" dist="139700" dir="2700000" algn="tl" rotWithShape="0">
              <a:srgbClr val="333333">
                <a:alpha val="65000"/>
              </a:srgbClr>
            </a:outerShdw>
          </a:effectLst>
        </p:spPr>
      </p:pic>
      <p:cxnSp>
        <p:nvCxnSpPr>
          <p:cNvPr id="11" name="Straight Arrow Connector 10">
            <a:extLst>
              <a:ext uri="{FF2B5EF4-FFF2-40B4-BE49-F238E27FC236}">
                <a16:creationId xmlns:a16="http://schemas.microsoft.com/office/drawing/2014/main" xmlns="" id="{5E1A1F0D-1382-C673-12EF-7A32107F7C2F}"/>
              </a:ext>
            </a:extLst>
          </p:cNvPr>
          <p:cNvCxnSpPr>
            <a:cxnSpLocks/>
          </p:cNvCxnSpPr>
          <p:nvPr/>
        </p:nvCxnSpPr>
        <p:spPr>
          <a:xfrm flipH="1" flipV="1">
            <a:off x="992294" y="2124727"/>
            <a:ext cx="1024765" cy="987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EB542809-02F9-DC0A-8F5E-757C5B8BF322}"/>
              </a:ext>
            </a:extLst>
          </p:cNvPr>
          <p:cNvSpPr txBox="1"/>
          <p:nvPr/>
        </p:nvSpPr>
        <p:spPr>
          <a:xfrm>
            <a:off x="1998851" y="2877699"/>
            <a:ext cx="2047408" cy="369332"/>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Use the add method</a:t>
            </a:r>
          </a:p>
        </p:txBody>
      </p:sp>
      <p:sp>
        <p:nvSpPr>
          <p:cNvPr id="19" name="TextBox 18">
            <a:extLst>
              <a:ext uri="{FF2B5EF4-FFF2-40B4-BE49-F238E27FC236}">
                <a16:creationId xmlns:a16="http://schemas.microsoft.com/office/drawing/2014/main" xmlns="" id="{E12C4135-FFE8-620C-2FB7-AD05ADFF6B6F}"/>
              </a:ext>
            </a:extLst>
          </p:cNvPr>
          <p:cNvSpPr txBox="1"/>
          <p:nvPr/>
        </p:nvSpPr>
        <p:spPr>
          <a:xfrm>
            <a:off x="0" y="3404946"/>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UPDATE</a:t>
            </a:r>
            <a:endParaRPr lang="aa-ET"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xmlns="" id="{45BBF0C7-A430-EEE2-6288-19AAC244AC77}"/>
              </a:ext>
            </a:extLst>
          </p:cNvPr>
          <p:cNvPicPr>
            <a:picLocks noChangeAspect="1"/>
          </p:cNvPicPr>
          <p:nvPr/>
        </p:nvPicPr>
        <p:blipFill>
          <a:blip r:embed="rId4"/>
          <a:stretch>
            <a:fillRect/>
          </a:stretch>
        </p:blipFill>
        <p:spPr>
          <a:xfrm>
            <a:off x="263432" y="4082083"/>
            <a:ext cx="4829175" cy="1619250"/>
          </a:xfrm>
          <a:prstGeom prst="rect">
            <a:avLst/>
          </a:prstGeom>
          <a:ln>
            <a:noFill/>
          </a:ln>
          <a:effectLst>
            <a:outerShdw blurRad="292100" dist="139700" dir="2700000" algn="tl" rotWithShape="0">
              <a:srgbClr val="333333">
                <a:alpha val="65000"/>
              </a:srgbClr>
            </a:outerShdw>
          </a:effectLst>
        </p:spPr>
      </p:pic>
      <p:cxnSp>
        <p:nvCxnSpPr>
          <p:cNvPr id="25" name="Straight Arrow Connector 24">
            <a:extLst>
              <a:ext uri="{FF2B5EF4-FFF2-40B4-BE49-F238E27FC236}">
                <a16:creationId xmlns:a16="http://schemas.microsoft.com/office/drawing/2014/main" xmlns="" id="{70888E70-9D91-9141-57DF-12CA51D51B8C}"/>
              </a:ext>
            </a:extLst>
          </p:cNvPr>
          <p:cNvCxnSpPr>
            <a:cxnSpLocks/>
          </p:cNvCxnSpPr>
          <p:nvPr/>
        </p:nvCxnSpPr>
        <p:spPr>
          <a:xfrm flipH="1">
            <a:off x="3891955" y="3932193"/>
            <a:ext cx="1630304" cy="34715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AFA33E21-8D48-E132-49CC-2C2F1803050B}"/>
              </a:ext>
            </a:extLst>
          </p:cNvPr>
          <p:cNvCxnSpPr>
            <a:cxnSpLocks/>
          </p:cNvCxnSpPr>
          <p:nvPr/>
        </p:nvCxnSpPr>
        <p:spPr>
          <a:xfrm flipH="1">
            <a:off x="4201971" y="4546993"/>
            <a:ext cx="132028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741F0F79-C02C-9E75-644E-246FA7733904}"/>
              </a:ext>
            </a:extLst>
          </p:cNvPr>
          <p:cNvCxnSpPr>
            <a:cxnSpLocks/>
          </p:cNvCxnSpPr>
          <p:nvPr/>
        </p:nvCxnSpPr>
        <p:spPr>
          <a:xfrm flipH="1" flipV="1">
            <a:off x="1437093" y="5152828"/>
            <a:ext cx="3270014" cy="11773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xmlns="" id="{09651D35-135C-EF02-44D1-6DE293AA1A8E}"/>
              </a:ext>
            </a:extLst>
          </p:cNvPr>
          <p:cNvSpPr txBox="1"/>
          <p:nvPr/>
        </p:nvSpPr>
        <p:spPr>
          <a:xfrm>
            <a:off x="5318967" y="3747527"/>
            <a:ext cx="2047408" cy="369332"/>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Set 1</a:t>
            </a:r>
          </a:p>
        </p:txBody>
      </p:sp>
      <p:sp>
        <p:nvSpPr>
          <p:cNvPr id="32" name="TextBox 31">
            <a:extLst>
              <a:ext uri="{FF2B5EF4-FFF2-40B4-BE49-F238E27FC236}">
                <a16:creationId xmlns:a16="http://schemas.microsoft.com/office/drawing/2014/main" xmlns="" id="{7E42C54F-4268-D986-AFB3-0BE189A533F1}"/>
              </a:ext>
            </a:extLst>
          </p:cNvPr>
          <p:cNvSpPr txBox="1"/>
          <p:nvPr/>
        </p:nvSpPr>
        <p:spPr>
          <a:xfrm>
            <a:off x="5503722" y="4355624"/>
            <a:ext cx="2047408" cy="369332"/>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Set 2</a:t>
            </a:r>
          </a:p>
        </p:txBody>
      </p:sp>
      <p:sp>
        <p:nvSpPr>
          <p:cNvPr id="33" name="TextBox 32">
            <a:extLst>
              <a:ext uri="{FF2B5EF4-FFF2-40B4-BE49-F238E27FC236}">
                <a16:creationId xmlns:a16="http://schemas.microsoft.com/office/drawing/2014/main" xmlns="" id="{3E63A789-A043-CC81-FCF9-008016C2854D}"/>
              </a:ext>
            </a:extLst>
          </p:cNvPr>
          <p:cNvSpPr txBox="1"/>
          <p:nvPr/>
        </p:nvSpPr>
        <p:spPr>
          <a:xfrm>
            <a:off x="4707106" y="6136963"/>
            <a:ext cx="2807371" cy="646331"/>
          </a:xfrm>
          <a:prstGeom prst="rect">
            <a:avLst/>
          </a:prstGeom>
          <a:noFill/>
        </p:spPr>
        <p:txBody>
          <a:bodyPr wrap="square">
            <a:spAutoFit/>
          </a:bodyPr>
          <a:lstStyle/>
          <a:p>
            <a:pPr algn="l"/>
            <a:r>
              <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rPr>
              <a:t>Call the update method to merge items into a single set</a:t>
            </a:r>
          </a:p>
        </p:txBody>
      </p:sp>
    </p:spTree>
    <p:extLst>
      <p:ext uri="{BB962C8B-B14F-4D97-AF65-F5344CB8AC3E}">
        <p14:creationId xmlns:p14="http://schemas.microsoft.com/office/powerpoint/2010/main" val="22685051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811747-1191-BDF2-A9D4-EA015F486A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6715AD8D-E115-2B5B-9506-22A554CD5B6C}"/>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SET METHODS</a:t>
            </a:r>
          </a:p>
        </p:txBody>
      </p:sp>
      <p:sp>
        <p:nvSpPr>
          <p:cNvPr id="8" name="Rectangle 7">
            <a:extLst>
              <a:ext uri="{FF2B5EF4-FFF2-40B4-BE49-F238E27FC236}">
                <a16:creationId xmlns:a16="http://schemas.microsoft.com/office/drawing/2014/main" xmlns="" id="{FA984519-9872-C107-FB73-4A07AD31434A}"/>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6661CB95-0EE3-C535-95D7-C7CD65515D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66C9F3F5-D337-274B-045A-CA334E1875B3}"/>
              </a:ext>
            </a:extLst>
          </p:cNvPr>
          <p:cNvSpPr txBox="1"/>
          <p:nvPr/>
        </p:nvSpPr>
        <p:spPr>
          <a:xfrm>
            <a:off x="15951" y="6457979"/>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22460060-9A7E-2755-684B-2494D2B171B5}"/>
              </a:ext>
            </a:extLst>
          </p:cNvPr>
          <p:cNvSpPr txBox="1"/>
          <p:nvPr/>
        </p:nvSpPr>
        <p:spPr>
          <a:xfrm>
            <a:off x="0" y="99941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dirty="0">
                <a:highlight>
                  <a:srgbClr val="00FFFF"/>
                </a:highlight>
                <a:latin typeface="Times New Roman" panose="02020603050405020304" pitchFamily="18" charset="0"/>
                <a:cs typeface="Times New Roman" panose="02020603050405020304" pitchFamily="18" charset="0"/>
              </a:rPr>
              <a:t>Reference: </a:t>
            </a:r>
            <a:r>
              <a:rPr lang="en-US" dirty="0">
                <a:highlight>
                  <a:srgbClr val="00FFFF"/>
                </a:highlight>
                <a:latin typeface="Times New Roman" panose="02020603050405020304" pitchFamily="18" charset="0"/>
                <a:cs typeface="Times New Roman" panose="02020603050405020304" pitchFamily="18" charset="0"/>
                <a:hlinkClick r:id="rId3"/>
              </a:rPr>
              <a:t>https://www.w3schools.com/python/python_sets_methods.asp</a:t>
            </a:r>
            <a:endParaRPr lang="en-US" dirty="0">
              <a:highlight>
                <a:srgbClr val="00FFFF"/>
              </a:highligh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aa-ET"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E1614AE9-3292-B17A-DAC9-54F457D2603F}"/>
              </a:ext>
            </a:extLst>
          </p:cNvPr>
          <p:cNvPicPr>
            <a:picLocks noChangeAspect="1"/>
          </p:cNvPicPr>
          <p:nvPr/>
        </p:nvPicPr>
        <p:blipFill rotWithShape="1">
          <a:blip r:embed="rId4"/>
          <a:srcRect t="15"/>
          <a:stretch/>
        </p:blipFill>
        <p:spPr>
          <a:xfrm>
            <a:off x="343272" y="1466912"/>
            <a:ext cx="6827933" cy="4863269"/>
          </a:xfrm>
          <a:prstGeom prst="rect">
            <a:avLst/>
          </a:prstGeom>
        </p:spPr>
      </p:pic>
    </p:spTree>
    <p:extLst>
      <p:ext uri="{BB962C8B-B14F-4D97-AF65-F5344CB8AC3E}">
        <p14:creationId xmlns:p14="http://schemas.microsoft.com/office/powerpoint/2010/main" val="32557882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B688844-AC76-EB9C-A67F-A95CF942E30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xmlns="" id="{6A7EEACE-A77F-0003-C9D6-0158332604BA}"/>
              </a:ext>
            </a:extLst>
          </p:cNvPr>
          <p:cNvPicPr>
            <a:picLocks noChangeAspect="1"/>
          </p:cNvPicPr>
          <p:nvPr/>
        </p:nvPicPr>
        <p:blipFill>
          <a:blip r:embed="rId2"/>
          <a:stretch>
            <a:fillRect/>
          </a:stretch>
        </p:blipFill>
        <p:spPr>
          <a:xfrm>
            <a:off x="372876" y="2038301"/>
            <a:ext cx="3629025" cy="1600200"/>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82452AA3-7D56-B928-3404-E19F6738622B}"/>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DICTIONARY DATA TYPE</a:t>
            </a:r>
          </a:p>
        </p:txBody>
      </p:sp>
      <p:sp>
        <p:nvSpPr>
          <p:cNvPr id="8" name="Rectangle 7">
            <a:extLst>
              <a:ext uri="{FF2B5EF4-FFF2-40B4-BE49-F238E27FC236}">
                <a16:creationId xmlns:a16="http://schemas.microsoft.com/office/drawing/2014/main" xmlns="" id="{8B1531C5-CD67-14DF-DE6F-4F24F99BDD76}"/>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B390315-DBD2-3A3B-912E-1D425C3E80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61262B65-A060-B75F-4A17-2EBCE01E6E10}"/>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9414D2A9-85D6-9212-306E-790A3A51B00A}"/>
              </a:ext>
            </a:extLst>
          </p:cNvPr>
          <p:cNvSpPr txBox="1"/>
          <p:nvPr/>
        </p:nvSpPr>
        <p:spPr>
          <a:xfrm>
            <a:off x="0" y="110855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Dictionaries are used to store data values in </a:t>
            </a:r>
            <a:r>
              <a:rPr lang="en-US" dirty="0" err="1">
                <a:latin typeface="Times New Roman" panose="02020603050405020304" pitchFamily="18" charset="0"/>
                <a:cs typeface="Times New Roman" panose="02020603050405020304" pitchFamily="18" charset="0"/>
              </a:rPr>
              <a:t>key:value</a:t>
            </a:r>
            <a:r>
              <a:rPr lang="en-US" dirty="0">
                <a:latin typeface="Times New Roman" panose="02020603050405020304" pitchFamily="18" charset="0"/>
                <a:cs typeface="Times New Roman" panose="02020603050405020304" pitchFamily="18" charset="0"/>
              </a:rPr>
              <a:t> pairs. Dictionary items are ordered, changeable, and do not allow duplicates. </a:t>
            </a:r>
            <a:endParaRPr lang="aa-ET"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D116C5A0-D66F-CE49-F7B9-F684058E8146}"/>
              </a:ext>
            </a:extLst>
          </p:cNvPr>
          <p:cNvSpPr txBox="1"/>
          <p:nvPr/>
        </p:nvSpPr>
        <p:spPr>
          <a:xfrm>
            <a:off x="1891553" y="3906934"/>
            <a:ext cx="165847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Dictionary keys</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xmlns="" id="{3C2A6273-08EF-65F7-A745-76FEBC3C42EC}"/>
              </a:ext>
            </a:extLst>
          </p:cNvPr>
          <p:cNvCxnSpPr>
            <a:cxnSpLocks/>
          </p:cNvCxnSpPr>
          <p:nvPr/>
        </p:nvCxnSpPr>
        <p:spPr>
          <a:xfrm flipH="1" flipV="1">
            <a:off x="992294" y="3056611"/>
            <a:ext cx="899259" cy="10349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3C18DC51-6316-8606-2D67-9241AB7975DE}"/>
              </a:ext>
            </a:extLst>
          </p:cNvPr>
          <p:cNvCxnSpPr>
            <a:cxnSpLocks/>
            <a:stCxn id="14" idx="1"/>
          </p:cNvCxnSpPr>
          <p:nvPr/>
        </p:nvCxnSpPr>
        <p:spPr>
          <a:xfrm flipH="1" flipV="1">
            <a:off x="1090906" y="2792529"/>
            <a:ext cx="800647" cy="12990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E1C81AE8-3D18-F95F-3F72-A9DB3C40B271}"/>
              </a:ext>
            </a:extLst>
          </p:cNvPr>
          <p:cNvCxnSpPr>
            <a:cxnSpLocks/>
          </p:cNvCxnSpPr>
          <p:nvPr/>
        </p:nvCxnSpPr>
        <p:spPr>
          <a:xfrm flipH="1">
            <a:off x="2439849" y="2555072"/>
            <a:ext cx="2454880" cy="20031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249AA4E3-3F9D-FE87-A307-A7957ADB9884}"/>
              </a:ext>
            </a:extLst>
          </p:cNvPr>
          <p:cNvCxnSpPr>
            <a:cxnSpLocks/>
          </p:cNvCxnSpPr>
          <p:nvPr/>
        </p:nvCxnSpPr>
        <p:spPr>
          <a:xfrm flipH="1">
            <a:off x="1990165" y="2486957"/>
            <a:ext cx="290456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xmlns="" id="{5CC0DCBE-B172-C4F2-BBFC-AE7FD9DB8E7A}"/>
              </a:ext>
            </a:extLst>
          </p:cNvPr>
          <p:cNvSpPr txBox="1"/>
          <p:nvPr/>
        </p:nvSpPr>
        <p:spPr>
          <a:xfrm>
            <a:off x="4903274" y="2302291"/>
            <a:ext cx="165847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Values</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xmlns="" id="{C1758E44-6D0E-8872-603D-77213125B792}"/>
              </a:ext>
            </a:extLst>
          </p:cNvPr>
          <p:cNvSpPr txBox="1"/>
          <p:nvPr/>
        </p:nvSpPr>
        <p:spPr>
          <a:xfrm>
            <a:off x="-26360" y="4696938"/>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can easily access the car brand as: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err="1">
                <a:highlight>
                  <a:srgbClr val="00FFFF"/>
                </a:highlight>
                <a:latin typeface="Times New Roman" panose="02020603050405020304" pitchFamily="18" charset="0"/>
                <a:cs typeface="Times New Roman" panose="02020603050405020304" pitchFamily="18" charset="0"/>
              </a:rPr>
              <a:t>thisdict</a:t>
            </a:r>
            <a:r>
              <a:rPr lang="en-US" dirty="0">
                <a:highlight>
                  <a:srgbClr val="00FFFF"/>
                </a:highlight>
                <a:latin typeface="Times New Roman" panose="02020603050405020304" pitchFamily="18" charset="0"/>
                <a:cs typeface="Times New Roman" panose="02020603050405020304" pitchFamily="18" charset="0"/>
              </a:rPr>
              <a:t>[“brand”]</a:t>
            </a:r>
            <a:endParaRPr lang="aa-ET" dirty="0">
              <a:highlight>
                <a:srgbClr val="00FFFF"/>
              </a:highlight>
              <a:latin typeface="Times New Roman" panose="02020603050405020304" pitchFamily="18" charset="0"/>
              <a:cs typeface="Times New Roman" panose="02020603050405020304" pitchFamily="18" charset="0"/>
            </a:endParaRPr>
          </a:p>
        </p:txBody>
      </p:sp>
      <p:cxnSp>
        <p:nvCxnSpPr>
          <p:cNvPr id="30" name="Straight Arrow Connector 29">
            <a:extLst>
              <a:ext uri="{FF2B5EF4-FFF2-40B4-BE49-F238E27FC236}">
                <a16:creationId xmlns:a16="http://schemas.microsoft.com/office/drawing/2014/main" xmlns="" id="{9C67B1C8-2498-4F7A-32B6-82980BF26BD9}"/>
              </a:ext>
            </a:extLst>
          </p:cNvPr>
          <p:cNvCxnSpPr>
            <a:cxnSpLocks/>
          </p:cNvCxnSpPr>
          <p:nvPr/>
        </p:nvCxnSpPr>
        <p:spPr>
          <a:xfrm flipH="1" flipV="1">
            <a:off x="1382143" y="2820701"/>
            <a:ext cx="3960822" cy="8757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18FB0066-AC20-6C1B-FFFE-F734390FDAD7}"/>
              </a:ext>
            </a:extLst>
          </p:cNvPr>
          <p:cNvSpPr txBox="1"/>
          <p:nvPr/>
        </p:nvSpPr>
        <p:spPr>
          <a:xfrm>
            <a:off x="5266765" y="3499271"/>
            <a:ext cx="165847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Use colon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xmlns="" id="{B9B42591-EE0F-E1C6-D12F-F40AA450671A}"/>
              </a:ext>
            </a:extLst>
          </p:cNvPr>
          <p:cNvPicPr>
            <a:picLocks noChangeAspect="1"/>
          </p:cNvPicPr>
          <p:nvPr/>
        </p:nvPicPr>
        <p:blipFill>
          <a:blip r:embed="rId4"/>
          <a:stretch>
            <a:fillRect/>
          </a:stretch>
        </p:blipFill>
        <p:spPr>
          <a:xfrm>
            <a:off x="4376565" y="4758017"/>
            <a:ext cx="3288865" cy="17099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199258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E3F455-EE3E-0327-7E29-777799851F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1B706925-433A-E262-1801-FC4FE07A2E4D}"/>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DICTIONARY METHODS</a:t>
            </a:r>
          </a:p>
        </p:txBody>
      </p:sp>
      <p:sp>
        <p:nvSpPr>
          <p:cNvPr id="3" name="TextBox 2">
            <a:extLst>
              <a:ext uri="{FF2B5EF4-FFF2-40B4-BE49-F238E27FC236}">
                <a16:creationId xmlns:a16="http://schemas.microsoft.com/office/drawing/2014/main" xmlns="" id="{B3C7C341-57EB-E53A-FC56-2A7287F09CFA}"/>
              </a:ext>
            </a:extLst>
          </p:cNvPr>
          <p:cNvSpPr txBox="1"/>
          <p:nvPr/>
        </p:nvSpPr>
        <p:spPr>
          <a:xfrm>
            <a:off x="0" y="1108559"/>
            <a:ext cx="10336306" cy="646331"/>
          </a:xfrm>
          <a:prstGeom prst="rect">
            <a:avLst/>
          </a:prstGeom>
          <a:noFill/>
        </p:spPr>
        <p:txBody>
          <a:bodyPr wrap="square">
            <a:spAutoFit/>
          </a:bodyPr>
          <a:lstStyle/>
          <a:p>
            <a:pPr algn="l"/>
            <a:r>
              <a:rPr lang="en-US" dirty="0">
                <a:latin typeface="Times New Roman" panose="02020603050405020304" pitchFamily="18" charset="0"/>
                <a:cs typeface="Times New Roman" panose="02020603050405020304" pitchFamily="18" charset="0"/>
              </a:rPr>
              <a:t>Methods Reference: </a:t>
            </a:r>
            <a:r>
              <a:rPr lang="en-US" dirty="0">
                <a:latin typeface="Times New Roman" panose="02020603050405020304" pitchFamily="18" charset="0"/>
                <a:cs typeface="Times New Roman" panose="02020603050405020304" pitchFamily="18" charset="0"/>
                <a:hlinkClick r:id="rId2"/>
              </a:rPr>
              <a:t>https://www.w3schools.com/python/python_dictionaries_methods.asp</a:t>
            </a:r>
            <a:endParaRPr lang="en-US" dirty="0">
              <a:latin typeface="Times New Roman" panose="02020603050405020304" pitchFamily="18" charset="0"/>
              <a:cs typeface="Times New Roman" panose="02020603050405020304" pitchFamily="18" charset="0"/>
            </a:endParaRPr>
          </a:p>
          <a:p>
            <a:pPr algn="l"/>
            <a:endParaRPr lang="aa-ET"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60A65893-7AEE-F43A-005F-4A2830A8A085}"/>
              </a:ext>
            </a:extLst>
          </p:cNvPr>
          <p:cNvPicPr>
            <a:picLocks noChangeAspect="1"/>
          </p:cNvPicPr>
          <p:nvPr/>
        </p:nvPicPr>
        <p:blipFill>
          <a:blip r:embed="rId3"/>
          <a:stretch>
            <a:fillRect/>
          </a:stretch>
        </p:blipFill>
        <p:spPr>
          <a:xfrm>
            <a:off x="71717" y="1754890"/>
            <a:ext cx="11394141" cy="3698622"/>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xmlns="" id="{1EDF92AC-0252-93CF-78E8-0977A902F6F3}"/>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10" name="Rectangle 9">
            <a:extLst>
              <a:ext uri="{FF2B5EF4-FFF2-40B4-BE49-F238E27FC236}">
                <a16:creationId xmlns:a16="http://schemas.microsoft.com/office/drawing/2014/main" xmlns="" id="{7B9B7E02-9A7C-05EB-71E7-B22C5605216E}"/>
              </a:ext>
            </a:extLst>
          </p:cNvPr>
          <p:cNvSpPr/>
          <p:nvPr/>
        </p:nvSpPr>
        <p:spPr>
          <a:xfrm>
            <a:off x="71717" y="2806780"/>
            <a:ext cx="2716307" cy="873833"/>
          </a:xfrm>
          <a:prstGeom prst="rect">
            <a:avLst/>
          </a:prstGeom>
          <a:solidFill>
            <a:srgbClr val="00B0F0">
              <a:alpha val="17000"/>
            </a:srgb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11" name="Rectangle 10">
            <a:extLst>
              <a:ext uri="{FF2B5EF4-FFF2-40B4-BE49-F238E27FC236}">
                <a16:creationId xmlns:a16="http://schemas.microsoft.com/office/drawing/2014/main" xmlns="" id="{46B8FC99-F84F-9EE1-2AC3-835ECEC3E952}"/>
              </a:ext>
            </a:extLst>
          </p:cNvPr>
          <p:cNvSpPr/>
          <p:nvPr/>
        </p:nvSpPr>
        <p:spPr>
          <a:xfrm>
            <a:off x="84148" y="3709769"/>
            <a:ext cx="2716307" cy="513439"/>
          </a:xfrm>
          <a:prstGeom prst="rect">
            <a:avLst/>
          </a:prstGeom>
          <a:solidFill>
            <a:srgbClr val="00B0F0">
              <a:alpha val="17000"/>
            </a:srgb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15" name="Rectangle 14">
            <a:extLst>
              <a:ext uri="{FF2B5EF4-FFF2-40B4-BE49-F238E27FC236}">
                <a16:creationId xmlns:a16="http://schemas.microsoft.com/office/drawing/2014/main" xmlns="" id="{3D279081-53CE-1607-55D2-2D76BD6362F8}"/>
              </a:ext>
            </a:extLst>
          </p:cNvPr>
          <p:cNvSpPr/>
          <p:nvPr/>
        </p:nvSpPr>
        <p:spPr>
          <a:xfrm>
            <a:off x="71717" y="4295420"/>
            <a:ext cx="2716307" cy="513439"/>
          </a:xfrm>
          <a:prstGeom prst="rect">
            <a:avLst/>
          </a:prstGeom>
          <a:solidFill>
            <a:srgbClr val="00B0F0">
              <a:alpha val="17000"/>
            </a:srgb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16" name="Rectangle 15">
            <a:extLst>
              <a:ext uri="{FF2B5EF4-FFF2-40B4-BE49-F238E27FC236}">
                <a16:creationId xmlns:a16="http://schemas.microsoft.com/office/drawing/2014/main" xmlns="" id="{EEC3FCC0-D8CA-C52D-9AE6-0741BF8BC62C}"/>
              </a:ext>
            </a:extLst>
          </p:cNvPr>
          <p:cNvSpPr/>
          <p:nvPr/>
        </p:nvSpPr>
        <p:spPr>
          <a:xfrm>
            <a:off x="84148" y="4881071"/>
            <a:ext cx="2716307" cy="513439"/>
          </a:xfrm>
          <a:prstGeom prst="rect">
            <a:avLst/>
          </a:prstGeom>
          <a:solidFill>
            <a:srgbClr val="00B0F0">
              <a:alpha val="17000"/>
            </a:srgb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18" name="Rectangle 17">
            <a:extLst>
              <a:ext uri="{FF2B5EF4-FFF2-40B4-BE49-F238E27FC236}">
                <a16:creationId xmlns:a16="http://schemas.microsoft.com/office/drawing/2014/main" xmlns="" id="{43B5A3AD-517F-E821-7271-B78C4AAA7857}"/>
              </a:ext>
            </a:extLst>
          </p:cNvPr>
          <p:cNvSpPr/>
          <p:nvPr/>
        </p:nvSpPr>
        <p:spPr>
          <a:xfrm>
            <a:off x="3198952" y="1829252"/>
            <a:ext cx="3324396" cy="357767"/>
          </a:xfrm>
          <a:prstGeom prst="rect">
            <a:avLst/>
          </a:prstGeom>
          <a:solidFill>
            <a:srgbClr val="00B0F0">
              <a:alpha val="17000"/>
            </a:srgbClr>
          </a:solid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20" name="Rectangle 19">
            <a:extLst>
              <a:ext uri="{FF2B5EF4-FFF2-40B4-BE49-F238E27FC236}">
                <a16:creationId xmlns:a16="http://schemas.microsoft.com/office/drawing/2014/main" xmlns="" id="{AA6BA72A-00F3-1716-B2DA-426912CFB2F0}"/>
              </a:ext>
            </a:extLst>
          </p:cNvPr>
          <p:cNvSpPr/>
          <p:nvPr/>
        </p:nvSpPr>
        <p:spPr>
          <a:xfrm>
            <a:off x="3198951" y="2205873"/>
            <a:ext cx="6454095" cy="283405"/>
          </a:xfrm>
          <a:prstGeom prst="rect">
            <a:avLst/>
          </a:prstGeom>
          <a:solidFill>
            <a:srgbClr val="00B0F0">
              <a:alpha val="17000"/>
            </a:srgbClr>
          </a:solid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21" name="Rectangle 20">
            <a:extLst>
              <a:ext uri="{FF2B5EF4-FFF2-40B4-BE49-F238E27FC236}">
                <a16:creationId xmlns:a16="http://schemas.microsoft.com/office/drawing/2014/main" xmlns="" id="{27405BD9-D7BC-2918-FBFF-70D241841C98}"/>
              </a:ext>
            </a:extLst>
          </p:cNvPr>
          <p:cNvSpPr/>
          <p:nvPr/>
        </p:nvSpPr>
        <p:spPr>
          <a:xfrm>
            <a:off x="3198950" y="2469370"/>
            <a:ext cx="7792704" cy="357767"/>
          </a:xfrm>
          <a:prstGeom prst="rect">
            <a:avLst/>
          </a:prstGeom>
          <a:solidFill>
            <a:srgbClr val="00B0F0">
              <a:alpha val="17000"/>
            </a:srgbClr>
          </a:solid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22" name="Rectangle 21">
            <a:extLst>
              <a:ext uri="{FF2B5EF4-FFF2-40B4-BE49-F238E27FC236}">
                <a16:creationId xmlns:a16="http://schemas.microsoft.com/office/drawing/2014/main" xmlns="" id="{FD411545-8FA4-60E8-4CC9-CE9F355E888B}"/>
              </a:ext>
            </a:extLst>
          </p:cNvPr>
          <p:cNvSpPr/>
          <p:nvPr/>
        </p:nvSpPr>
        <p:spPr>
          <a:xfrm>
            <a:off x="3198949" y="2808283"/>
            <a:ext cx="6454095" cy="357767"/>
          </a:xfrm>
          <a:prstGeom prst="rect">
            <a:avLst/>
          </a:prstGeom>
          <a:solidFill>
            <a:srgbClr val="00B0F0">
              <a:alpha val="17000"/>
            </a:srgbClr>
          </a:solid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24" name="Rectangle 23">
            <a:extLst>
              <a:ext uri="{FF2B5EF4-FFF2-40B4-BE49-F238E27FC236}">
                <a16:creationId xmlns:a16="http://schemas.microsoft.com/office/drawing/2014/main" xmlns="" id="{87C0CE1C-26A2-67F2-CEC1-FE15E1D68D54}"/>
              </a:ext>
            </a:extLst>
          </p:cNvPr>
          <p:cNvSpPr/>
          <p:nvPr/>
        </p:nvSpPr>
        <p:spPr>
          <a:xfrm>
            <a:off x="3198948" y="3147196"/>
            <a:ext cx="6454095" cy="357767"/>
          </a:xfrm>
          <a:prstGeom prst="rect">
            <a:avLst/>
          </a:prstGeom>
          <a:solidFill>
            <a:srgbClr val="00B0F0">
              <a:alpha val="17000"/>
            </a:srgbClr>
          </a:solid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Tree>
    <p:extLst>
      <p:ext uri="{BB962C8B-B14F-4D97-AF65-F5344CB8AC3E}">
        <p14:creationId xmlns:p14="http://schemas.microsoft.com/office/powerpoint/2010/main" val="9162058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567E9B-A582-4ECD-0AF0-5552AEAC1EB9}"/>
            </a:ext>
          </a:extLst>
        </p:cNvPr>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B1E3C954-4266-30B9-78CB-B5B3F46BD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25D79E1F-D3E8-DA52-1C70-02458FB8F27D}"/>
              </a:ext>
            </a:extLst>
          </p:cNvPr>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E8266FB4-F1E5-8DCA-3203-562F7DD2E3D5}"/>
              </a:ext>
            </a:extLst>
          </p:cNvPr>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OPERATORS</a:t>
            </a:r>
          </a:p>
        </p:txBody>
      </p:sp>
    </p:spTree>
    <p:extLst>
      <p:ext uri="{BB962C8B-B14F-4D97-AF65-F5344CB8AC3E}">
        <p14:creationId xmlns:p14="http://schemas.microsoft.com/office/powerpoint/2010/main" val="181517231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A5C675-188C-BE39-2259-6AE74494CF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AE10E18B-58C6-03CA-E3C5-8BDB27A676F6}"/>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OPERATORS</a:t>
            </a:r>
          </a:p>
        </p:txBody>
      </p:sp>
      <p:sp>
        <p:nvSpPr>
          <p:cNvPr id="8" name="Rectangle 7">
            <a:extLst>
              <a:ext uri="{FF2B5EF4-FFF2-40B4-BE49-F238E27FC236}">
                <a16:creationId xmlns:a16="http://schemas.microsoft.com/office/drawing/2014/main" xmlns="" id="{CA64835F-F310-2A59-50BE-F972F658AC13}"/>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BEBEB9D9-9DA2-1444-48A2-F1B1D0A66F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592B570F-F0C6-B777-809A-741B2879CCDE}"/>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4B1CCC38-DBA9-506E-2D5C-1D679D33BED6}"/>
              </a:ext>
            </a:extLst>
          </p:cNvPr>
          <p:cNvSpPr txBox="1"/>
          <p:nvPr/>
        </p:nvSpPr>
        <p:spPr>
          <a:xfrm>
            <a:off x="0" y="110855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programming, </a:t>
            </a:r>
            <a:r>
              <a:rPr lang="en-US" dirty="0">
                <a:solidFill>
                  <a:schemeClr val="accent2"/>
                </a:solidFill>
                <a:latin typeface="Times New Roman" panose="02020603050405020304" pitchFamily="18" charset="0"/>
                <a:cs typeface="Times New Roman" panose="02020603050405020304" pitchFamily="18" charset="0"/>
              </a:rPr>
              <a:t>operators</a:t>
            </a:r>
            <a:r>
              <a:rPr lang="en-US" dirty="0">
                <a:latin typeface="Times New Roman" panose="02020603050405020304" pitchFamily="18" charset="0"/>
                <a:cs typeface="Times New Roman" panose="02020603050405020304" pitchFamily="18" charset="0"/>
              </a:rPr>
              <a:t> are used to perform operations on variables and values. There are several of them in python</a:t>
            </a:r>
            <a:endParaRPr lang="aa-ET"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1F82A79D-6AD4-E982-8C9A-56A416E1A873}"/>
              </a:ext>
            </a:extLst>
          </p:cNvPr>
          <p:cNvSpPr txBox="1"/>
          <p:nvPr/>
        </p:nvSpPr>
        <p:spPr>
          <a:xfrm>
            <a:off x="348176" y="1812410"/>
            <a:ext cx="6158752" cy="1477328"/>
          </a:xfrm>
          <a:prstGeom prst="rect">
            <a:avLst/>
          </a:prstGeom>
          <a:noFill/>
        </p:spPr>
        <p:txBody>
          <a:bodyPr wrap="square">
            <a:spAutoFit/>
          </a:bodyPr>
          <a:lstStyle/>
          <a:p>
            <a:pPr marL="285750" indent="-285750" algn="l">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Arithmetic operators</a:t>
            </a:r>
          </a:p>
          <a:p>
            <a:pPr marL="285750" indent="-285750" algn="l">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Assignment operators</a:t>
            </a:r>
          </a:p>
          <a:p>
            <a:pPr marL="285750" indent="-285750" algn="l">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Comparison operators</a:t>
            </a:r>
          </a:p>
          <a:p>
            <a:pPr marL="285750" indent="-285750" algn="l">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Logical operators</a:t>
            </a:r>
          </a:p>
          <a:p>
            <a:pPr marL="285750" indent="-285750" algn="l">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Etc.</a:t>
            </a:r>
          </a:p>
        </p:txBody>
      </p:sp>
      <p:pic>
        <p:nvPicPr>
          <p:cNvPr id="15" name="Picture 14">
            <a:extLst>
              <a:ext uri="{FF2B5EF4-FFF2-40B4-BE49-F238E27FC236}">
                <a16:creationId xmlns:a16="http://schemas.microsoft.com/office/drawing/2014/main" xmlns="" id="{8A6F0813-310F-BA69-912D-C5A65CD0B1F6}"/>
              </a:ext>
            </a:extLst>
          </p:cNvPr>
          <p:cNvPicPr>
            <a:picLocks noChangeAspect="1"/>
          </p:cNvPicPr>
          <p:nvPr/>
        </p:nvPicPr>
        <p:blipFill>
          <a:blip r:embed="rId3"/>
          <a:stretch>
            <a:fillRect/>
          </a:stretch>
        </p:blipFill>
        <p:spPr>
          <a:xfrm>
            <a:off x="150952" y="3443354"/>
            <a:ext cx="5714226" cy="2504060"/>
          </a:xfrm>
          <a:prstGeom prst="rect">
            <a:avLst/>
          </a:prstGeom>
        </p:spPr>
      </p:pic>
      <p:pic>
        <p:nvPicPr>
          <p:cNvPr id="18" name="Picture 17">
            <a:extLst>
              <a:ext uri="{FF2B5EF4-FFF2-40B4-BE49-F238E27FC236}">
                <a16:creationId xmlns:a16="http://schemas.microsoft.com/office/drawing/2014/main" xmlns="" id="{EF4E80B5-57A6-3DFD-25A7-743F338BCEAB}"/>
              </a:ext>
            </a:extLst>
          </p:cNvPr>
          <p:cNvPicPr>
            <a:picLocks noChangeAspect="1"/>
          </p:cNvPicPr>
          <p:nvPr/>
        </p:nvPicPr>
        <p:blipFill>
          <a:blip r:embed="rId4"/>
          <a:stretch>
            <a:fillRect/>
          </a:stretch>
        </p:blipFill>
        <p:spPr>
          <a:xfrm>
            <a:off x="5941405" y="4466784"/>
            <a:ext cx="1724025" cy="457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706562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F11F12-A2A4-5F3A-C2A8-9AD34B71587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FCFE4EB6-07F7-412A-EDF5-E4C7218B864C}"/>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ASSIGNMENT OPERATORS</a:t>
            </a:r>
          </a:p>
        </p:txBody>
      </p:sp>
      <p:sp>
        <p:nvSpPr>
          <p:cNvPr id="8" name="Rectangle 7">
            <a:extLst>
              <a:ext uri="{FF2B5EF4-FFF2-40B4-BE49-F238E27FC236}">
                <a16:creationId xmlns:a16="http://schemas.microsoft.com/office/drawing/2014/main" xmlns="" id="{26087604-916B-D38D-C99B-2E4874FDA2C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32BA48E-C46C-3AFC-4553-CF80323F28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7DEE3123-43B6-FA57-2456-EF118B05B860}"/>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3F2A3E01-0C15-3C18-A70F-4B9CAB207F1B}"/>
              </a:ext>
            </a:extLst>
          </p:cNvPr>
          <p:cNvSpPr txBox="1"/>
          <p:nvPr/>
        </p:nvSpPr>
        <p:spPr>
          <a:xfrm>
            <a:off x="0" y="110855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Assignment operators are used to assign values to variables:</a:t>
            </a:r>
          </a:p>
        </p:txBody>
      </p:sp>
      <p:pic>
        <p:nvPicPr>
          <p:cNvPr id="5" name="Picture 4">
            <a:extLst>
              <a:ext uri="{FF2B5EF4-FFF2-40B4-BE49-F238E27FC236}">
                <a16:creationId xmlns:a16="http://schemas.microsoft.com/office/drawing/2014/main" xmlns="" id="{212E4A72-622A-B96C-DAA4-F51560EF0510}"/>
              </a:ext>
            </a:extLst>
          </p:cNvPr>
          <p:cNvPicPr>
            <a:picLocks noChangeAspect="1"/>
          </p:cNvPicPr>
          <p:nvPr/>
        </p:nvPicPr>
        <p:blipFill>
          <a:blip r:embed="rId3"/>
          <a:stretch>
            <a:fillRect/>
          </a:stretch>
        </p:blipFill>
        <p:spPr>
          <a:xfrm>
            <a:off x="246656" y="1911162"/>
            <a:ext cx="6574090" cy="2391896"/>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xmlns="" id="{5243BE0C-EE36-97B4-4821-C1DD79ACA7AB}"/>
              </a:ext>
            </a:extLst>
          </p:cNvPr>
          <p:cNvPicPr>
            <a:picLocks noChangeAspect="1"/>
          </p:cNvPicPr>
          <p:nvPr/>
        </p:nvPicPr>
        <p:blipFill>
          <a:blip r:embed="rId4"/>
          <a:stretch>
            <a:fillRect/>
          </a:stretch>
        </p:blipFill>
        <p:spPr>
          <a:xfrm>
            <a:off x="246656" y="4571332"/>
            <a:ext cx="4638675" cy="1562100"/>
          </a:xfrm>
          <a:prstGeom prst="rect">
            <a:avLst/>
          </a:prstGeom>
          <a:ln>
            <a:noFill/>
          </a:ln>
          <a:effectLst>
            <a:outerShdw blurRad="292100" dist="139700" dir="2700000" algn="tl" rotWithShape="0">
              <a:srgbClr val="333333">
                <a:alpha val="65000"/>
              </a:srgbClr>
            </a:outerShdw>
          </a:effectLst>
        </p:spPr>
      </p:pic>
      <p:cxnSp>
        <p:nvCxnSpPr>
          <p:cNvPr id="11" name="Straight Arrow Connector 10">
            <a:extLst>
              <a:ext uri="{FF2B5EF4-FFF2-40B4-BE49-F238E27FC236}">
                <a16:creationId xmlns:a16="http://schemas.microsoft.com/office/drawing/2014/main" xmlns="" id="{0C4A1209-9DB8-9CE7-6B54-B594810D0674}"/>
              </a:ext>
            </a:extLst>
          </p:cNvPr>
          <p:cNvCxnSpPr>
            <a:cxnSpLocks/>
            <a:stCxn id="12" idx="1"/>
          </p:cNvCxnSpPr>
          <p:nvPr/>
        </p:nvCxnSpPr>
        <p:spPr>
          <a:xfrm flipH="1" flipV="1">
            <a:off x="1462510" y="5898238"/>
            <a:ext cx="4311603" cy="3045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80B11F19-B3CE-3177-84E1-E47441B436A2}"/>
              </a:ext>
            </a:extLst>
          </p:cNvPr>
          <p:cNvSpPr txBox="1"/>
          <p:nvPr/>
        </p:nvSpPr>
        <p:spPr>
          <a:xfrm>
            <a:off x="5774113" y="5605523"/>
            <a:ext cx="1658470"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The statement is not true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4483CE40-CF97-491D-274C-5221538F244F}"/>
              </a:ext>
            </a:extLst>
          </p:cNvPr>
          <p:cNvCxnSpPr>
            <a:cxnSpLocks/>
            <a:stCxn id="12" idx="1"/>
          </p:cNvCxnSpPr>
          <p:nvPr/>
        </p:nvCxnSpPr>
        <p:spPr>
          <a:xfrm flipH="1" flipV="1">
            <a:off x="4091150" y="4837087"/>
            <a:ext cx="1682963" cy="10916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3071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5DB86F-F4B7-9789-C48F-D827D7DBBD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9B68EC5F-9D2A-3329-1A83-05000AD4D136}"/>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COMPARISON OPERATORS</a:t>
            </a:r>
          </a:p>
        </p:txBody>
      </p:sp>
      <p:sp>
        <p:nvSpPr>
          <p:cNvPr id="8" name="Rectangle 7">
            <a:extLst>
              <a:ext uri="{FF2B5EF4-FFF2-40B4-BE49-F238E27FC236}">
                <a16:creationId xmlns:a16="http://schemas.microsoft.com/office/drawing/2014/main" xmlns="" id="{3DF8D608-4D81-40E0-C789-5DC20A45FB54}"/>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8FC01863-0D65-C5B8-AD46-3F5E614BD1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528B6705-A256-58A4-9B3C-1BD149F97738}"/>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E3590955-E0FD-221F-67EC-5E68F1095B12}"/>
              </a:ext>
            </a:extLst>
          </p:cNvPr>
          <p:cNvSpPr txBox="1"/>
          <p:nvPr/>
        </p:nvSpPr>
        <p:spPr>
          <a:xfrm>
            <a:off x="0" y="110855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Comparison operators are used to compare two values</a:t>
            </a:r>
          </a:p>
        </p:txBody>
      </p:sp>
      <p:pic>
        <p:nvPicPr>
          <p:cNvPr id="6" name="Picture 5">
            <a:extLst>
              <a:ext uri="{FF2B5EF4-FFF2-40B4-BE49-F238E27FC236}">
                <a16:creationId xmlns:a16="http://schemas.microsoft.com/office/drawing/2014/main" xmlns="" id="{85113A13-050B-3EC0-1FCD-48DF104A6C20}"/>
              </a:ext>
            </a:extLst>
          </p:cNvPr>
          <p:cNvPicPr>
            <a:picLocks noChangeAspect="1"/>
          </p:cNvPicPr>
          <p:nvPr/>
        </p:nvPicPr>
        <p:blipFill>
          <a:blip r:embed="rId3"/>
          <a:stretch>
            <a:fillRect/>
          </a:stretch>
        </p:blipFill>
        <p:spPr>
          <a:xfrm>
            <a:off x="150952" y="1724890"/>
            <a:ext cx="6778766" cy="2585390"/>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xmlns="" id="{C3BFAF00-D448-3B36-CD29-BDE867735912}"/>
              </a:ext>
            </a:extLst>
          </p:cNvPr>
          <p:cNvPicPr>
            <a:picLocks noChangeAspect="1"/>
          </p:cNvPicPr>
          <p:nvPr/>
        </p:nvPicPr>
        <p:blipFill>
          <a:blip r:embed="rId4"/>
          <a:stretch>
            <a:fillRect/>
          </a:stretch>
        </p:blipFill>
        <p:spPr>
          <a:xfrm>
            <a:off x="150952" y="4522556"/>
            <a:ext cx="5676900" cy="1666875"/>
          </a:xfrm>
          <a:prstGeom prst="rect">
            <a:avLst/>
          </a:prstGeom>
          <a:ln>
            <a:noFill/>
          </a:ln>
          <a:effectLst>
            <a:outerShdw blurRad="292100" dist="139700" dir="2700000" algn="tl" rotWithShape="0">
              <a:srgbClr val="333333">
                <a:alpha val="65000"/>
              </a:srgbClr>
            </a:outerShdw>
          </a:effectLst>
        </p:spPr>
      </p:pic>
      <p:cxnSp>
        <p:nvCxnSpPr>
          <p:cNvPr id="11" name="Straight Arrow Connector 10">
            <a:extLst>
              <a:ext uri="{FF2B5EF4-FFF2-40B4-BE49-F238E27FC236}">
                <a16:creationId xmlns:a16="http://schemas.microsoft.com/office/drawing/2014/main" xmlns="" id="{F6367EE4-B1A1-F732-EF8B-D4261D3DE591}"/>
              </a:ext>
            </a:extLst>
          </p:cNvPr>
          <p:cNvCxnSpPr>
            <a:cxnSpLocks/>
          </p:cNvCxnSpPr>
          <p:nvPr/>
        </p:nvCxnSpPr>
        <p:spPr>
          <a:xfrm flipH="1" flipV="1">
            <a:off x="1362635" y="5827059"/>
            <a:ext cx="4733365" cy="1594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C0E3A062-F92C-646F-C701-03DACE1C690B}"/>
              </a:ext>
            </a:extLst>
          </p:cNvPr>
          <p:cNvSpPr txBox="1"/>
          <p:nvPr/>
        </p:nvSpPr>
        <p:spPr>
          <a:xfrm>
            <a:off x="6086205" y="5649238"/>
            <a:ext cx="1658470"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The statement is true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xmlns="" id="{6700E48E-022C-1A43-70F0-43BA461F937B}"/>
              </a:ext>
            </a:extLst>
          </p:cNvPr>
          <p:cNvCxnSpPr>
            <a:cxnSpLocks/>
          </p:cNvCxnSpPr>
          <p:nvPr/>
        </p:nvCxnSpPr>
        <p:spPr>
          <a:xfrm flipH="1" flipV="1">
            <a:off x="4897974" y="4841988"/>
            <a:ext cx="1082661" cy="10092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02765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7D53704-6F2D-433B-793D-E9A7D0CC7A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1D5E6C77-94A4-7DD3-7753-E747B03FD534}"/>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LOGICAL OPERATORS</a:t>
            </a:r>
          </a:p>
        </p:txBody>
      </p:sp>
      <p:sp>
        <p:nvSpPr>
          <p:cNvPr id="8" name="Rectangle 7">
            <a:extLst>
              <a:ext uri="{FF2B5EF4-FFF2-40B4-BE49-F238E27FC236}">
                <a16:creationId xmlns:a16="http://schemas.microsoft.com/office/drawing/2014/main" xmlns="" id="{281EFF88-7CA2-970C-13EB-6442F0591D51}"/>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A71AFB68-B535-8816-D226-A03952D0BF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BEED58FD-4063-EEB4-56DD-6BEC503D6B94}"/>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FD49B01C-6F4F-2D8C-9054-D5F4D4746884}"/>
              </a:ext>
            </a:extLst>
          </p:cNvPr>
          <p:cNvSpPr txBox="1"/>
          <p:nvPr/>
        </p:nvSpPr>
        <p:spPr>
          <a:xfrm>
            <a:off x="0" y="110855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Logical operators are used to combine conditional statements.</a:t>
            </a:r>
          </a:p>
        </p:txBody>
      </p:sp>
      <p:pic>
        <p:nvPicPr>
          <p:cNvPr id="5" name="Picture 4">
            <a:extLst>
              <a:ext uri="{FF2B5EF4-FFF2-40B4-BE49-F238E27FC236}">
                <a16:creationId xmlns:a16="http://schemas.microsoft.com/office/drawing/2014/main" xmlns="" id="{AF4825BE-330D-EBA6-5B75-F8B5EB212BD9}"/>
              </a:ext>
            </a:extLst>
          </p:cNvPr>
          <p:cNvPicPr>
            <a:picLocks noChangeAspect="1"/>
          </p:cNvPicPr>
          <p:nvPr/>
        </p:nvPicPr>
        <p:blipFill>
          <a:blip r:embed="rId3"/>
          <a:stretch>
            <a:fillRect/>
          </a:stretch>
        </p:blipFill>
        <p:spPr>
          <a:xfrm>
            <a:off x="314930" y="1806546"/>
            <a:ext cx="7114054" cy="151154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xmlns="" id="{25641C23-C8C4-2E39-4A86-566707F4D7A5}"/>
              </a:ext>
            </a:extLst>
          </p:cNvPr>
          <p:cNvPicPr>
            <a:picLocks noChangeAspect="1"/>
          </p:cNvPicPr>
          <p:nvPr/>
        </p:nvPicPr>
        <p:blipFill>
          <a:blip r:embed="rId4"/>
          <a:stretch>
            <a:fillRect/>
          </a:stretch>
        </p:blipFill>
        <p:spPr>
          <a:xfrm>
            <a:off x="314930" y="3461366"/>
            <a:ext cx="5981700" cy="2200275"/>
          </a:xfrm>
          <a:prstGeom prst="rect">
            <a:avLst/>
          </a:prstGeom>
          <a:ln>
            <a:noFill/>
          </a:ln>
          <a:effectLst>
            <a:outerShdw blurRad="292100" dist="139700" dir="2700000" algn="tl" rotWithShape="0">
              <a:srgbClr val="333333">
                <a:alpha val="65000"/>
              </a:srgbClr>
            </a:outerShdw>
          </a:effectLst>
        </p:spPr>
      </p:pic>
      <p:cxnSp>
        <p:nvCxnSpPr>
          <p:cNvPr id="11" name="Straight Arrow Connector 10">
            <a:extLst>
              <a:ext uri="{FF2B5EF4-FFF2-40B4-BE49-F238E27FC236}">
                <a16:creationId xmlns:a16="http://schemas.microsoft.com/office/drawing/2014/main" xmlns="" id="{37166A7F-B973-4244-E231-94910B65CFCD}"/>
              </a:ext>
            </a:extLst>
          </p:cNvPr>
          <p:cNvCxnSpPr>
            <a:cxnSpLocks/>
          </p:cNvCxnSpPr>
          <p:nvPr/>
        </p:nvCxnSpPr>
        <p:spPr>
          <a:xfrm flipH="1" flipV="1">
            <a:off x="3460376" y="4979629"/>
            <a:ext cx="2796371" cy="569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EB4CABE8-19AA-5179-D3DA-AA225FD8B95F}"/>
              </a:ext>
            </a:extLst>
          </p:cNvPr>
          <p:cNvSpPr txBox="1"/>
          <p:nvPr/>
        </p:nvSpPr>
        <p:spPr>
          <a:xfrm>
            <a:off x="6246952" y="4699322"/>
            <a:ext cx="1658470"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The statement is not true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xmlns="" id="{0918DCA0-2578-CB64-4BD5-1D9AE013B37E}"/>
              </a:ext>
            </a:extLst>
          </p:cNvPr>
          <p:cNvCxnSpPr>
            <a:cxnSpLocks/>
          </p:cNvCxnSpPr>
          <p:nvPr/>
        </p:nvCxnSpPr>
        <p:spPr>
          <a:xfrm flipH="1" flipV="1">
            <a:off x="5058721" y="3892072"/>
            <a:ext cx="1082661" cy="10092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213174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251B3EB-725B-E841-E4AA-F71F7111B728}"/>
            </a:ext>
          </a:extLst>
        </p:cNvPr>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3A39B955-1069-7793-7955-6AC1488A5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267D51E1-ACA5-991A-ABEE-887B57BA7DB0}"/>
              </a:ext>
            </a:extLst>
          </p:cNvPr>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999708C4-98B6-D212-50A4-1D8D63DFA284}"/>
              </a:ext>
            </a:extLst>
          </p:cNvPr>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CONDITIONAL CONTROLS</a:t>
            </a:r>
          </a:p>
        </p:txBody>
      </p:sp>
    </p:spTree>
    <p:extLst>
      <p:ext uri="{BB962C8B-B14F-4D97-AF65-F5344CB8AC3E}">
        <p14:creationId xmlns:p14="http://schemas.microsoft.com/office/powerpoint/2010/main" val="23112784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47E958-9C70-D9B5-9E9A-9D0CD2E6DB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355118D5-DCD9-B46E-8D8D-1D44D6D85838}"/>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IF-STATEMENT</a:t>
            </a:r>
          </a:p>
        </p:txBody>
      </p:sp>
      <p:sp>
        <p:nvSpPr>
          <p:cNvPr id="8" name="Rectangle 7">
            <a:extLst>
              <a:ext uri="{FF2B5EF4-FFF2-40B4-BE49-F238E27FC236}">
                <a16:creationId xmlns:a16="http://schemas.microsoft.com/office/drawing/2014/main" xmlns="" id="{0204E3A1-5B9B-3823-33DA-010AD00C7DF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85C877E-9B02-5455-5BD0-8EDA899F41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59F01C21-64CB-882B-0A5D-95BBEFAAC4EA}"/>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E3C028C4-5998-B14F-4208-CECD3101A9C4}"/>
              </a:ext>
            </a:extLst>
          </p:cNvPr>
          <p:cNvSpPr txBox="1"/>
          <p:nvPr/>
        </p:nvSpPr>
        <p:spPr>
          <a:xfrm>
            <a:off x="0" y="1108559"/>
            <a:ext cx="7215423" cy="2308324"/>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computer programming, the </a:t>
            </a:r>
            <a:r>
              <a:rPr lang="en-US" dirty="0">
                <a:highlight>
                  <a:srgbClr val="00FFFF"/>
                </a:highlight>
                <a:latin typeface="Times New Roman" panose="02020603050405020304" pitchFamily="18" charset="0"/>
                <a:cs typeface="Times New Roman" panose="02020603050405020304" pitchFamily="18" charset="0"/>
              </a:rPr>
              <a:t>if statement </a:t>
            </a:r>
            <a:r>
              <a:rPr lang="en-US" dirty="0">
                <a:latin typeface="Times New Roman" panose="02020603050405020304" pitchFamily="18" charset="0"/>
                <a:cs typeface="Times New Roman" panose="02020603050405020304" pitchFamily="18" charset="0"/>
              </a:rPr>
              <a:t>is a conditional statement. It is used to execute a block of code only when a specific condition is met. For example, Suppose we need to assign different grades to students based on their scores:</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a student scores above 90, assign grade A</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a student scores above 75, assign grade B</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a student scores above 65, assign grade C</a:t>
            </a:r>
            <a:endParaRPr lang="aa-ET"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64A98893-9EF9-76F1-0A69-67E32315CE39}"/>
              </a:ext>
            </a:extLst>
          </p:cNvPr>
          <p:cNvPicPr>
            <a:picLocks noChangeAspect="1"/>
          </p:cNvPicPr>
          <p:nvPr/>
        </p:nvPicPr>
        <p:blipFill>
          <a:blip r:embed="rId3"/>
          <a:stretch>
            <a:fillRect/>
          </a:stretch>
        </p:blipFill>
        <p:spPr>
          <a:xfrm>
            <a:off x="150952" y="3607741"/>
            <a:ext cx="5338617" cy="1286988"/>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xmlns="" id="{E7C90338-CB2F-1C81-702E-DA82BF017E12}"/>
              </a:ext>
            </a:extLst>
          </p:cNvPr>
          <p:cNvSpPr txBox="1"/>
          <p:nvPr/>
        </p:nvSpPr>
        <p:spPr>
          <a:xfrm>
            <a:off x="2763167" y="5478377"/>
            <a:ext cx="1844692" cy="1200329"/>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Execute this block of code if and only if the condition is true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xmlns="" id="{3CA3C845-CD47-7630-B955-8180A536C977}"/>
              </a:ext>
            </a:extLst>
          </p:cNvPr>
          <p:cNvCxnSpPr>
            <a:cxnSpLocks/>
          </p:cNvCxnSpPr>
          <p:nvPr/>
        </p:nvCxnSpPr>
        <p:spPr>
          <a:xfrm flipV="1">
            <a:off x="3358462" y="4617687"/>
            <a:ext cx="0" cy="8238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xmlns="" id="{AE439389-BA09-3599-7126-08F3884AACAC}"/>
              </a:ext>
            </a:extLst>
          </p:cNvPr>
          <p:cNvCxnSpPr>
            <a:cxnSpLocks/>
          </p:cNvCxnSpPr>
          <p:nvPr/>
        </p:nvCxnSpPr>
        <p:spPr>
          <a:xfrm flipH="1">
            <a:off x="2417168" y="3970881"/>
            <a:ext cx="382978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017EA12F-A88D-62AD-5773-97A19D6EB706}"/>
              </a:ext>
            </a:extLst>
          </p:cNvPr>
          <p:cNvSpPr txBox="1"/>
          <p:nvPr/>
        </p:nvSpPr>
        <p:spPr>
          <a:xfrm>
            <a:off x="6246952" y="3786215"/>
            <a:ext cx="1844692"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colon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22" name="Straight Arrow Connector 21">
            <a:extLst>
              <a:ext uri="{FF2B5EF4-FFF2-40B4-BE49-F238E27FC236}">
                <a16:creationId xmlns:a16="http://schemas.microsoft.com/office/drawing/2014/main" xmlns="" id="{9E11B52C-95A5-96EC-4F5E-B5241B715E3B}"/>
              </a:ext>
            </a:extLst>
          </p:cNvPr>
          <p:cNvCxnSpPr>
            <a:cxnSpLocks/>
          </p:cNvCxnSpPr>
          <p:nvPr/>
        </p:nvCxnSpPr>
        <p:spPr>
          <a:xfrm flipV="1">
            <a:off x="1036603" y="4654488"/>
            <a:ext cx="0" cy="8238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8CAF50D8-BDB3-1B45-6447-979BDBC736C5}"/>
              </a:ext>
            </a:extLst>
          </p:cNvPr>
          <p:cNvSpPr txBox="1"/>
          <p:nvPr/>
        </p:nvSpPr>
        <p:spPr>
          <a:xfrm>
            <a:off x="350364" y="5441576"/>
            <a:ext cx="1844692"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Indentation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038210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781EAE5-CD08-2FBF-C1DF-5C0314B96D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A6148B18-FCCB-BB97-2FF5-1557BA584292}"/>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IF-STATEMENT</a:t>
            </a:r>
          </a:p>
        </p:txBody>
      </p:sp>
      <p:sp>
        <p:nvSpPr>
          <p:cNvPr id="8" name="Rectangle 7">
            <a:extLst>
              <a:ext uri="{FF2B5EF4-FFF2-40B4-BE49-F238E27FC236}">
                <a16:creationId xmlns:a16="http://schemas.microsoft.com/office/drawing/2014/main" xmlns="" id="{405B9F6A-B3BB-7F46-3ED0-6E316AE8480D}"/>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1D47321-14F0-25A2-5688-98201122AC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5E6C18D9-4031-6C07-ECE7-C31BB0C5ACA7}"/>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3" name="TextBox 2">
            <a:extLst>
              <a:ext uri="{FF2B5EF4-FFF2-40B4-BE49-F238E27FC236}">
                <a16:creationId xmlns:a16="http://schemas.microsoft.com/office/drawing/2014/main" xmlns="" id="{87B34E0F-49AA-68E0-60A7-315B5DE3600A}"/>
              </a:ext>
            </a:extLst>
          </p:cNvPr>
          <p:cNvSpPr txBox="1"/>
          <p:nvPr/>
        </p:nvSpPr>
        <p:spPr>
          <a:xfrm>
            <a:off x="0" y="110855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logic</a:t>
            </a:r>
          </a:p>
        </p:txBody>
      </p:sp>
      <p:pic>
        <p:nvPicPr>
          <p:cNvPr id="14" name="Picture 13">
            <a:extLst>
              <a:ext uri="{FF2B5EF4-FFF2-40B4-BE49-F238E27FC236}">
                <a16:creationId xmlns:a16="http://schemas.microsoft.com/office/drawing/2014/main" xmlns="" id="{07AE2591-9DED-2972-244C-77399E87F68F}"/>
              </a:ext>
            </a:extLst>
          </p:cNvPr>
          <p:cNvPicPr>
            <a:picLocks noChangeAspect="1"/>
          </p:cNvPicPr>
          <p:nvPr/>
        </p:nvPicPr>
        <p:blipFill>
          <a:blip r:embed="rId3"/>
          <a:stretch>
            <a:fillRect/>
          </a:stretch>
        </p:blipFill>
        <p:spPr>
          <a:xfrm>
            <a:off x="557465" y="1859757"/>
            <a:ext cx="6474202" cy="28544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26851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45454F-4B37-B008-C96F-A6E0352146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5AE5E471-6655-9ACB-5641-5046113EF6F8}"/>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IF-STATEMENT</a:t>
            </a:r>
          </a:p>
        </p:txBody>
      </p:sp>
      <p:sp>
        <p:nvSpPr>
          <p:cNvPr id="9" name="TextBox 8">
            <a:extLst>
              <a:ext uri="{FF2B5EF4-FFF2-40B4-BE49-F238E27FC236}">
                <a16:creationId xmlns:a16="http://schemas.microsoft.com/office/drawing/2014/main" xmlns="" id="{D2D36DA1-5E16-7E2F-03CA-E9A049D7A992}"/>
              </a:ext>
            </a:extLst>
          </p:cNvPr>
          <p:cNvSpPr txBox="1"/>
          <p:nvPr/>
        </p:nvSpPr>
        <p:spPr>
          <a:xfrm>
            <a:off x="150952" y="6401707"/>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pic>
        <p:nvPicPr>
          <p:cNvPr id="5" name="Picture 4">
            <a:extLst>
              <a:ext uri="{FF2B5EF4-FFF2-40B4-BE49-F238E27FC236}">
                <a16:creationId xmlns:a16="http://schemas.microsoft.com/office/drawing/2014/main" xmlns="" id="{4309A161-1004-ECAD-E20D-696C8973E05B}"/>
              </a:ext>
            </a:extLst>
          </p:cNvPr>
          <p:cNvPicPr>
            <a:picLocks noChangeAspect="1"/>
          </p:cNvPicPr>
          <p:nvPr/>
        </p:nvPicPr>
        <p:blipFill>
          <a:blip r:embed="rId2"/>
          <a:stretch>
            <a:fillRect/>
          </a:stretch>
        </p:blipFill>
        <p:spPr>
          <a:xfrm>
            <a:off x="150952" y="1371363"/>
            <a:ext cx="10801350" cy="2571750"/>
          </a:xfrm>
          <a:prstGeom prst="rect">
            <a:avLst/>
          </a:prstGeom>
          <a:ln>
            <a:noFill/>
          </a:ln>
          <a:effectLst>
            <a:outerShdw blurRad="292100" dist="139700" dir="2700000" algn="tl" rotWithShape="0">
              <a:srgbClr val="333333">
                <a:alpha val="65000"/>
              </a:srgbClr>
            </a:outerShdw>
          </a:effectLst>
        </p:spPr>
      </p:pic>
      <p:cxnSp>
        <p:nvCxnSpPr>
          <p:cNvPr id="6" name="Straight Arrow Connector 5">
            <a:extLst>
              <a:ext uri="{FF2B5EF4-FFF2-40B4-BE49-F238E27FC236}">
                <a16:creationId xmlns:a16="http://schemas.microsoft.com/office/drawing/2014/main" xmlns="" id="{2711F5B2-76BF-4933-042F-B88D69AD8A0D}"/>
              </a:ext>
            </a:extLst>
          </p:cNvPr>
          <p:cNvCxnSpPr>
            <a:cxnSpLocks/>
          </p:cNvCxnSpPr>
          <p:nvPr/>
        </p:nvCxnSpPr>
        <p:spPr>
          <a:xfrm flipH="1">
            <a:off x="261017" y="3429000"/>
            <a:ext cx="276311"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305C0B41-C2A8-9ED2-DA12-375352F6C33A}"/>
              </a:ext>
            </a:extLst>
          </p:cNvPr>
          <p:cNvSpPr txBox="1"/>
          <p:nvPr/>
        </p:nvSpPr>
        <p:spPr>
          <a:xfrm>
            <a:off x="0" y="4412440"/>
            <a:ext cx="5835192" cy="923330"/>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Pay attention to the little space. Note that the print function is not directly under the “if”. This indicates that, the print statement belongs to the body of the if-statement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xmlns="" id="{5EC83BCC-6C03-3A6A-7B43-28DC408279C8}"/>
              </a:ext>
            </a:extLst>
          </p:cNvPr>
          <p:cNvCxnSpPr>
            <a:cxnSpLocks/>
          </p:cNvCxnSpPr>
          <p:nvPr/>
        </p:nvCxnSpPr>
        <p:spPr>
          <a:xfrm flipV="1">
            <a:off x="420071" y="3531168"/>
            <a:ext cx="0" cy="8238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1CD811FD-17F5-B043-ACCC-C575F427B835}"/>
              </a:ext>
            </a:extLst>
          </p:cNvPr>
          <p:cNvSpPr txBox="1"/>
          <p:nvPr/>
        </p:nvSpPr>
        <p:spPr>
          <a:xfrm>
            <a:off x="6246952" y="4412440"/>
            <a:ext cx="5835192" cy="646331"/>
          </a:xfrm>
          <a:prstGeom prst="rect">
            <a:avLst/>
          </a:prstGeom>
          <a:noFill/>
        </p:spPr>
        <p:txBody>
          <a:bodyPr wrap="square">
            <a:spAutoFit/>
          </a:bodyPr>
          <a:lstStyle/>
          <a:p>
            <a:pPr algn="l"/>
            <a:r>
              <a:rPr lang="en-US" dirty="0">
                <a:solidFill>
                  <a:srgbClr val="000000"/>
                </a:solidFill>
                <a:highlight>
                  <a:srgbClr val="00FFFF"/>
                </a:highlight>
                <a:latin typeface="Times New Roman" panose="02020603050405020304" pitchFamily="18" charset="0"/>
                <a:cs typeface="Times New Roman" panose="02020603050405020304" pitchFamily="18" charset="0"/>
              </a:rPr>
              <a:t>But what if the statement or condition returned False?</a:t>
            </a:r>
            <a:br>
              <a:rPr lang="en-US" dirty="0">
                <a:solidFill>
                  <a:srgbClr val="000000"/>
                </a:solidFill>
                <a:highlight>
                  <a:srgbClr val="00FFFF"/>
                </a:highlight>
                <a:latin typeface="Times New Roman" panose="02020603050405020304" pitchFamily="18" charset="0"/>
                <a:cs typeface="Times New Roman" panose="02020603050405020304" pitchFamily="18" charset="0"/>
              </a:rPr>
            </a:br>
            <a:r>
              <a:rPr lang="en-US" dirty="0">
                <a:solidFill>
                  <a:srgbClr val="000000"/>
                </a:solidFill>
                <a:highlight>
                  <a:srgbClr val="00FFFF"/>
                </a:highlight>
                <a:latin typeface="Times New Roman" panose="02020603050405020304" pitchFamily="18" charset="0"/>
                <a:cs typeface="Times New Roman" panose="02020603050405020304" pitchFamily="18" charset="0"/>
              </a:rPr>
              <a:t>We can handle that with an else block</a:t>
            </a:r>
            <a:endParaRPr lang="en-US" b="0" i="0" dirty="0">
              <a:solidFill>
                <a:srgbClr val="000000"/>
              </a:solidFill>
              <a:effectLst/>
              <a:highlight>
                <a:srgbClr val="00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577262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142B7E-1FA5-F075-E906-C7CFBD7ED2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9DEB9D03-BE3B-0FE7-F1B7-E763D2656BE3}"/>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IF-ELSE-STATEMENT</a:t>
            </a:r>
          </a:p>
        </p:txBody>
      </p:sp>
      <p:sp>
        <p:nvSpPr>
          <p:cNvPr id="9" name="TextBox 8">
            <a:extLst>
              <a:ext uri="{FF2B5EF4-FFF2-40B4-BE49-F238E27FC236}">
                <a16:creationId xmlns:a16="http://schemas.microsoft.com/office/drawing/2014/main" xmlns="" id="{EBDC423B-8A2E-3C45-366A-68B4761DFDC4}"/>
              </a:ext>
            </a:extLst>
          </p:cNvPr>
          <p:cNvSpPr txBox="1"/>
          <p:nvPr/>
        </p:nvSpPr>
        <p:spPr>
          <a:xfrm>
            <a:off x="10642985" y="6465058"/>
            <a:ext cx="1413898" cy="284533"/>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pic>
        <p:nvPicPr>
          <p:cNvPr id="3" name="Picture 2">
            <a:extLst>
              <a:ext uri="{FF2B5EF4-FFF2-40B4-BE49-F238E27FC236}">
                <a16:creationId xmlns:a16="http://schemas.microsoft.com/office/drawing/2014/main" xmlns="" id="{6B5AC817-9243-CA63-ADFC-2B6D4D67C109}"/>
              </a:ext>
            </a:extLst>
          </p:cNvPr>
          <p:cNvPicPr>
            <a:picLocks noChangeAspect="1"/>
          </p:cNvPicPr>
          <p:nvPr/>
        </p:nvPicPr>
        <p:blipFill>
          <a:blip r:embed="rId2"/>
          <a:stretch>
            <a:fillRect/>
          </a:stretch>
        </p:blipFill>
        <p:spPr>
          <a:xfrm>
            <a:off x="150952" y="1051039"/>
            <a:ext cx="10267950" cy="248602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xmlns="" id="{9A957F65-71B6-D686-1F8E-252C2B634BD2}"/>
              </a:ext>
            </a:extLst>
          </p:cNvPr>
          <p:cNvSpPr txBox="1"/>
          <p:nvPr/>
        </p:nvSpPr>
        <p:spPr>
          <a:xfrm>
            <a:off x="6096000" y="1581521"/>
            <a:ext cx="4260915" cy="1477328"/>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Notice that it did not print anything on the screen. That is because the condition is False. And hence, it did not execute the block. Lets say we want to print some text if the condition is false.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B614DC89-3513-BF3A-46D4-0C27FD3382FC}"/>
              </a:ext>
            </a:extLst>
          </p:cNvPr>
          <p:cNvPicPr>
            <a:picLocks noChangeAspect="1"/>
          </p:cNvPicPr>
          <p:nvPr/>
        </p:nvPicPr>
        <p:blipFill>
          <a:blip r:embed="rId3"/>
          <a:stretch>
            <a:fillRect/>
          </a:stretch>
        </p:blipFill>
        <p:spPr>
          <a:xfrm>
            <a:off x="150952" y="3695329"/>
            <a:ext cx="10267950" cy="2969422"/>
          </a:xfrm>
          <a:prstGeom prst="rect">
            <a:avLst/>
          </a:prstGeom>
          <a:ln>
            <a:noFill/>
          </a:ln>
          <a:effectLst>
            <a:outerShdw blurRad="292100" dist="139700" dir="2700000" algn="tl" rotWithShape="0">
              <a:srgbClr val="333333">
                <a:alpha val="65000"/>
              </a:srgbClr>
            </a:outerShdw>
          </a:effectLst>
        </p:spPr>
      </p:pic>
      <p:cxnSp>
        <p:nvCxnSpPr>
          <p:cNvPr id="13" name="Straight Arrow Connector 12">
            <a:extLst>
              <a:ext uri="{FF2B5EF4-FFF2-40B4-BE49-F238E27FC236}">
                <a16:creationId xmlns:a16="http://schemas.microsoft.com/office/drawing/2014/main" xmlns="" id="{5981EFA5-387D-2721-BD10-42C7B08AF12D}"/>
              </a:ext>
            </a:extLst>
          </p:cNvPr>
          <p:cNvCxnSpPr>
            <a:cxnSpLocks/>
          </p:cNvCxnSpPr>
          <p:nvPr/>
        </p:nvCxnSpPr>
        <p:spPr>
          <a:xfrm flipH="1">
            <a:off x="721728" y="6019845"/>
            <a:ext cx="626353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67DC6599-4345-E47C-97D3-2D4BB62B8D64}"/>
              </a:ext>
            </a:extLst>
          </p:cNvPr>
          <p:cNvSpPr txBox="1"/>
          <p:nvPr/>
        </p:nvSpPr>
        <p:spPr>
          <a:xfrm>
            <a:off x="6985263" y="5406851"/>
            <a:ext cx="3120272" cy="1200329"/>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We included the else: block so that if the condition fails, we can still print some text on the screen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xmlns="" id="{C54DA7ED-B8BE-5F09-7699-3FD63EC7F246}"/>
              </a:ext>
            </a:extLst>
          </p:cNvPr>
          <p:cNvCxnSpPr>
            <a:cxnSpLocks/>
          </p:cNvCxnSpPr>
          <p:nvPr/>
        </p:nvCxnSpPr>
        <p:spPr>
          <a:xfrm flipV="1">
            <a:off x="7514478" y="4110087"/>
            <a:ext cx="0" cy="12967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9078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00D1FCD-1B6B-4949-FC40-288EF08392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CE193437-C858-33AD-A4A5-65C3C8C3D7A5}"/>
              </a:ext>
            </a:extLst>
          </p:cNvPr>
          <p:cNvSpPr txBox="1"/>
          <p:nvPr/>
        </p:nvSpPr>
        <p:spPr>
          <a:xfrm>
            <a:off x="0" y="527819"/>
            <a:ext cx="7514478" cy="523220"/>
          </a:xfrm>
          <a:prstGeom prst="rect">
            <a:avLst/>
          </a:prstGeom>
          <a:noFill/>
        </p:spPr>
        <p:txBody>
          <a:bodyPr wrap="square" rtlCol="0">
            <a:spAutoFit/>
          </a:bodyPr>
          <a:lstStyle/>
          <a:p>
            <a:r>
              <a:rPr lang="en-US" sz="2800" b="1" dirty="0">
                <a:latin typeface="Arial Rounded MT Bold" panose="020F0704030504030204" pitchFamily="34" charset="0"/>
              </a:rPr>
              <a:t>IF-ELIF-STATEMENT</a:t>
            </a:r>
          </a:p>
        </p:txBody>
      </p:sp>
      <p:sp>
        <p:nvSpPr>
          <p:cNvPr id="9" name="TextBox 8">
            <a:extLst>
              <a:ext uri="{FF2B5EF4-FFF2-40B4-BE49-F238E27FC236}">
                <a16:creationId xmlns:a16="http://schemas.microsoft.com/office/drawing/2014/main" xmlns="" id="{3606CE06-FE20-EFB8-77B6-4A4708A9DEEF}"/>
              </a:ext>
            </a:extLst>
          </p:cNvPr>
          <p:cNvSpPr txBox="1"/>
          <p:nvPr/>
        </p:nvSpPr>
        <p:spPr>
          <a:xfrm>
            <a:off x="10642985" y="6465058"/>
            <a:ext cx="1413898" cy="284533"/>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B81D9537-6B9E-65F2-8CEA-40039319B1E0}"/>
              </a:ext>
            </a:extLst>
          </p:cNvPr>
          <p:cNvSpPr txBox="1"/>
          <p:nvPr/>
        </p:nvSpPr>
        <p:spPr>
          <a:xfrm>
            <a:off x="149527" y="1120676"/>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Sometimes you may want to test multiple conditions. In that case, we employ the if-</a:t>
            </a:r>
            <a:r>
              <a:rPr lang="en-US" dirty="0" err="1">
                <a:latin typeface="Times New Roman" panose="02020603050405020304" pitchFamily="18" charset="0"/>
                <a:cs typeface="Times New Roman" panose="02020603050405020304" pitchFamily="18" charset="0"/>
              </a:rPr>
              <a:t>elif</a:t>
            </a:r>
            <a:r>
              <a:rPr lang="en-US" dirty="0">
                <a:latin typeface="Times New Roman" panose="02020603050405020304" pitchFamily="18" charset="0"/>
                <a:cs typeface="Times New Roman" panose="02020603050405020304" pitchFamily="18" charset="0"/>
              </a:rPr>
              <a:t> statement</a:t>
            </a:r>
            <a:endParaRPr lang="aa-ET"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DE106A69-56FE-8887-91CA-5FA60AE3D65D}"/>
              </a:ext>
            </a:extLst>
          </p:cNvPr>
          <p:cNvPicPr>
            <a:picLocks noChangeAspect="1"/>
          </p:cNvPicPr>
          <p:nvPr/>
        </p:nvPicPr>
        <p:blipFill>
          <a:blip r:embed="rId2"/>
          <a:stretch>
            <a:fillRect/>
          </a:stretch>
        </p:blipFill>
        <p:spPr>
          <a:xfrm>
            <a:off x="465055" y="1915353"/>
            <a:ext cx="8235884" cy="4037513"/>
          </a:xfrm>
          <a:prstGeom prst="rect">
            <a:avLst/>
          </a:prstGeom>
          <a:ln>
            <a:noFill/>
          </a:ln>
          <a:effectLst>
            <a:outerShdw blurRad="292100" dist="139700" dir="2700000" algn="tl" rotWithShape="0">
              <a:srgbClr val="333333">
                <a:alpha val="65000"/>
              </a:srgbClr>
            </a:outerShdw>
          </a:effectLst>
        </p:spPr>
      </p:pic>
      <p:cxnSp>
        <p:nvCxnSpPr>
          <p:cNvPr id="13" name="Straight Arrow Connector 12">
            <a:extLst>
              <a:ext uri="{FF2B5EF4-FFF2-40B4-BE49-F238E27FC236}">
                <a16:creationId xmlns:a16="http://schemas.microsoft.com/office/drawing/2014/main" xmlns="" id="{6812487B-E0E0-DEEE-37BD-07A921C649A4}"/>
              </a:ext>
            </a:extLst>
          </p:cNvPr>
          <p:cNvCxnSpPr>
            <a:cxnSpLocks/>
            <a:stCxn id="15" idx="1"/>
          </p:cNvCxnSpPr>
          <p:nvPr/>
        </p:nvCxnSpPr>
        <p:spPr>
          <a:xfrm flipH="1" flipV="1">
            <a:off x="1659118" y="3934109"/>
            <a:ext cx="4172016" cy="2564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F89C3526-2584-230C-1C2A-9E4CE0403F2D}"/>
              </a:ext>
            </a:extLst>
          </p:cNvPr>
          <p:cNvCxnSpPr>
            <a:cxnSpLocks/>
          </p:cNvCxnSpPr>
          <p:nvPr/>
        </p:nvCxnSpPr>
        <p:spPr>
          <a:xfrm flipH="1">
            <a:off x="1683341" y="4487159"/>
            <a:ext cx="4147793" cy="2686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D66980F5-8A67-8520-2FA6-622CA1359560}"/>
              </a:ext>
            </a:extLst>
          </p:cNvPr>
          <p:cNvSpPr txBox="1"/>
          <p:nvPr/>
        </p:nvSpPr>
        <p:spPr>
          <a:xfrm>
            <a:off x="5831134" y="3728880"/>
            <a:ext cx="3120272" cy="923330"/>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We included the </a:t>
            </a:r>
            <a:r>
              <a:rPr lang="en-US" dirty="0" err="1">
                <a:solidFill>
                  <a:srgbClr val="000000"/>
                </a:solidFill>
                <a:highlight>
                  <a:srgbClr val="FF00FF"/>
                </a:highlight>
                <a:latin typeface="Times New Roman" panose="02020603050405020304" pitchFamily="18" charset="0"/>
                <a:cs typeface="Times New Roman" panose="02020603050405020304" pitchFamily="18" charset="0"/>
              </a:rPr>
              <a:t>elif</a:t>
            </a:r>
            <a:r>
              <a:rPr lang="en-US" dirty="0">
                <a:solidFill>
                  <a:srgbClr val="000000"/>
                </a:solidFill>
                <a:highlight>
                  <a:srgbClr val="FF00FF"/>
                </a:highlight>
                <a:latin typeface="Times New Roman" panose="02020603050405020304" pitchFamily="18" charset="0"/>
                <a:cs typeface="Times New Roman" panose="02020603050405020304" pitchFamily="18" charset="0"/>
              </a:rPr>
              <a:t> to check two more conditions. You can add as many as you wish</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xmlns="" id="{90C54785-0C95-3EA6-9A99-611448C7AEA5}"/>
              </a:ext>
            </a:extLst>
          </p:cNvPr>
          <p:cNvCxnSpPr>
            <a:cxnSpLocks/>
          </p:cNvCxnSpPr>
          <p:nvPr/>
        </p:nvCxnSpPr>
        <p:spPr>
          <a:xfrm flipH="1" flipV="1">
            <a:off x="961534" y="5410986"/>
            <a:ext cx="4590854" cy="848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29588CC9-E2E0-1AA5-BB76-84E2F9E7381A}"/>
              </a:ext>
            </a:extLst>
          </p:cNvPr>
          <p:cNvSpPr txBox="1"/>
          <p:nvPr/>
        </p:nvSpPr>
        <p:spPr>
          <a:xfrm>
            <a:off x="5552388" y="5260221"/>
            <a:ext cx="3120272"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The else block</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2629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4EFEC4-B64C-63C3-5893-F945BC63F6F8}"/>
            </a:ext>
          </a:extLst>
        </p:cNvPr>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7283A289-3AB8-7720-E455-AB3EF0C6F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51CEEF0F-4650-B9A2-3DF1-BE46F94DBA09}"/>
              </a:ext>
            </a:extLst>
          </p:cNvPr>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BC0A558E-904D-B9EF-B17B-4A657892D44D}"/>
              </a:ext>
            </a:extLst>
          </p:cNvPr>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LOOPS</a:t>
            </a:r>
          </a:p>
        </p:txBody>
      </p:sp>
    </p:spTree>
    <p:extLst>
      <p:ext uri="{BB962C8B-B14F-4D97-AF65-F5344CB8AC3E}">
        <p14:creationId xmlns:p14="http://schemas.microsoft.com/office/powerpoint/2010/main" val="149115517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055109-3F1C-DA1B-1C94-8400C0CBA0F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3D77E96A-F8E4-6EBE-F11B-136F01F3344C}"/>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LOOPS</a:t>
            </a:r>
          </a:p>
        </p:txBody>
      </p:sp>
      <p:sp>
        <p:nvSpPr>
          <p:cNvPr id="8" name="Rectangle 7">
            <a:extLst>
              <a:ext uri="{FF2B5EF4-FFF2-40B4-BE49-F238E27FC236}">
                <a16:creationId xmlns:a16="http://schemas.microsoft.com/office/drawing/2014/main" xmlns="" id="{067EFE6F-89D5-B257-39F2-3119C886D92A}"/>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DAFD2360-AD8F-9CCC-0473-0F46D9B963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xmlns="" id="{FDAE42A1-6C36-C3F0-DAA6-9AAB9601D567}"/>
              </a:ext>
            </a:extLst>
          </p:cNvPr>
          <p:cNvSpPr txBox="1"/>
          <p:nvPr/>
        </p:nvSpPr>
        <p:spPr>
          <a:xfrm>
            <a:off x="377682" y="1313479"/>
            <a:ext cx="7215423" cy="2308324"/>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In programming, a </a:t>
            </a:r>
            <a:r>
              <a:rPr lang="en-US" b="0" i="0" dirty="0">
                <a:solidFill>
                  <a:schemeClr val="accent2"/>
                </a:solidFill>
                <a:effectLst/>
                <a:latin typeface="Times New Roman" panose="02020603050405020304" pitchFamily="18" charset="0"/>
                <a:cs typeface="Times New Roman" panose="02020603050405020304" pitchFamily="18" charset="0"/>
              </a:rPr>
              <a:t>loop</a:t>
            </a:r>
            <a:r>
              <a:rPr lang="en-US" b="0" i="0" dirty="0">
                <a:effectLst/>
                <a:latin typeface="Times New Roman" panose="02020603050405020304" pitchFamily="18" charset="0"/>
                <a:cs typeface="Times New Roman" panose="02020603050405020304" pitchFamily="18" charset="0"/>
              </a:rPr>
              <a:t> is a control flow statement that is used to repeatedly execute a group of statements as long as the condition is satisfied. Such a type of statement is also known as an iterative statement</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Python has two (2) primitive loop commands:</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loop</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While loop</a:t>
            </a:r>
            <a:endParaRPr lang="aa-E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13239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B927D8E-3641-045D-DB4F-C00F72D3DB4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DF23A676-E46E-8189-8598-EFDFDE3C2A28}"/>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FOR-LOOP</a:t>
            </a:r>
          </a:p>
        </p:txBody>
      </p:sp>
      <p:sp>
        <p:nvSpPr>
          <p:cNvPr id="8" name="Rectangle 7">
            <a:extLst>
              <a:ext uri="{FF2B5EF4-FFF2-40B4-BE49-F238E27FC236}">
                <a16:creationId xmlns:a16="http://schemas.microsoft.com/office/drawing/2014/main" xmlns="" id="{416AA4DE-3CD9-FAEE-1743-BFEE38154B54}"/>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659822F5-8D05-E1CD-8D3D-169E84B2F9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3749FD81-D76A-CF17-13A7-1BB51ED41B8E}"/>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FC278E5C-4B39-B273-B7EA-2A892409692F}"/>
              </a:ext>
            </a:extLst>
          </p:cNvPr>
          <p:cNvSpPr txBox="1"/>
          <p:nvPr/>
        </p:nvSpPr>
        <p:spPr>
          <a:xfrm>
            <a:off x="377682" y="131347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a:t>
            </a:r>
            <a:r>
              <a:rPr lang="en-US" b="0" i="0" dirty="0">
                <a:solidFill>
                  <a:schemeClr val="accent2"/>
                </a:solidFill>
                <a:effectLst/>
                <a:latin typeface="Times New Roman" panose="02020603050405020304" pitchFamily="18" charset="0"/>
                <a:cs typeface="Times New Roman" panose="02020603050405020304" pitchFamily="18" charset="0"/>
              </a:rPr>
              <a:t>for loop </a:t>
            </a:r>
            <a:r>
              <a:rPr lang="en-US" b="0" i="0" dirty="0">
                <a:effectLst/>
                <a:latin typeface="Times New Roman" panose="02020603050405020304" pitchFamily="18" charset="0"/>
                <a:cs typeface="Times New Roman" panose="02020603050405020304" pitchFamily="18" charset="0"/>
              </a:rPr>
              <a:t>is used for iterating over a sequence (that is either a list, a tuple, a dictionary, a set, or a string). The python for-loop is less like for-loops in several other programming languages</a:t>
            </a:r>
            <a:endParaRPr lang="aa-ET"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4CFF3C7E-CA8D-02D2-0B41-7C9C1B44CC9C}"/>
              </a:ext>
            </a:extLst>
          </p:cNvPr>
          <p:cNvPicPr>
            <a:picLocks noChangeAspect="1"/>
          </p:cNvPicPr>
          <p:nvPr/>
        </p:nvPicPr>
        <p:blipFill>
          <a:blip r:embed="rId3"/>
          <a:stretch>
            <a:fillRect/>
          </a:stretch>
        </p:blipFill>
        <p:spPr>
          <a:xfrm>
            <a:off x="775168" y="2327336"/>
            <a:ext cx="3063990" cy="3541860"/>
          </a:xfrm>
          <a:prstGeom prst="rect">
            <a:avLst/>
          </a:prstGeom>
        </p:spPr>
      </p:pic>
      <p:pic>
        <p:nvPicPr>
          <p:cNvPr id="6" name="Picture 5">
            <a:extLst>
              <a:ext uri="{FF2B5EF4-FFF2-40B4-BE49-F238E27FC236}">
                <a16:creationId xmlns:a16="http://schemas.microsoft.com/office/drawing/2014/main" xmlns="" id="{650DCEEC-8BC2-F7AD-D6F8-3FD8CECD0FA2}"/>
              </a:ext>
            </a:extLst>
          </p:cNvPr>
          <p:cNvPicPr>
            <a:picLocks noChangeAspect="1"/>
          </p:cNvPicPr>
          <p:nvPr/>
        </p:nvPicPr>
        <p:blipFill>
          <a:blip r:embed="rId4"/>
          <a:stretch>
            <a:fillRect/>
          </a:stretch>
        </p:blipFill>
        <p:spPr>
          <a:xfrm>
            <a:off x="4048896" y="2992446"/>
            <a:ext cx="3544209" cy="1916766"/>
          </a:xfrm>
          <a:prstGeom prst="rect">
            <a:avLst/>
          </a:prstGeom>
        </p:spPr>
      </p:pic>
    </p:spTree>
    <p:extLst>
      <p:ext uri="{BB962C8B-B14F-4D97-AF65-F5344CB8AC3E}">
        <p14:creationId xmlns:p14="http://schemas.microsoft.com/office/powerpoint/2010/main" val="11339972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3FDA236-3C5F-014A-4F97-07AD710142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F720750F-905E-1FAF-7A64-94C1EEF30711}"/>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FOR-LOOP</a:t>
            </a:r>
          </a:p>
        </p:txBody>
      </p:sp>
      <p:sp>
        <p:nvSpPr>
          <p:cNvPr id="8" name="Rectangle 7">
            <a:extLst>
              <a:ext uri="{FF2B5EF4-FFF2-40B4-BE49-F238E27FC236}">
                <a16:creationId xmlns:a16="http://schemas.microsoft.com/office/drawing/2014/main" xmlns="" id="{838129E9-ADA5-D3D0-D920-D0EB70D6A25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F75A5555-A461-7765-ED66-114EC0BDDC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6EB09ABE-16F0-6789-1B63-E930C6246007}"/>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pic>
        <p:nvPicPr>
          <p:cNvPr id="7" name="Picture 6">
            <a:extLst>
              <a:ext uri="{FF2B5EF4-FFF2-40B4-BE49-F238E27FC236}">
                <a16:creationId xmlns:a16="http://schemas.microsoft.com/office/drawing/2014/main" xmlns="" id="{3A5586C1-35A8-69E7-F53F-1C9C5D0D5A93}"/>
              </a:ext>
            </a:extLst>
          </p:cNvPr>
          <p:cNvPicPr>
            <a:picLocks noChangeAspect="1"/>
          </p:cNvPicPr>
          <p:nvPr/>
        </p:nvPicPr>
        <p:blipFill>
          <a:blip r:embed="rId3"/>
          <a:stretch>
            <a:fillRect/>
          </a:stretch>
        </p:blipFill>
        <p:spPr>
          <a:xfrm>
            <a:off x="407893" y="1474260"/>
            <a:ext cx="4314825" cy="1206726"/>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xmlns="" id="{2804F247-A9B4-B1F4-37AF-BC9376B8A76B}"/>
              </a:ext>
            </a:extLst>
          </p:cNvPr>
          <p:cNvPicPr>
            <a:picLocks noChangeAspect="1"/>
          </p:cNvPicPr>
          <p:nvPr/>
        </p:nvPicPr>
        <p:blipFill>
          <a:blip r:embed="rId4"/>
          <a:stretch>
            <a:fillRect/>
          </a:stretch>
        </p:blipFill>
        <p:spPr>
          <a:xfrm>
            <a:off x="407893" y="2954204"/>
            <a:ext cx="4314825" cy="904875"/>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xmlns="" id="{828F5BEE-63FF-D7CB-DD03-39708481D98B}"/>
              </a:ext>
            </a:extLst>
          </p:cNvPr>
          <p:cNvPicPr>
            <a:picLocks noChangeAspect="1"/>
          </p:cNvPicPr>
          <p:nvPr/>
        </p:nvPicPr>
        <p:blipFill>
          <a:blip r:embed="rId5"/>
          <a:stretch>
            <a:fillRect/>
          </a:stretch>
        </p:blipFill>
        <p:spPr>
          <a:xfrm>
            <a:off x="407893" y="4269187"/>
            <a:ext cx="4317205" cy="993095"/>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xmlns="" id="{19D4D710-701D-AF13-64BD-DF8C45DF0EF1}"/>
              </a:ext>
            </a:extLst>
          </p:cNvPr>
          <p:cNvSpPr txBox="1"/>
          <p:nvPr/>
        </p:nvSpPr>
        <p:spPr>
          <a:xfrm>
            <a:off x="5829860" y="2768785"/>
            <a:ext cx="1844692"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Variable names. It can be anything</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xmlns="" id="{21D4754A-A58F-5CCA-B405-A5C424623803}"/>
              </a:ext>
            </a:extLst>
          </p:cNvPr>
          <p:cNvCxnSpPr>
            <a:cxnSpLocks/>
          </p:cNvCxnSpPr>
          <p:nvPr/>
        </p:nvCxnSpPr>
        <p:spPr>
          <a:xfrm flipH="1">
            <a:off x="1243457" y="2954204"/>
            <a:ext cx="4592567" cy="141921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668FB966-13CA-ADB4-43A2-45CEDA85EB2B}"/>
              </a:ext>
            </a:extLst>
          </p:cNvPr>
          <p:cNvCxnSpPr>
            <a:cxnSpLocks/>
          </p:cNvCxnSpPr>
          <p:nvPr/>
        </p:nvCxnSpPr>
        <p:spPr>
          <a:xfrm flipH="1" flipV="1">
            <a:off x="1515035" y="2056257"/>
            <a:ext cx="4320989" cy="8971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xmlns="" id="{561A597D-684A-69BE-DF7D-635C287D33B0}"/>
              </a:ext>
            </a:extLst>
          </p:cNvPr>
          <p:cNvSpPr txBox="1"/>
          <p:nvPr/>
        </p:nvSpPr>
        <p:spPr>
          <a:xfrm>
            <a:off x="5780730" y="993120"/>
            <a:ext cx="1844692"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Items to loop through</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24" name="Straight Arrow Connector 23">
            <a:extLst>
              <a:ext uri="{FF2B5EF4-FFF2-40B4-BE49-F238E27FC236}">
                <a16:creationId xmlns:a16="http://schemas.microsoft.com/office/drawing/2014/main" xmlns="" id="{75BC01B8-8CD7-873E-A6B0-58ECAE322FB2}"/>
              </a:ext>
            </a:extLst>
          </p:cNvPr>
          <p:cNvCxnSpPr>
            <a:cxnSpLocks/>
          </p:cNvCxnSpPr>
          <p:nvPr/>
        </p:nvCxnSpPr>
        <p:spPr>
          <a:xfrm flipH="1">
            <a:off x="3675529" y="1316662"/>
            <a:ext cx="2119268" cy="397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29732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E1E32D-EEF9-856A-A3CB-1D72B90F98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231322FD-5B3D-27E2-CE2C-C46ABB89AAFE}"/>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FOR-LOOP: BREAK AND CONTINUE</a:t>
            </a:r>
          </a:p>
        </p:txBody>
      </p:sp>
      <p:sp>
        <p:nvSpPr>
          <p:cNvPr id="8" name="Rectangle 7">
            <a:extLst>
              <a:ext uri="{FF2B5EF4-FFF2-40B4-BE49-F238E27FC236}">
                <a16:creationId xmlns:a16="http://schemas.microsoft.com/office/drawing/2014/main" xmlns="" id="{60686B8B-875F-3F8C-6E54-308BD37C4CE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8D148B08-BE00-E199-475C-46BDCBB4A2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8A086024-5670-A76A-E9CF-A36B500FC3B2}"/>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43C7F67F-A850-F785-383B-B8CE41DF21FC}"/>
              </a:ext>
            </a:extLst>
          </p:cNvPr>
          <p:cNvSpPr txBox="1"/>
          <p:nvPr/>
        </p:nvSpPr>
        <p:spPr>
          <a:xfrm>
            <a:off x="377682" y="131347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a:t>
            </a:r>
            <a:r>
              <a:rPr lang="en-US" dirty="0">
                <a:solidFill>
                  <a:schemeClr val="accent2"/>
                </a:solidFill>
                <a:latin typeface="Times New Roman" panose="02020603050405020304" pitchFamily="18" charset="0"/>
                <a:cs typeface="Times New Roman" panose="02020603050405020304" pitchFamily="18" charset="0"/>
              </a:rPr>
              <a:t>break</a:t>
            </a:r>
            <a:r>
              <a:rPr lang="en-US" b="0" i="0" dirty="0">
                <a:solidFill>
                  <a:schemeClr val="accent2"/>
                </a:solidFill>
                <a:effectLst/>
                <a:latin typeface="Times New Roman" panose="02020603050405020304" pitchFamily="18" charset="0"/>
                <a:cs typeface="Times New Roman" panose="02020603050405020304" pitchFamily="18" charset="0"/>
              </a:rPr>
              <a:t> and continue </a:t>
            </a:r>
            <a:r>
              <a:rPr lang="en-US" b="0" i="0" dirty="0">
                <a:effectLst/>
                <a:latin typeface="Times New Roman" panose="02020603050405020304" pitchFamily="18" charset="0"/>
                <a:cs typeface="Times New Roman" panose="02020603050405020304" pitchFamily="18" charset="0"/>
              </a:rPr>
              <a:t>keywords are important for stepping out of the loop and skipping items respectively.</a:t>
            </a:r>
            <a:endParaRPr lang="aa-ET"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xmlns="" id="{389C73C9-2D2D-A6CF-196F-956F490A6720}"/>
              </a:ext>
            </a:extLst>
          </p:cNvPr>
          <p:cNvPicPr>
            <a:picLocks noChangeAspect="1"/>
          </p:cNvPicPr>
          <p:nvPr/>
        </p:nvPicPr>
        <p:blipFill>
          <a:blip r:embed="rId3"/>
          <a:stretch>
            <a:fillRect/>
          </a:stretch>
        </p:blipFill>
        <p:spPr>
          <a:xfrm>
            <a:off x="681640" y="2646746"/>
            <a:ext cx="6029325" cy="1171575"/>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xmlns="" id="{68B5C6A9-BEC5-2E3C-9CF4-9E2332E22875}"/>
              </a:ext>
            </a:extLst>
          </p:cNvPr>
          <p:cNvSpPr txBox="1"/>
          <p:nvPr/>
        </p:nvSpPr>
        <p:spPr>
          <a:xfrm>
            <a:off x="600959" y="2229631"/>
            <a:ext cx="7215423" cy="369332"/>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The </a:t>
            </a:r>
            <a:r>
              <a:rPr lang="en-US" dirty="0">
                <a:solidFill>
                  <a:schemeClr val="accent2"/>
                </a:solidFill>
                <a:latin typeface="Times New Roman" panose="02020603050405020304" pitchFamily="18" charset="0"/>
                <a:cs typeface="Times New Roman" panose="02020603050405020304" pitchFamily="18" charset="0"/>
              </a:rPr>
              <a:t>break</a:t>
            </a:r>
            <a:r>
              <a:rPr lang="en-US" b="0" i="0" dirty="0">
                <a:solidFill>
                  <a:schemeClr val="accent2"/>
                </a:solidFill>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keyword in action</a:t>
            </a:r>
            <a:endParaRPr lang="aa-ET"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E1A3B765-F073-C1B8-6812-ADEE192D533A}"/>
              </a:ext>
            </a:extLst>
          </p:cNvPr>
          <p:cNvSpPr txBox="1"/>
          <p:nvPr/>
        </p:nvSpPr>
        <p:spPr>
          <a:xfrm>
            <a:off x="600959" y="4333924"/>
            <a:ext cx="4481166" cy="923330"/>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If it gets to the condition where fruit is banana, it breaks our of the loop. Meaning, it will not loop through any item after banana</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xmlns="" id="{D6609E85-B94B-762D-D060-46BDCD860E9C}"/>
              </a:ext>
            </a:extLst>
          </p:cNvPr>
          <p:cNvCxnSpPr>
            <a:cxnSpLocks/>
          </p:cNvCxnSpPr>
          <p:nvPr/>
        </p:nvCxnSpPr>
        <p:spPr>
          <a:xfrm flipV="1">
            <a:off x="1216489" y="3682506"/>
            <a:ext cx="0" cy="7005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42DE7F07-0B0F-DD2E-78FC-1FB13043493D}"/>
              </a:ext>
            </a:extLst>
          </p:cNvPr>
          <p:cNvCxnSpPr>
            <a:cxnSpLocks/>
          </p:cNvCxnSpPr>
          <p:nvPr/>
        </p:nvCxnSpPr>
        <p:spPr>
          <a:xfrm flipH="1" flipV="1">
            <a:off x="5376113" y="3332246"/>
            <a:ext cx="486805" cy="9170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56653719-EA00-4294-9CCE-6BD992FB4AC8}"/>
              </a:ext>
            </a:extLst>
          </p:cNvPr>
          <p:cNvSpPr txBox="1"/>
          <p:nvPr/>
        </p:nvSpPr>
        <p:spPr>
          <a:xfrm>
            <a:off x="5464161" y="4266816"/>
            <a:ext cx="2352218"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Cherry??</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772226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86F1831-60C8-C8EA-9BDB-A6FC8DB925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96224D9-919A-05D2-3695-7BF970E20350}"/>
              </a:ext>
            </a:extLst>
          </p:cNvPr>
          <p:cNvPicPr>
            <a:picLocks noChangeAspect="1"/>
          </p:cNvPicPr>
          <p:nvPr/>
        </p:nvPicPr>
        <p:blipFill>
          <a:blip r:embed="rId2"/>
          <a:stretch>
            <a:fillRect/>
          </a:stretch>
        </p:blipFill>
        <p:spPr>
          <a:xfrm>
            <a:off x="648303" y="2577864"/>
            <a:ext cx="5534025" cy="1190625"/>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48837E08-D7C0-B080-AE8C-424E4F6BDFDE}"/>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FOR-LOOP: BREAK AND CONTINUE</a:t>
            </a:r>
          </a:p>
        </p:txBody>
      </p:sp>
      <p:sp>
        <p:nvSpPr>
          <p:cNvPr id="8" name="Rectangle 7">
            <a:extLst>
              <a:ext uri="{FF2B5EF4-FFF2-40B4-BE49-F238E27FC236}">
                <a16:creationId xmlns:a16="http://schemas.microsoft.com/office/drawing/2014/main" xmlns="" id="{0697697F-57EA-6D76-5EFD-61E305062BF1}"/>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E05E67E0-D287-482E-0872-F5A9E5EDDF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9671925B-19A5-B34E-7FC5-D22D139B3728}"/>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1293A563-5179-F902-1A40-37D8BF316BFD}"/>
              </a:ext>
            </a:extLst>
          </p:cNvPr>
          <p:cNvSpPr txBox="1"/>
          <p:nvPr/>
        </p:nvSpPr>
        <p:spPr>
          <a:xfrm>
            <a:off x="377682" y="131347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a:t>
            </a:r>
            <a:r>
              <a:rPr lang="en-US" dirty="0">
                <a:solidFill>
                  <a:schemeClr val="accent2"/>
                </a:solidFill>
                <a:latin typeface="Times New Roman" panose="02020603050405020304" pitchFamily="18" charset="0"/>
                <a:cs typeface="Times New Roman" panose="02020603050405020304" pitchFamily="18" charset="0"/>
              </a:rPr>
              <a:t>break</a:t>
            </a:r>
            <a:r>
              <a:rPr lang="en-US" b="0" i="0" dirty="0">
                <a:solidFill>
                  <a:schemeClr val="accent2"/>
                </a:solidFill>
                <a:effectLst/>
                <a:latin typeface="Times New Roman" panose="02020603050405020304" pitchFamily="18" charset="0"/>
                <a:cs typeface="Times New Roman" panose="02020603050405020304" pitchFamily="18" charset="0"/>
              </a:rPr>
              <a:t> and continue </a:t>
            </a:r>
            <a:r>
              <a:rPr lang="en-US" b="0" i="0" dirty="0">
                <a:effectLst/>
                <a:latin typeface="Times New Roman" panose="02020603050405020304" pitchFamily="18" charset="0"/>
                <a:cs typeface="Times New Roman" panose="02020603050405020304" pitchFamily="18" charset="0"/>
              </a:rPr>
              <a:t>keywords are important for stepping out of the loop and skipping items respectively.</a:t>
            </a:r>
            <a:endParaRPr lang="aa-ET"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xmlns="" id="{4F7F9A27-668D-DE8C-583F-C4ED828A3B29}"/>
              </a:ext>
            </a:extLst>
          </p:cNvPr>
          <p:cNvSpPr txBox="1"/>
          <p:nvPr/>
        </p:nvSpPr>
        <p:spPr>
          <a:xfrm>
            <a:off x="600959" y="2229631"/>
            <a:ext cx="7215423" cy="369332"/>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The </a:t>
            </a:r>
            <a:r>
              <a:rPr lang="en-US" dirty="0">
                <a:solidFill>
                  <a:schemeClr val="accent2"/>
                </a:solidFill>
                <a:latin typeface="Times New Roman" panose="02020603050405020304" pitchFamily="18" charset="0"/>
                <a:cs typeface="Times New Roman" panose="02020603050405020304" pitchFamily="18" charset="0"/>
              </a:rPr>
              <a:t>continue</a:t>
            </a:r>
            <a:r>
              <a:rPr lang="en-US" b="0" i="0" dirty="0">
                <a:solidFill>
                  <a:schemeClr val="accent2"/>
                </a:solidFill>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keyword in action</a:t>
            </a:r>
            <a:endParaRPr lang="aa-ET"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73720070-0559-13FE-4927-0C0AF1CE48C8}"/>
              </a:ext>
            </a:extLst>
          </p:cNvPr>
          <p:cNvSpPr txBox="1"/>
          <p:nvPr/>
        </p:nvSpPr>
        <p:spPr>
          <a:xfrm>
            <a:off x="600959" y="4333924"/>
            <a:ext cx="4481166" cy="923330"/>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If it gets to the condition where fruit is banana, it skips it. And continue looping over the rest of the items </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xmlns="" id="{7F32316F-75C7-5E85-C52D-48E69247F28A}"/>
              </a:ext>
            </a:extLst>
          </p:cNvPr>
          <p:cNvCxnSpPr>
            <a:cxnSpLocks/>
          </p:cNvCxnSpPr>
          <p:nvPr/>
        </p:nvCxnSpPr>
        <p:spPr>
          <a:xfrm flipH="1" flipV="1">
            <a:off x="1754371" y="3387847"/>
            <a:ext cx="630241" cy="9855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B616CE46-5C14-F3D2-684C-891266688D0D}"/>
              </a:ext>
            </a:extLst>
          </p:cNvPr>
          <p:cNvCxnSpPr>
            <a:cxnSpLocks/>
          </p:cNvCxnSpPr>
          <p:nvPr/>
        </p:nvCxnSpPr>
        <p:spPr>
          <a:xfrm flipH="1" flipV="1">
            <a:off x="5376113" y="3332246"/>
            <a:ext cx="486805" cy="9170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FA721E0B-A9CB-342E-3B1F-0FF6A886F585}"/>
              </a:ext>
            </a:extLst>
          </p:cNvPr>
          <p:cNvSpPr txBox="1"/>
          <p:nvPr/>
        </p:nvSpPr>
        <p:spPr>
          <a:xfrm>
            <a:off x="5464161" y="4266816"/>
            <a:ext cx="2352218"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Banana was skipped</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9816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DC3174A-8205-AE22-4CC9-F514EBB98A7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xmlns="" id="{61E98A08-1E82-E8C1-F9DC-734D30365117}"/>
              </a:ext>
            </a:extLst>
          </p:cNvPr>
          <p:cNvPicPr>
            <a:picLocks noChangeAspect="1"/>
          </p:cNvPicPr>
          <p:nvPr/>
        </p:nvPicPr>
        <p:blipFill>
          <a:blip r:embed="rId2"/>
          <a:stretch>
            <a:fillRect/>
          </a:stretch>
        </p:blipFill>
        <p:spPr>
          <a:xfrm>
            <a:off x="401731" y="1341548"/>
            <a:ext cx="5848350" cy="2428875"/>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696FB858-3221-9C67-94F2-81763D1D54B7}"/>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NESTED -FOR-LOOP</a:t>
            </a:r>
          </a:p>
        </p:txBody>
      </p:sp>
      <p:sp>
        <p:nvSpPr>
          <p:cNvPr id="8" name="Rectangle 7">
            <a:extLst>
              <a:ext uri="{FF2B5EF4-FFF2-40B4-BE49-F238E27FC236}">
                <a16:creationId xmlns:a16="http://schemas.microsoft.com/office/drawing/2014/main" xmlns="" id="{B66804D9-D01A-559B-0703-0732D5D7E3F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2C4B2F46-0602-9C06-D2C1-11A76FD5A7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82DD41D9-7DAC-681F-85A6-A55B89FD6EB0}"/>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Tree>
    <p:extLst>
      <p:ext uri="{BB962C8B-B14F-4D97-AF65-F5344CB8AC3E}">
        <p14:creationId xmlns:p14="http://schemas.microsoft.com/office/powerpoint/2010/main" val="29502993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4CB8E69-A902-28C1-6D63-3F1C9600B7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06F41209-BCD3-6C24-2481-A1231757D649}"/>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WHILE-LOOP</a:t>
            </a:r>
          </a:p>
        </p:txBody>
      </p:sp>
      <p:sp>
        <p:nvSpPr>
          <p:cNvPr id="8" name="Rectangle 7">
            <a:extLst>
              <a:ext uri="{FF2B5EF4-FFF2-40B4-BE49-F238E27FC236}">
                <a16:creationId xmlns:a16="http://schemas.microsoft.com/office/drawing/2014/main" xmlns="" id="{7592FF99-ECCF-D199-0CEC-E42F635A3B17}"/>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4E71F05D-1F37-9236-0DB6-58885B045A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64ABAD0A-B94A-85D3-9979-0811ADCA9BE1}"/>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E2079B82-A7EA-43CA-9595-54B520AAC977}"/>
              </a:ext>
            </a:extLst>
          </p:cNvPr>
          <p:cNvSpPr txBox="1"/>
          <p:nvPr/>
        </p:nvSpPr>
        <p:spPr>
          <a:xfrm>
            <a:off x="377682" y="1313479"/>
            <a:ext cx="7215423" cy="1200329"/>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With the </a:t>
            </a:r>
            <a:r>
              <a:rPr lang="en-US" b="0" i="0" dirty="0">
                <a:solidFill>
                  <a:schemeClr val="accent2"/>
                </a:solidFill>
                <a:effectLst/>
                <a:latin typeface="Times New Roman" panose="02020603050405020304" pitchFamily="18" charset="0"/>
                <a:cs typeface="Times New Roman" panose="02020603050405020304" pitchFamily="18" charset="0"/>
              </a:rPr>
              <a:t>while loop </a:t>
            </a:r>
            <a:r>
              <a:rPr lang="en-US" b="0" i="0" dirty="0">
                <a:effectLst/>
                <a:latin typeface="Times New Roman" panose="02020603050405020304" pitchFamily="18" charset="0"/>
                <a:cs typeface="Times New Roman" panose="02020603050405020304" pitchFamily="18" charset="0"/>
              </a:rPr>
              <a:t>we can execute a set of statements as long as a condition is true. The implication is that, we need to keep track of an updating element.</a:t>
            </a:r>
          </a:p>
          <a:p>
            <a:pPr marL="285750" indent="-285750" algn="l">
              <a:buFont typeface="Arial" panose="020B0604020202020204" pitchFamily="34" charset="0"/>
              <a:buChar char="•"/>
            </a:pPr>
            <a:endParaRPr lang="aa-ET"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6418D695-A86D-5E03-EC3F-3BE4FF264CAE}"/>
              </a:ext>
            </a:extLst>
          </p:cNvPr>
          <p:cNvPicPr>
            <a:picLocks noChangeAspect="1"/>
          </p:cNvPicPr>
          <p:nvPr/>
        </p:nvPicPr>
        <p:blipFill>
          <a:blip r:embed="rId3"/>
          <a:stretch>
            <a:fillRect/>
          </a:stretch>
        </p:blipFill>
        <p:spPr>
          <a:xfrm>
            <a:off x="301904" y="2430053"/>
            <a:ext cx="3932907" cy="3041552"/>
          </a:xfrm>
          <a:prstGeom prst="rect">
            <a:avLst/>
          </a:prstGeom>
        </p:spPr>
      </p:pic>
      <p:pic>
        <p:nvPicPr>
          <p:cNvPr id="11" name="Picture 10">
            <a:extLst>
              <a:ext uri="{FF2B5EF4-FFF2-40B4-BE49-F238E27FC236}">
                <a16:creationId xmlns:a16="http://schemas.microsoft.com/office/drawing/2014/main" xmlns="" id="{19691CD4-6CAD-8809-13C8-281295D9EE44}"/>
              </a:ext>
            </a:extLst>
          </p:cNvPr>
          <p:cNvPicPr>
            <a:picLocks noChangeAspect="1"/>
          </p:cNvPicPr>
          <p:nvPr/>
        </p:nvPicPr>
        <p:blipFill>
          <a:blip r:embed="rId4"/>
          <a:stretch>
            <a:fillRect/>
          </a:stretch>
        </p:blipFill>
        <p:spPr>
          <a:xfrm>
            <a:off x="4503865" y="3286990"/>
            <a:ext cx="3110014" cy="836775"/>
          </a:xfrm>
          <a:prstGeom prst="rect">
            <a:avLst/>
          </a:prstGeom>
        </p:spPr>
      </p:pic>
    </p:spTree>
    <p:extLst>
      <p:ext uri="{BB962C8B-B14F-4D97-AF65-F5344CB8AC3E}">
        <p14:creationId xmlns:p14="http://schemas.microsoft.com/office/powerpoint/2010/main" val="243501295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5BE2E3-4F22-5F41-8F46-CB53FB841B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xmlns="" id="{FA8F798F-6970-0E9B-6058-E987ADFE7E84}"/>
              </a:ext>
            </a:extLst>
          </p:cNvPr>
          <p:cNvPicPr>
            <a:picLocks noChangeAspect="1"/>
          </p:cNvPicPr>
          <p:nvPr/>
        </p:nvPicPr>
        <p:blipFill>
          <a:blip r:embed="rId2"/>
          <a:stretch>
            <a:fillRect/>
          </a:stretch>
        </p:blipFill>
        <p:spPr>
          <a:xfrm>
            <a:off x="440084" y="1492330"/>
            <a:ext cx="4012073" cy="1234484"/>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03FAB5F5-FDC9-F236-962E-723CF91F5277}"/>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WHILE-LOOP</a:t>
            </a:r>
          </a:p>
        </p:txBody>
      </p:sp>
      <p:sp>
        <p:nvSpPr>
          <p:cNvPr id="8" name="Rectangle 7">
            <a:extLst>
              <a:ext uri="{FF2B5EF4-FFF2-40B4-BE49-F238E27FC236}">
                <a16:creationId xmlns:a16="http://schemas.microsoft.com/office/drawing/2014/main" xmlns="" id="{07C11710-BB0E-878E-4EC6-6D49C603AEA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E3E48E11-396C-0914-78EA-309EFE7037D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39DA537E-293C-4519-0037-1FFE0A667918}"/>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14" name="TextBox 13">
            <a:extLst>
              <a:ext uri="{FF2B5EF4-FFF2-40B4-BE49-F238E27FC236}">
                <a16:creationId xmlns:a16="http://schemas.microsoft.com/office/drawing/2014/main" xmlns="" id="{13DA6802-0AF9-5197-3D4C-58183D19A9C6}"/>
              </a:ext>
            </a:extLst>
          </p:cNvPr>
          <p:cNvSpPr txBox="1"/>
          <p:nvPr/>
        </p:nvSpPr>
        <p:spPr>
          <a:xfrm>
            <a:off x="4922343" y="1918967"/>
            <a:ext cx="2347314" cy="1477328"/>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Updates the value of the conditioning item. We will get into an infinite loop without this line of code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008A38E1-7DE3-5397-B404-39BDBCC0A04F}"/>
              </a:ext>
            </a:extLst>
          </p:cNvPr>
          <p:cNvSpPr txBox="1"/>
          <p:nvPr/>
        </p:nvSpPr>
        <p:spPr>
          <a:xfrm>
            <a:off x="3679544" y="896537"/>
            <a:ext cx="2416456" cy="646331"/>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Execute as long as this condition is true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24" name="Straight Arrow Connector 23">
            <a:extLst>
              <a:ext uri="{FF2B5EF4-FFF2-40B4-BE49-F238E27FC236}">
                <a16:creationId xmlns:a16="http://schemas.microsoft.com/office/drawing/2014/main" xmlns="" id="{C7BA95B3-0A9F-F3F2-1526-36EC6A174696}"/>
              </a:ext>
            </a:extLst>
          </p:cNvPr>
          <p:cNvCxnSpPr>
            <a:cxnSpLocks/>
          </p:cNvCxnSpPr>
          <p:nvPr/>
        </p:nvCxnSpPr>
        <p:spPr>
          <a:xfrm flipH="1">
            <a:off x="1577035" y="1316285"/>
            <a:ext cx="2053671" cy="52194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xmlns="" id="{31273015-DF36-DEEA-8489-2F783E75F3E6}"/>
              </a:ext>
            </a:extLst>
          </p:cNvPr>
          <p:cNvCxnSpPr>
            <a:cxnSpLocks/>
          </p:cNvCxnSpPr>
          <p:nvPr/>
        </p:nvCxnSpPr>
        <p:spPr>
          <a:xfrm flipH="1" flipV="1">
            <a:off x="1577034" y="2536676"/>
            <a:ext cx="3389413" cy="513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xmlns="" id="{9A06C499-461E-DC37-9BEF-5FBD4B12B0A5}"/>
              </a:ext>
            </a:extLst>
          </p:cNvPr>
          <p:cNvPicPr>
            <a:picLocks noChangeAspect="1"/>
          </p:cNvPicPr>
          <p:nvPr/>
        </p:nvPicPr>
        <p:blipFill>
          <a:blip r:embed="rId4"/>
          <a:stretch>
            <a:fillRect/>
          </a:stretch>
        </p:blipFill>
        <p:spPr>
          <a:xfrm>
            <a:off x="440084" y="3977789"/>
            <a:ext cx="2743200" cy="1552575"/>
          </a:xfrm>
          <a:prstGeom prst="rect">
            <a:avLst/>
          </a:prstGeom>
          <a:ln>
            <a:no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xmlns="" id="{FA4419A8-8408-1686-1545-6F16A08DDE98}"/>
              </a:ext>
            </a:extLst>
          </p:cNvPr>
          <p:cNvPicPr>
            <a:picLocks noChangeAspect="1"/>
          </p:cNvPicPr>
          <p:nvPr/>
        </p:nvPicPr>
        <p:blipFill>
          <a:blip r:embed="rId5"/>
          <a:stretch>
            <a:fillRect/>
          </a:stretch>
        </p:blipFill>
        <p:spPr>
          <a:xfrm>
            <a:off x="3714491" y="3970904"/>
            <a:ext cx="2476500" cy="1609725"/>
          </a:xfrm>
          <a:prstGeom prst="rect">
            <a:avLst/>
          </a:prstGeom>
          <a:ln>
            <a:noFill/>
          </a:ln>
          <a:effectLst>
            <a:outerShdw blurRad="292100" dist="139700" dir="2700000" algn="tl" rotWithShape="0">
              <a:srgbClr val="333333">
                <a:alpha val="65000"/>
              </a:srgbClr>
            </a:outerShdw>
          </a:effectLst>
        </p:spPr>
      </p:pic>
      <p:sp>
        <p:nvSpPr>
          <p:cNvPr id="21" name="TextBox 20">
            <a:extLst>
              <a:ext uri="{FF2B5EF4-FFF2-40B4-BE49-F238E27FC236}">
                <a16:creationId xmlns:a16="http://schemas.microsoft.com/office/drawing/2014/main" xmlns="" id="{DF858E2D-C68D-74DF-35AE-BE2B4F4755B0}"/>
              </a:ext>
            </a:extLst>
          </p:cNvPr>
          <p:cNvSpPr txBox="1"/>
          <p:nvPr/>
        </p:nvSpPr>
        <p:spPr>
          <a:xfrm>
            <a:off x="3630706" y="5648332"/>
            <a:ext cx="3113597" cy="369332"/>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The </a:t>
            </a:r>
            <a:r>
              <a:rPr lang="en-US" dirty="0">
                <a:solidFill>
                  <a:schemeClr val="accent2"/>
                </a:solidFill>
                <a:latin typeface="Times New Roman" panose="02020603050405020304" pitchFamily="18" charset="0"/>
                <a:cs typeface="Times New Roman" panose="02020603050405020304" pitchFamily="18" charset="0"/>
              </a:rPr>
              <a:t>continue</a:t>
            </a:r>
            <a:r>
              <a:rPr lang="en-US" b="0" i="0" dirty="0">
                <a:solidFill>
                  <a:schemeClr val="accent2"/>
                </a:solidFill>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keyword in action</a:t>
            </a:r>
            <a:endParaRPr lang="aa-ET"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xmlns="" id="{ED708FA6-F8AA-586F-63B1-AD351043DAC8}"/>
              </a:ext>
            </a:extLst>
          </p:cNvPr>
          <p:cNvSpPr txBox="1"/>
          <p:nvPr/>
        </p:nvSpPr>
        <p:spPr>
          <a:xfrm>
            <a:off x="327597" y="5703306"/>
            <a:ext cx="2855688" cy="369332"/>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The </a:t>
            </a:r>
            <a:r>
              <a:rPr lang="en-US" dirty="0">
                <a:solidFill>
                  <a:schemeClr val="accent2"/>
                </a:solidFill>
                <a:latin typeface="Times New Roman" panose="02020603050405020304" pitchFamily="18" charset="0"/>
                <a:cs typeface="Times New Roman" panose="02020603050405020304" pitchFamily="18" charset="0"/>
              </a:rPr>
              <a:t>break</a:t>
            </a:r>
            <a:r>
              <a:rPr lang="en-US" b="0" i="0" dirty="0">
                <a:solidFill>
                  <a:schemeClr val="accent2"/>
                </a:solidFill>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keyword in action</a:t>
            </a:r>
            <a:endParaRPr lang="aa-ET" dirty="0">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xmlns="" id="{06FD7CBC-FB03-BC23-768B-A2853EC4E271}"/>
              </a:ext>
            </a:extLst>
          </p:cNvPr>
          <p:cNvSpPr/>
          <p:nvPr/>
        </p:nvSpPr>
        <p:spPr>
          <a:xfrm>
            <a:off x="11376715" y="6151237"/>
            <a:ext cx="710361" cy="7103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Check Point</a:t>
            </a:r>
          </a:p>
        </p:txBody>
      </p:sp>
    </p:spTree>
    <p:extLst>
      <p:ext uri="{BB962C8B-B14F-4D97-AF65-F5344CB8AC3E}">
        <p14:creationId xmlns:p14="http://schemas.microsoft.com/office/powerpoint/2010/main" val="34772277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214BD24-BCA8-7AC8-BAB6-D1862F478B3C}"/>
            </a:ext>
          </a:extLst>
        </p:cNvPr>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AC06A8DE-1D9C-4224-2027-25DD2AB0A4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3A69EE4D-3E34-CA92-8CB9-1EC562F6B723}"/>
              </a:ext>
            </a:extLst>
          </p:cNvPr>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DE5FAD8E-A063-4E28-6659-B2EAB3FD133B}"/>
              </a:ext>
            </a:extLst>
          </p:cNvPr>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FUNCTIONS</a:t>
            </a:r>
          </a:p>
        </p:txBody>
      </p:sp>
    </p:spTree>
    <p:extLst>
      <p:ext uri="{BB962C8B-B14F-4D97-AF65-F5344CB8AC3E}">
        <p14:creationId xmlns:p14="http://schemas.microsoft.com/office/powerpoint/2010/main" val="119018818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2A41F59-F57A-8D58-36FD-7162303E59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97C5B571-90AD-7754-7ED9-B0824EF1DCF7}"/>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FUNCTIONS</a:t>
            </a:r>
          </a:p>
        </p:txBody>
      </p:sp>
      <p:sp>
        <p:nvSpPr>
          <p:cNvPr id="8" name="Rectangle 7">
            <a:extLst>
              <a:ext uri="{FF2B5EF4-FFF2-40B4-BE49-F238E27FC236}">
                <a16:creationId xmlns:a16="http://schemas.microsoft.com/office/drawing/2014/main" xmlns="" id="{5AE14CE3-B2DF-68F5-1870-0441E1A24107}"/>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B6260ADC-E272-23D7-8D58-2B0CC298EA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EA42BDFF-C8D1-3CE3-F83E-AF7B8A90E164}"/>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BFADBCDE-5B17-60B9-6B99-7AEE95F2F2D6}"/>
              </a:ext>
            </a:extLst>
          </p:cNvPr>
          <p:cNvSpPr txBox="1"/>
          <p:nvPr/>
        </p:nvSpPr>
        <p:spPr>
          <a:xfrm>
            <a:off x="377682" y="131347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a:t>
            </a:r>
            <a:r>
              <a:rPr lang="en-US" b="0" i="0" dirty="0">
                <a:solidFill>
                  <a:schemeClr val="accent2"/>
                </a:solidFill>
                <a:effectLst/>
                <a:latin typeface="Times New Roman" panose="02020603050405020304" pitchFamily="18" charset="0"/>
                <a:cs typeface="Times New Roman" panose="02020603050405020304" pitchFamily="18" charset="0"/>
              </a:rPr>
              <a:t>function</a:t>
            </a:r>
            <a:r>
              <a:rPr lang="en-US" b="0" i="0" dirty="0">
                <a:effectLst/>
                <a:latin typeface="Times New Roman" panose="02020603050405020304" pitchFamily="18" charset="0"/>
                <a:cs typeface="Times New Roman" panose="02020603050405020304" pitchFamily="18" charset="0"/>
              </a:rPr>
              <a:t> is a block of code which only runs when it is called. You can pass data, known as parameters, into a function. A function can return data as a result.</a:t>
            </a:r>
            <a:endParaRPr lang="aa-ET"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EC0AE554-1F66-3CE9-CC2A-657E1632C6C6}"/>
              </a:ext>
            </a:extLst>
          </p:cNvPr>
          <p:cNvPicPr>
            <a:picLocks noChangeAspect="1"/>
          </p:cNvPicPr>
          <p:nvPr/>
        </p:nvPicPr>
        <p:blipFill>
          <a:blip r:embed="rId3"/>
          <a:stretch>
            <a:fillRect/>
          </a:stretch>
        </p:blipFill>
        <p:spPr>
          <a:xfrm>
            <a:off x="738131" y="2506630"/>
            <a:ext cx="5788176" cy="1946591"/>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xmlns="" id="{AE30A6AA-263C-8AF2-39B4-7536DF8854B6}"/>
              </a:ext>
            </a:extLst>
          </p:cNvPr>
          <p:cNvPicPr>
            <a:picLocks noChangeAspect="1"/>
          </p:cNvPicPr>
          <p:nvPr/>
        </p:nvPicPr>
        <p:blipFill>
          <a:blip r:embed="rId4"/>
          <a:stretch>
            <a:fillRect/>
          </a:stretch>
        </p:blipFill>
        <p:spPr>
          <a:xfrm>
            <a:off x="2773120" y="4582418"/>
            <a:ext cx="3753187" cy="175514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xmlns="" id="{58BCDED0-4493-0E6A-2DF0-5EB240FB2742}"/>
              </a:ext>
            </a:extLst>
          </p:cNvPr>
          <p:cNvPicPr>
            <a:picLocks noChangeAspect="1"/>
          </p:cNvPicPr>
          <p:nvPr/>
        </p:nvPicPr>
        <p:blipFill rotWithShape="1">
          <a:blip r:embed="rId5"/>
          <a:srcRect r="10172"/>
          <a:stretch/>
        </p:blipFill>
        <p:spPr>
          <a:xfrm>
            <a:off x="736352" y="4582418"/>
            <a:ext cx="1925129" cy="10953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6246257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4EABDE-DE5A-906F-56C7-550829CD59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2BF0F9A8-D008-D56C-F7B7-A4D360FBBFE4}"/>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FUNCTIONS</a:t>
            </a:r>
          </a:p>
        </p:txBody>
      </p:sp>
      <p:sp>
        <p:nvSpPr>
          <p:cNvPr id="8" name="Rectangle 7">
            <a:extLst>
              <a:ext uri="{FF2B5EF4-FFF2-40B4-BE49-F238E27FC236}">
                <a16:creationId xmlns:a16="http://schemas.microsoft.com/office/drawing/2014/main" xmlns="" id="{FFEA8D8C-A291-BD7B-9CFF-F2EDF498483B}"/>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9AE2B777-4E9F-7680-8357-FC576D094C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834F119F-735F-201F-C4DB-EF62566187A5}"/>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09CEF19E-6403-BED9-CE13-F773DAE65C1F}"/>
              </a:ext>
            </a:extLst>
          </p:cNvPr>
          <p:cNvSpPr txBox="1"/>
          <p:nvPr/>
        </p:nvSpPr>
        <p:spPr>
          <a:xfrm>
            <a:off x="377682" y="131347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Defining and calling a function</a:t>
            </a:r>
            <a:endParaRPr lang="aa-ET"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18F4F20E-7F67-2ED2-38BF-767344B6BE9E}"/>
              </a:ext>
            </a:extLst>
          </p:cNvPr>
          <p:cNvPicPr>
            <a:picLocks noChangeAspect="1"/>
          </p:cNvPicPr>
          <p:nvPr/>
        </p:nvPicPr>
        <p:blipFill>
          <a:blip r:embed="rId3"/>
          <a:stretch>
            <a:fillRect/>
          </a:stretch>
        </p:blipFill>
        <p:spPr>
          <a:xfrm>
            <a:off x="648303" y="2021822"/>
            <a:ext cx="5362575" cy="1666875"/>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xmlns="" id="{05A5B087-9EBE-759E-25AA-CDD23940F282}"/>
              </a:ext>
            </a:extLst>
          </p:cNvPr>
          <p:cNvSpPr txBox="1"/>
          <p:nvPr/>
        </p:nvSpPr>
        <p:spPr>
          <a:xfrm>
            <a:off x="4702985" y="1341103"/>
            <a:ext cx="2416456"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Function definition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xmlns="" id="{C81ECB7C-0F5B-5E36-8F5B-8C82C4BB2370}"/>
              </a:ext>
            </a:extLst>
          </p:cNvPr>
          <p:cNvCxnSpPr>
            <a:cxnSpLocks/>
          </p:cNvCxnSpPr>
          <p:nvPr/>
        </p:nvCxnSpPr>
        <p:spPr>
          <a:xfrm flipH="1">
            <a:off x="2600476" y="1760851"/>
            <a:ext cx="2053671" cy="52194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CBA53AC3-3818-AAD8-F9FC-10F130ECD7ED}"/>
              </a:ext>
            </a:extLst>
          </p:cNvPr>
          <p:cNvSpPr txBox="1"/>
          <p:nvPr/>
        </p:nvSpPr>
        <p:spPr>
          <a:xfrm>
            <a:off x="3843228" y="4040053"/>
            <a:ext cx="2416456"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Calling the function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0ECFE42D-C0AA-FE73-D2FD-811041023031}"/>
              </a:ext>
            </a:extLst>
          </p:cNvPr>
          <p:cNvCxnSpPr>
            <a:cxnSpLocks/>
          </p:cNvCxnSpPr>
          <p:nvPr/>
        </p:nvCxnSpPr>
        <p:spPr>
          <a:xfrm flipH="1" flipV="1">
            <a:off x="2258154" y="3525529"/>
            <a:ext cx="1560811" cy="71477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2E1B46B5-F523-B815-FF72-95FB70A39E1B}"/>
              </a:ext>
            </a:extLst>
          </p:cNvPr>
          <p:cNvSpPr txBox="1"/>
          <p:nvPr/>
        </p:nvSpPr>
        <p:spPr>
          <a:xfrm>
            <a:off x="489320" y="4819475"/>
            <a:ext cx="7215423" cy="369332"/>
          </a:xfrm>
          <a:prstGeom prst="rect">
            <a:avLst/>
          </a:prstGeom>
          <a:noFill/>
        </p:spPr>
        <p:txBody>
          <a:bodyPr wrap="square">
            <a:spAutoFit/>
          </a:bodyPr>
          <a:lstStyle/>
          <a:p>
            <a:pPr algn="l"/>
            <a:r>
              <a:rPr lang="en-US" dirty="0">
                <a:highlight>
                  <a:srgbClr val="00FF00"/>
                </a:highlight>
                <a:latin typeface="Times New Roman" panose="02020603050405020304" pitchFamily="18" charset="0"/>
                <a:cs typeface="Times New Roman" panose="02020603050405020304" pitchFamily="18" charset="0"/>
              </a:rPr>
              <a:t>NB: Until you make a function call, it will never get executed</a:t>
            </a:r>
            <a:endParaRPr lang="aa-ET" dirty="0">
              <a:highlight>
                <a:srgbClr val="00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57647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E18463-CDFA-6596-AB14-18D7D0505C5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xmlns="" id="{CB098798-DC68-D347-D4D9-5FC819411C7F}"/>
              </a:ext>
            </a:extLst>
          </p:cNvPr>
          <p:cNvPicPr>
            <a:picLocks noChangeAspect="1"/>
          </p:cNvPicPr>
          <p:nvPr/>
        </p:nvPicPr>
        <p:blipFill>
          <a:blip r:embed="rId2"/>
          <a:stretch>
            <a:fillRect/>
          </a:stretch>
        </p:blipFill>
        <p:spPr>
          <a:xfrm>
            <a:off x="748897" y="2209504"/>
            <a:ext cx="3905250" cy="1581150"/>
          </a:xfrm>
          <a:prstGeom prst="rect">
            <a:avLst/>
          </a:prstGeom>
        </p:spPr>
      </p:pic>
      <p:sp>
        <p:nvSpPr>
          <p:cNvPr id="4" name="TextBox 3">
            <a:extLst>
              <a:ext uri="{FF2B5EF4-FFF2-40B4-BE49-F238E27FC236}">
                <a16:creationId xmlns:a16="http://schemas.microsoft.com/office/drawing/2014/main" xmlns="" id="{D603AA99-73FF-7624-9731-0CC0E6050012}"/>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FUNCTIONS WITH ARGUMENT</a:t>
            </a:r>
          </a:p>
        </p:txBody>
      </p:sp>
      <p:sp>
        <p:nvSpPr>
          <p:cNvPr id="8" name="Rectangle 7">
            <a:extLst>
              <a:ext uri="{FF2B5EF4-FFF2-40B4-BE49-F238E27FC236}">
                <a16:creationId xmlns:a16="http://schemas.microsoft.com/office/drawing/2014/main" xmlns="" id="{700DE94E-C1B7-218B-7B62-8247AA1C134D}"/>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FF2173CC-494C-A3BE-D114-06DBC073E8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xmlns="" id="{8C02F5E1-E116-6836-D206-1095149AECA8}"/>
              </a:ext>
            </a:extLst>
          </p:cNvPr>
          <p:cNvSpPr txBox="1"/>
          <p:nvPr/>
        </p:nvSpPr>
        <p:spPr>
          <a:xfrm>
            <a:off x="377682" y="131347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Defining functions with argument</a:t>
            </a:r>
            <a:endParaRPr lang="aa-ET"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5302900B-2836-9892-60C8-26DFF1A80012}"/>
              </a:ext>
            </a:extLst>
          </p:cNvPr>
          <p:cNvSpPr txBox="1"/>
          <p:nvPr/>
        </p:nvSpPr>
        <p:spPr>
          <a:xfrm>
            <a:off x="4621577" y="1538305"/>
            <a:ext cx="2416456"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Parameter</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xmlns="" id="{F040D538-63CB-A84C-489B-BB71A001B546}"/>
              </a:ext>
            </a:extLst>
          </p:cNvPr>
          <p:cNvCxnSpPr>
            <a:cxnSpLocks/>
          </p:cNvCxnSpPr>
          <p:nvPr/>
        </p:nvCxnSpPr>
        <p:spPr>
          <a:xfrm flipH="1">
            <a:off x="2823882" y="1760851"/>
            <a:ext cx="1830265" cy="4550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6DBB839E-D3FB-FE93-16AF-5779D707F1F3}"/>
              </a:ext>
            </a:extLst>
          </p:cNvPr>
          <p:cNvSpPr txBox="1"/>
          <p:nvPr/>
        </p:nvSpPr>
        <p:spPr>
          <a:xfrm>
            <a:off x="3843228" y="4040053"/>
            <a:ext cx="2416456"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argument</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C530FF75-2599-BAB9-5093-57C870E91623}"/>
              </a:ext>
            </a:extLst>
          </p:cNvPr>
          <p:cNvCxnSpPr>
            <a:cxnSpLocks/>
          </p:cNvCxnSpPr>
          <p:nvPr/>
        </p:nvCxnSpPr>
        <p:spPr>
          <a:xfrm flipH="1" flipV="1">
            <a:off x="2393576" y="3429000"/>
            <a:ext cx="1425389" cy="8113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552936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2B8E53-754C-CBEF-82D4-A1863AD1F4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B9FD0F5-71BA-A750-F772-B35172331A36}"/>
              </a:ext>
            </a:extLst>
          </p:cNvPr>
          <p:cNvPicPr>
            <a:picLocks noChangeAspect="1"/>
          </p:cNvPicPr>
          <p:nvPr/>
        </p:nvPicPr>
        <p:blipFill>
          <a:blip r:embed="rId2"/>
          <a:stretch>
            <a:fillRect/>
          </a:stretch>
        </p:blipFill>
        <p:spPr>
          <a:xfrm>
            <a:off x="730155" y="1981235"/>
            <a:ext cx="6657975" cy="1981200"/>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F7A68FC8-9984-7BD5-3FB6-215DA0055895}"/>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FUNCTIONS WITH ARGUMENT</a:t>
            </a:r>
          </a:p>
        </p:txBody>
      </p:sp>
      <p:sp>
        <p:nvSpPr>
          <p:cNvPr id="8" name="Rectangle 7">
            <a:extLst>
              <a:ext uri="{FF2B5EF4-FFF2-40B4-BE49-F238E27FC236}">
                <a16:creationId xmlns:a16="http://schemas.microsoft.com/office/drawing/2014/main" xmlns="" id="{190B7DE2-E8F2-0CFE-1102-8749FA9067E0}"/>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241ADAAC-4614-84C5-BE8A-2AF86913A6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CC9C82CD-D34F-F196-8B0F-0EA1C961A0D8}"/>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9F3EE6FE-BBC2-0752-992D-3D1E1B9AD833}"/>
              </a:ext>
            </a:extLst>
          </p:cNvPr>
          <p:cNvSpPr txBox="1"/>
          <p:nvPr/>
        </p:nvSpPr>
        <p:spPr>
          <a:xfrm>
            <a:off x="377682" y="131347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Defining functions with argument</a:t>
            </a:r>
            <a:endParaRPr lang="aa-ET"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xmlns="" id="{0B4E893F-B121-4C4C-5115-A4AAD8ED8A7D}"/>
              </a:ext>
            </a:extLst>
          </p:cNvPr>
          <p:cNvSpPr txBox="1"/>
          <p:nvPr/>
        </p:nvSpPr>
        <p:spPr>
          <a:xfrm>
            <a:off x="4887772" y="1433804"/>
            <a:ext cx="2416456"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Placeholder/ parameter</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29415066-ACB4-F07A-34DD-443F13DDC920}"/>
              </a:ext>
            </a:extLst>
          </p:cNvPr>
          <p:cNvCxnSpPr>
            <a:cxnSpLocks/>
          </p:cNvCxnSpPr>
          <p:nvPr/>
        </p:nvCxnSpPr>
        <p:spPr>
          <a:xfrm flipH="1">
            <a:off x="2633754" y="1602093"/>
            <a:ext cx="2269940" cy="4020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F2C29DDA-5915-4599-3891-F4D825631D09}"/>
              </a:ext>
            </a:extLst>
          </p:cNvPr>
          <p:cNvCxnSpPr>
            <a:cxnSpLocks/>
          </p:cNvCxnSpPr>
          <p:nvPr/>
        </p:nvCxnSpPr>
        <p:spPr>
          <a:xfrm flipH="1" flipV="1">
            <a:off x="3189566" y="2704689"/>
            <a:ext cx="1965140" cy="18852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4BDC874C-4F6A-26FA-2766-24953545E5E4}"/>
              </a:ext>
            </a:extLst>
          </p:cNvPr>
          <p:cNvSpPr txBox="1"/>
          <p:nvPr/>
        </p:nvSpPr>
        <p:spPr>
          <a:xfrm>
            <a:off x="5143849" y="4382418"/>
            <a:ext cx="2416456" cy="2031325"/>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We append the person name to the Good morning string. This will apply to any name provided as an argument to the function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xmlns="" id="{150A1832-95EA-C416-E0B7-F092C6013BBD}"/>
              </a:ext>
            </a:extLst>
          </p:cNvPr>
          <p:cNvCxnSpPr>
            <a:cxnSpLocks/>
          </p:cNvCxnSpPr>
          <p:nvPr/>
        </p:nvCxnSpPr>
        <p:spPr>
          <a:xfrm flipV="1">
            <a:off x="1575658" y="3772787"/>
            <a:ext cx="0" cy="9157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A20B33B6-5C56-3862-0753-7943E1460465}"/>
              </a:ext>
            </a:extLst>
          </p:cNvPr>
          <p:cNvSpPr txBox="1"/>
          <p:nvPr/>
        </p:nvSpPr>
        <p:spPr>
          <a:xfrm>
            <a:off x="782075" y="4685889"/>
            <a:ext cx="2416456"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Function in action.</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22" name="Straight Arrow Connector 21">
            <a:extLst>
              <a:ext uri="{FF2B5EF4-FFF2-40B4-BE49-F238E27FC236}">
                <a16:creationId xmlns:a16="http://schemas.microsoft.com/office/drawing/2014/main" xmlns="" id="{7A28DB29-9D54-2F99-5448-D3B73918DC0F}"/>
              </a:ext>
            </a:extLst>
          </p:cNvPr>
          <p:cNvCxnSpPr>
            <a:cxnSpLocks/>
          </p:cNvCxnSpPr>
          <p:nvPr/>
        </p:nvCxnSpPr>
        <p:spPr>
          <a:xfrm flipV="1">
            <a:off x="1676400" y="2590800"/>
            <a:ext cx="4500282" cy="20950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09694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8F714D0-D69C-02AA-5EBC-8BC5709392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15EDB7A0-4E53-C8BB-CAB4-AB8E67DA94C0}"/>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FUNCTIONS WITH ARGUMENT</a:t>
            </a:r>
          </a:p>
        </p:txBody>
      </p:sp>
      <p:sp>
        <p:nvSpPr>
          <p:cNvPr id="8" name="Rectangle 7">
            <a:extLst>
              <a:ext uri="{FF2B5EF4-FFF2-40B4-BE49-F238E27FC236}">
                <a16:creationId xmlns:a16="http://schemas.microsoft.com/office/drawing/2014/main" xmlns="" id="{7D1FFBD3-BD64-2799-6B11-ED5928F791CA}"/>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DC64CDF4-72FA-948F-55FD-3FBD040398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9CB5FA07-7190-CD5F-A769-6748C694D436}"/>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102BE6C6-AA29-BE71-82F4-BEFD48E43DF4}"/>
              </a:ext>
            </a:extLst>
          </p:cNvPr>
          <p:cNvSpPr txBox="1"/>
          <p:nvPr/>
        </p:nvSpPr>
        <p:spPr>
          <a:xfrm>
            <a:off x="377682" y="1313479"/>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Lets modify</a:t>
            </a:r>
            <a:endParaRPr lang="aa-ET"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3480D0CB-3866-3FB4-C40C-ABF7A03B59F7}"/>
              </a:ext>
            </a:extLst>
          </p:cNvPr>
          <p:cNvPicPr>
            <a:picLocks noChangeAspect="1"/>
          </p:cNvPicPr>
          <p:nvPr/>
        </p:nvPicPr>
        <p:blipFill>
          <a:blip r:embed="rId3"/>
          <a:stretch>
            <a:fillRect/>
          </a:stretch>
        </p:blipFill>
        <p:spPr>
          <a:xfrm>
            <a:off x="648303" y="1762125"/>
            <a:ext cx="5362575" cy="1666875"/>
          </a:xfrm>
          <a:prstGeom prst="rect">
            <a:avLst/>
          </a:prstGeom>
          <a:ln>
            <a:noFill/>
          </a:ln>
          <a:effectLst>
            <a:outerShdw blurRad="292100" dist="139700" dir="2700000" algn="tl" rotWithShape="0">
              <a:srgbClr val="333333">
                <a:alpha val="65000"/>
              </a:srgbClr>
            </a:outerShdw>
          </a:effectLst>
        </p:spPr>
      </p:pic>
      <p:cxnSp>
        <p:nvCxnSpPr>
          <p:cNvPr id="6" name="Straight Arrow Connector 5">
            <a:extLst>
              <a:ext uri="{FF2B5EF4-FFF2-40B4-BE49-F238E27FC236}">
                <a16:creationId xmlns:a16="http://schemas.microsoft.com/office/drawing/2014/main" xmlns="" id="{DF34021D-F3AD-7B6A-48F4-CF31B3684D3A}"/>
              </a:ext>
            </a:extLst>
          </p:cNvPr>
          <p:cNvCxnSpPr>
            <a:cxnSpLocks/>
          </p:cNvCxnSpPr>
          <p:nvPr/>
        </p:nvCxnSpPr>
        <p:spPr>
          <a:xfrm>
            <a:off x="3132368" y="3535056"/>
            <a:ext cx="0" cy="49009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xmlns="" id="{E112A895-DD19-3FBB-FD4F-47332704ED3F}"/>
              </a:ext>
            </a:extLst>
          </p:cNvPr>
          <p:cNvPicPr>
            <a:picLocks noChangeAspect="1"/>
          </p:cNvPicPr>
          <p:nvPr/>
        </p:nvPicPr>
        <p:blipFill>
          <a:blip r:embed="rId4"/>
          <a:stretch>
            <a:fillRect/>
          </a:stretch>
        </p:blipFill>
        <p:spPr>
          <a:xfrm>
            <a:off x="648303" y="4103109"/>
            <a:ext cx="5629275" cy="16383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678899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0A40190-B817-1C0A-0E99-2A9960C116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11F73DC1-D400-202E-3BD9-1C87F01A5435}"/>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FUNCTIONS RETURN VALUES</a:t>
            </a:r>
          </a:p>
        </p:txBody>
      </p:sp>
      <p:sp>
        <p:nvSpPr>
          <p:cNvPr id="8" name="Rectangle 7">
            <a:extLst>
              <a:ext uri="{FF2B5EF4-FFF2-40B4-BE49-F238E27FC236}">
                <a16:creationId xmlns:a16="http://schemas.microsoft.com/office/drawing/2014/main" xmlns="" id="{A4746442-2B51-9EB1-989B-5FF4C71EF59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C23D2183-45EB-8819-3A04-A530ACDA35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99C855CD-EEEA-49C0-0FDC-A862911A1A12}"/>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281F063F-333D-A943-A674-A5486064EB52}"/>
              </a:ext>
            </a:extLst>
          </p:cNvPr>
          <p:cNvSpPr txBox="1"/>
          <p:nvPr/>
        </p:nvSpPr>
        <p:spPr>
          <a:xfrm>
            <a:off x="377682" y="131347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 far, our functions do not return values that are reusable. We can use the </a:t>
            </a:r>
            <a:r>
              <a:rPr lang="en-US" dirty="0">
                <a:solidFill>
                  <a:schemeClr val="accent2"/>
                </a:solidFill>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keyword to achieve that. Note that, functions that return values do not automatically print to the screen. </a:t>
            </a:r>
            <a:endParaRPr lang="aa-ET"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0B34A596-85AC-4085-592D-8A81A462D3B9}"/>
              </a:ext>
            </a:extLst>
          </p:cNvPr>
          <p:cNvPicPr>
            <a:picLocks noChangeAspect="1"/>
          </p:cNvPicPr>
          <p:nvPr/>
        </p:nvPicPr>
        <p:blipFill>
          <a:blip r:embed="rId3"/>
          <a:stretch>
            <a:fillRect/>
          </a:stretch>
        </p:blipFill>
        <p:spPr>
          <a:xfrm>
            <a:off x="689043" y="2547937"/>
            <a:ext cx="6591300" cy="1762125"/>
          </a:xfrm>
          <a:prstGeom prst="rect">
            <a:avLst/>
          </a:prstGeom>
          <a:ln>
            <a:noFill/>
          </a:ln>
          <a:effectLst>
            <a:outerShdw blurRad="292100" dist="139700" dir="2700000" algn="tl" rotWithShape="0">
              <a:srgbClr val="333333">
                <a:alpha val="65000"/>
              </a:srgbClr>
            </a:outerShdw>
          </a:effectLst>
        </p:spPr>
      </p:pic>
      <p:cxnSp>
        <p:nvCxnSpPr>
          <p:cNvPr id="10" name="Straight Arrow Connector 9">
            <a:extLst>
              <a:ext uri="{FF2B5EF4-FFF2-40B4-BE49-F238E27FC236}">
                <a16:creationId xmlns:a16="http://schemas.microsoft.com/office/drawing/2014/main" xmlns="" id="{AA2B427F-030F-0693-DF29-F73230FB30A8}"/>
              </a:ext>
            </a:extLst>
          </p:cNvPr>
          <p:cNvCxnSpPr>
            <a:cxnSpLocks/>
          </p:cNvCxnSpPr>
          <p:nvPr/>
        </p:nvCxnSpPr>
        <p:spPr>
          <a:xfrm flipH="1" flipV="1">
            <a:off x="1494976" y="3110272"/>
            <a:ext cx="1490271" cy="2425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C994BF62-5CDE-B2A6-127F-AE4E69DF0955}"/>
              </a:ext>
            </a:extLst>
          </p:cNvPr>
          <p:cNvSpPr txBox="1"/>
          <p:nvPr/>
        </p:nvSpPr>
        <p:spPr>
          <a:xfrm>
            <a:off x="2987488" y="3141648"/>
            <a:ext cx="1772771" cy="523220"/>
          </a:xfrm>
          <a:prstGeom prst="rect">
            <a:avLst/>
          </a:prstGeom>
          <a:noFill/>
        </p:spPr>
        <p:txBody>
          <a:bodyPr wrap="square">
            <a:spAutoFit/>
          </a:bodyPr>
          <a:lstStyle/>
          <a:p>
            <a:pPr algn="l"/>
            <a:r>
              <a:rPr lang="en-US" sz="1400" dirty="0">
                <a:solidFill>
                  <a:srgbClr val="000000"/>
                </a:solidFill>
                <a:highlight>
                  <a:srgbClr val="FF00FF"/>
                </a:highlight>
                <a:latin typeface="Times New Roman" panose="02020603050405020304" pitchFamily="18" charset="0"/>
                <a:cs typeface="Times New Roman" panose="02020603050405020304" pitchFamily="18" charset="0"/>
              </a:rPr>
              <a:t>Returning the sum of the two numbers</a:t>
            </a:r>
            <a:endParaRPr lang="en-US" sz="14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AC95C6DA-4ABC-82EB-F073-E9BCEC620FCF}"/>
              </a:ext>
            </a:extLst>
          </p:cNvPr>
          <p:cNvSpPr txBox="1"/>
          <p:nvPr/>
        </p:nvSpPr>
        <p:spPr>
          <a:xfrm>
            <a:off x="5209614" y="3110272"/>
            <a:ext cx="1772771" cy="523220"/>
          </a:xfrm>
          <a:prstGeom prst="rect">
            <a:avLst/>
          </a:prstGeom>
          <a:noFill/>
        </p:spPr>
        <p:txBody>
          <a:bodyPr wrap="square">
            <a:spAutoFit/>
          </a:bodyPr>
          <a:lstStyle/>
          <a:p>
            <a:pPr algn="l"/>
            <a:r>
              <a:rPr lang="en-US" sz="1400" dirty="0">
                <a:solidFill>
                  <a:srgbClr val="000000"/>
                </a:solidFill>
                <a:highlight>
                  <a:srgbClr val="FF00FF"/>
                </a:highlight>
                <a:latin typeface="Times New Roman" panose="02020603050405020304" pitchFamily="18" charset="0"/>
                <a:cs typeface="Times New Roman" panose="02020603050405020304" pitchFamily="18" charset="0"/>
              </a:rPr>
              <a:t>No output? But we called the function…</a:t>
            </a:r>
            <a:endParaRPr lang="en-US" sz="14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58545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635DFDA-FD76-5F68-B96B-302C1756DB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F15C539B-8A81-E04C-8B54-3A21D8DC95B0}"/>
              </a:ext>
            </a:extLst>
          </p:cNvPr>
          <p:cNvPicPr>
            <a:picLocks noChangeAspect="1"/>
          </p:cNvPicPr>
          <p:nvPr/>
        </p:nvPicPr>
        <p:blipFill>
          <a:blip r:embed="rId2"/>
          <a:stretch>
            <a:fillRect/>
          </a:stretch>
        </p:blipFill>
        <p:spPr>
          <a:xfrm>
            <a:off x="803741" y="2433669"/>
            <a:ext cx="5438775" cy="1876425"/>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6A218B93-D459-625D-428C-901B7F46174E}"/>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FUNCTIONS RETURN VALUES</a:t>
            </a:r>
          </a:p>
        </p:txBody>
      </p:sp>
      <p:sp>
        <p:nvSpPr>
          <p:cNvPr id="8" name="Rectangle 7">
            <a:extLst>
              <a:ext uri="{FF2B5EF4-FFF2-40B4-BE49-F238E27FC236}">
                <a16:creationId xmlns:a16="http://schemas.microsoft.com/office/drawing/2014/main" xmlns="" id="{516F1A68-DC65-A906-ED3F-E5A6B6245433}"/>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7A0BC806-1655-DAF1-CF32-33C132A285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E6BF0ED6-FC46-C067-CB94-97CA63AECC68}"/>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w3schools</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4D319D28-F24F-1279-55A2-B012EA9D17E1}"/>
              </a:ext>
            </a:extLst>
          </p:cNvPr>
          <p:cNvSpPr txBox="1"/>
          <p:nvPr/>
        </p:nvSpPr>
        <p:spPr>
          <a:xfrm>
            <a:off x="377682" y="131347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 far, our functions do not return values that are reusable. We can use the </a:t>
            </a:r>
            <a:r>
              <a:rPr lang="en-US" dirty="0">
                <a:solidFill>
                  <a:schemeClr val="accent2"/>
                </a:solidFill>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keyword to achieve that. Note that, functions that return values do not automatically print to the screen. </a:t>
            </a:r>
            <a:endParaRPr lang="aa-ET"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xmlns="" id="{BE67191F-B2A2-9C95-7A36-C16E0C4B06EB}"/>
              </a:ext>
            </a:extLst>
          </p:cNvPr>
          <p:cNvCxnSpPr>
            <a:cxnSpLocks/>
          </p:cNvCxnSpPr>
          <p:nvPr/>
        </p:nvCxnSpPr>
        <p:spPr>
          <a:xfrm flipH="1" flipV="1">
            <a:off x="1261894" y="3708301"/>
            <a:ext cx="1490271" cy="2425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8C27574B-BAF5-D2E1-596A-9568EB0490FB}"/>
              </a:ext>
            </a:extLst>
          </p:cNvPr>
          <p:cNvSpPr txBox="1"/>
          <p:nvPr/>
        </p:nvSpPr>
        <p:spPr>
          <a:xfrm>
            <a:off x="2748243" y="3738750"/>
            <a:ext cx="2308930" cy="1169551"/>
          </a:xfrm>
          <a:prstGeom prst="rect">
            <a:avLst/>
          </a:prstGeom>
          <a:noFill/>
        </p:spPr>
        <p:txBody>
          <a:bodyPr wrap="square">
            <a:spAutoFit/>
          </a:bodyPr>
          <a:lstStyle/>
          <a:p>
            <a:pPr algn="l"/>
            <a:r>
              <a:rPr lang="en-US" sz="1400" dirty="0">
                <a:solidFill>
                  <a:srgbClr val="000000"/>
                </a:solidFill>
                <a:highlight>
                  <a:srgbClr val="FF00FF"/>
                </a:highlight>
                <a:latin typeface="Times New Roman" panose="02020603050405020304" pitchFamily="18" charset="0"/>
                <a:cs typeface="Times New Roman" panose="02020603050405020304" pitchFamily="18" charset="0"/>
              </a:rPr>
              <a:t>Assigning result to a variable. This is possible because we are returning the result after the computation x + y</a:t>
            </a:r>
            <a:endParaRPr lang="en-US" sz="14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C2DF9B52-CA83-4BDA-DEDC-5F7C69FCC1FB}"/>
              </a:ext>
            </a:extLst>
          </p:cNvPr>
          <p:cNvSpPr txBox="1"/>
          <p:nvPr/>
        </p:nvSpPr>
        <p:spPr>
          <a:xfrm>
            <a:off x="812702" y="5021301"/>
            <a:ext cx="1935541" cy="307777"/>
          </a:xfrm>
          <a:prstGeom prst="rect">
            <a:avLst/>
          </a:prstGeom>
          <a:noFill/>
        </p:spPr>
        <p:txBody>
          <a:bodyPr wrap="square">
            <a:spAutoFit/>
          </a:bodyPr>
          <a:lstStyle/>
          <a:p>
            <a:pPr algn="l"/>
            <a:r>
              <a:rPr lang="en-US" sz="1400" dirty="0">
                <a:solidFill>
                  <a:srgbClr val="000000"/>
                </a:solidFill>
                <a:highlight>
                  <a:srgbClr val="FF00FF"/>
                </a:highlight>
                <a:latin typeface="Times New Roman" panose="02020603050405020304" pitchFamily="18" charset="0"/>
                <a:cs typeface="Times New Roman" panose="02020603050405020304" pitchFamily="18" charset="0"/>
              </a:rPr>
              <a:t>Print the returned value</a:t>
            </a:r>
            <a:endParaRPr lang="en-US" sz="14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6" name="Straight Arrow Connector 5">
            <a:extLst>
              <a:ext uri="{FF2B5EF4-FFF2-40B4-BE49-F238E27FC236}">
                <a16:creationId xmlns:a16="http://schemas.microsoft.com/office/drawing/2014/main" xmlns="" id="{41BF9580-E16E-5879-4A61-06BC9448D81C}"/>
              </a:ext>
            </a:extLst>
          </p:cNvPr>
          <p:cNvCxnSpPr>
            <a:cxnSpLocks/>
          </p:cNvCxnSpPr>
          <p:nvPr/>
        </p:nvCxnSpPr>
        <p:spPr>
          <a:xfrm flipV="1">
            <a:off x="1261893" y="4137977"/>
            <a:ext cx="0" cy="8833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59751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1134A4-4204-C877-C758-9A30606F96BB}"/>
            </a:ext>
          </a:extLst>
        </p:cNvPr>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47FEBD03-174F-3ED5-6A7B-01AEDA7EAD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24118482-8DD2-9D8C-F840-1C37A48C0617}"/>
              </a:ext>
            </a:extLst>
          </p:cNvPr>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660FC4C1-92C0-8590-DBF0-6B2FE7F929C9}"/>
              </a:ext>
            </a:extLst>
          </p:cNvPr>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OBJECTED-ORIENTED PROGRAMMING (OOP)</a:t>
            </a:r>
          </a:p>
        </p:txBody>
      </p:sp>
    </p:spTree>
    <p:extLst>
      <p:ext uri="{BB962C8B-B14F-4D97-AF65-F5344CB8AC3E}">
        <p14:creationId xmlns:p14="http://schemas.microsoft.com/office/powerpoint/2010/main" val="415732006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C374A4-FAE5-7169-4D7B-EB6BC3569A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2EE9F7C5-F4C5-5344-8979-04576B6ED952}"/>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CLASS AND OBJECT</a:t>
            </a:r>
          </a:p>
        </p:txBody>
      </p:sp>
      <p:sp>
        <p:nvSpPr>
          <p:cNvPr id="8" name="Rectangle 7">
            <a:extLst>
              <a:ext uri="{FF2B5EF4-FFF2-40B4-BE49-F238E27FC236}">
                <a16:creationId xmlns:a16="http://schemas.microsoft.com/office/drawing/2014/main" xmlns="" id="{A1890CB1-DD03-3E07-BAA3-7D7FD2A3BFAA}"/>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ECD1142-E0D1-29B3-DE06-2E4D2FCC11C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67313EBB-37A3-4A45-DA07-863A61BDEAB3}"/>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C33FCAF9-290E-942F-17F3-3FFB9E31346F}"/>
              </a:ext>
            </a:extLst>
          </p:cNvPr>
          <p:cNvSpPr txBox="1"/>
          <p:nvPr/>
        </p:nvSpPr>
        <p:spPr>
          <a:xfrm>
            <a:off x="377682" y="1313479"/>
            <a:ext cx="7215423" cy="2031325"/>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Python is an object oriented programming language. Almost everything in Python is an object, with its properties and methods. A Class is like an object constructor, or a "blueprint" for creating objects.</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OOP, everything is considered an Object with certain properties (nouns) and functionalities/methods (verbs).</a:t>
            </a:r>
            <a:r>
              <a:rPr lang="en-US" dirty="0">
                <a:highlight>
                  <a:srgbClr val="00FF00"/>
                </a:highlight>
                <a:latin typeface="Times New Roman" panose="02020603050405020304" pitchFamily="18" charset="0"/>
                <a:cs typeface="Times New Roman" panose="02020603050405020304" pitchFamily="18" charset="0"/>
              </a:rPr>
              <a:t> </a:t>
            </a:r>
          </a:p>
          <a:p>
            <a:pPr marL="285750" indent="-285750" algn="l">
              <a:buFont typeface="Arial" panose="020B0604020202020204" pitchFamily="34" charset="0"/>
              <a:buChar char="•"/>
            </a:pPr>
            <a:endParaRPr lang="aa-ET"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8FA78AD2-9197-E269-54A1-88D977FBD97E}"/>
              </a:ext>
            </a:extLst>
          </p:cNvPr>
          <p:cNvPicPr>
            <a:picLocks noChangeAspect="1"/>
          </p:cNvPicPr>
          <p:nvPr/>
        </p:nvPicPr>
        <p:blipFill>
          <a:blip r:embed="rId3"/>
          <a:stretch>
            <a:fillRect/>
          </a:stretch>
        </p:blipFill>
        <p:spPr>
          <a:xfrm>
            <a:off x="377682" y="3181552"/>
            <a:ext cx="6984626" cy="1499977"/>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xmlns="" id="{4810F158-C24F-708A-5B37-D6E0B2CFA87F}"/>
              </a:ext>
            </a:extLst>
          </p:cNvPr>
          <p:cNvPicPr>
            <a:picLocks noChangeAspect="1"/>
          </p:cNvPicPr>
          <p:nvPr/>
        </p:nvPicPr>
        <p:blipFill>
          <a:blip r:embed="rId4"/>
          <a:stretch>
            <a:fillRect/>
          </a:stretch>
        </p:blipFill>
        <p:spPr>
          <a:xfrm>
            <a:off x="377682" y="4685862"/>
            <a:ext cx="6984626" cy="14885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862279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E863FDF-EA13-3DD3-F9DE-21EAABB0A0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034C46E6-AA45-0C37-9B7A-98B0ECB47BC0}"/>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CLASS DEFINITION</a:t>
            </a:r>
          </a:p>
        </p:txBody>
      </p:sp>
      <p:sp>
        <p:nvSpPr>
          <p:cNvPr id="8" name="Rectangle 7">
            <a:extLst>
              <a:ext uri="{FF2B5EF4-FFF2-40B4-BE49-F238E27FC236}">
                <a16:creationId xmlns:a16="http://schemas.microsoft.com/office/drawing/2014/main" xmlns="" id="{5641FFBE-E469-CB55-BEB1-7C72B924C398}"/>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3757A8B6-A610-A7F0-1A3D-F26AC15BC9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F2C9DBD8-7C74-8971-265C-20CB01E57820}"/>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2" name="TextBox 1">
            <a:extLst>
              <a:ext uri="{FF2B5EF4-FFF2-40B4-BE49-F238E27FC236}">
                <a16:creationId xmlns:a16="http://schemas.microsoft.com/office/drawing/2014/main" xmlns="" id="{FD0D5908-9522-CAB1-89CA-DBA4248B9808}"/>
              </a:ext>
            </a:extLst>
          </p:cNvPr>
          <p:cNvSpPr txBox="1"/>
          <p:nvPr/>
        </p:nvSpPr>
        <p:spPr>
          <a:xfrm>
            <a:off x="377682" y="1313479"/>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It is very simple to create a class in python</a:t>
            </a:r>
            <a:endParaRPr lang="en-US" dirty="0">
              <a:highlight>
                <a:srgbClr val="00FF00"/>
              </a:highligh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aa-ET"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5FD94AD1-044A-C80F-942D-AE8A1C2F0D90}"/>
              </a:ext>
            </a:extLst>
          </p:cNvPr>
          <p:cNvPicPr>
            <a:picLocks noChangeAspect="1"/>
          </p:cNvPicPr>
          <p:nvPr/>
        </p:nvPicPr>
        <p:blipFill>
          <a:blip r:embed="rId3"/>
          <a:stretch>
            <a:fillRect/>
          </a:stretch>
        </p:blipFill>
        <p:spPr>
          <a:xfrm>
            <a:off x="761158" y="2037509"/>
            <a:ext cx="3824595" cy="3383901"/>
          </a:xfrm>
          <a:prstGeom prst="rect">
            <a:avLst/>
          </a:prstGeom>
        </p:spPr>
      </p:pic>
      <p:cxnSp>
        <p:nvCxnSpPr>
          <p:cNvPr id="10" name="Straight Arrow Connector 9">
            <a:extLst>
              <a:ext uri="{FF2B5EF4-FFF2-40B4-BE49-F238E27FC236}">
                <a16:creationId xmlns:a16="http://schemas.microsoft.com/office/drawing/2014/main" xmlns="" id="{EADCC5EA-CC30-3D45-3A7C-F72B04CC7BFD}"/>
              </a:ext>
            </a:extLst>
          </p:cNvPr>
          <p:cNvCxnSpPr>
            <a:cxnSpLocks/>
          </p:cNvCxnSpPr>
          <p:nvPr/>
        </p:nvCxnSpPr>
        <p:spPr>
          <a:xfrm flipH="1">
            <a:off x="2922494" y="2346656"/>
            <a:ext cx="2109574" cy="14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A8B52BBE-2929-402A-82BC-D8E0238B068A}"/>
              </a:ext>
            </a:extLst>
          </p:cNvPr>
          <p:cNvSpPr txBox="1"/>
          <p:nvPr/>
        </p:nvSpPr>
        <p:spPr>
          <a:xfrm>
            <a:off x="5061137" y="2161990"/>
            <a:ext cx="230893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Class name</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xmlns="" id="{70CE7B74-4879-E7FE-89D3-0D715C045F8F}"/>
              </a:ext>
            </a:extLst>
          </p:cNvPr>
          <p:cNvCxnSpPr>
            <a:cxnSpLocks/>
          </p:cNvCxnSpPr>
          <p:nvPr/>
        </p:nvCxnSpPr>
        <p:spPr>
          <a:xfrm flipH="1">
            <a:off x="3548258" y="2980416"/>
            <a:ext cx="2109574" cy="14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5576F931-E4A2-A1E0-A38C-F3BE659D48B0}"/>
              </a:ext>
            </a:extLst>
          </p:cNvPr>
          <p:cNvSpPr txBox="1"/>
          <p:nvPr/>
        </p:nvSpPr>
        <p:spPr>
          <a:xfrm>
            <a:off x="5657832" y="2793522"/>
            <a:ext cx="230893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Class properties</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xmlns="" id="{1FAB54C6-658F-FC76-68F1-A4EB91BFA399}"/>
              </a:ext>
            </a:extLst>
          </p:cNvPr>
          <p:cNvCxnSpPr>
            <a:cxnSpLocks/>
            <a:stCxn id="15" idx="1"/>
          </p:cNvCxnSpPr>
          <p:nvPr/>
        </p:nvCxnSpPr>
        <p:spPr>
          <a:xfrm flipH="1">
            <a:off x="3519189" y="2978188"/>
            <a:ext cx="2138643" cy="41800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E33CD5E7-B03A-29DA-9124-486466BF2AC2}"/>
              </a:ext>
            </a:extLst>
          </p:cNvPr>
          <p:cNvCxnSpPr>
            <a:cxnSpLocks/>
          </p:cNvCxnSpPr>
          <p:nvPr/>
        </p:nvCxnSpPr>
        <p:spPr>
          <a:xfrm flipH="1">
            <a:off x="3110753" y="3904371"/>
            <a:ext cx="2462956" cy="44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AC029E64-7A45-3008-72EE-AC8531AB7464}"/>
              </a:ext>
            </a:extLst>
          </p:cNvPr>
          <p:cNvCxnSpPr>
            <a:cxnSpLocks/>
          </p:cNvCxnSpPr>
          <p:nvPr/>
        </p:nvCxnSpPr>
        <p:spPr>
          <a:xfrm flipH="1">
            <a:off x="2989822" y="3904371"/>
            <a:ext cx="2612956" cy="1075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8D215E85-9ABA-7875-C938-AFB35CD7586F}"/>
              </a:ext>
            </a:extLst>
          </p:cNvPr>
          <p:cNvSpPr txBox="1"/>
          <p:nvPr/>
        </p:nvSpPr>
        <p:spPr>
          <a:xfrm>
            <a:off x="5536521" y="3695146"/>
            <a:ext cx="2308930" cy="369332"/>
          </a:xfrm>
          <a:prstGeom prst="rect">
            <a:avLst/>
          </a:prstGeom>
          <a:noFill/>
        </p:spPr>
        <p:txBody>
          <a:bodyPr wrap="square">
            <a:spAutoFit/>
          </a:bodyPr>
          <a:lstStyle/>
          <a:p>
            <a:pPr algn="l"/>
            <a:r>
              <a:rPr lang="en-US" dirty="0">
                <a:solidFill>
                  <a:srgbClr val="000000"/>
                </a:solidFill>
                <a:highlight>
                  <a:srgbClr val="FF00FF"/>
                </a:highlight>
                <a:latin typeface="Times New Roman" panose="02020603050405020304" pitchFamily="18" charset="0"/>
                <a:cs typeface="Times New Roman" panose="02020603050405020304" pitchFamily="18" charset="0"/>
              </a:rPr>
              <a:t>Class methods</a:t>
            </a:r>
            <a:endParaRPr lang="en-US"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92873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4B5289-A2A2-DF89-21D3-D441290FD8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1C66F8FD-63DE-BC40-0C48-63684E90FD48}"/>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CLASS DEFINITION</a:t>
            </a:r>
          </a:p>
        </p:txBody>
      </p:sp>
      <p:sp>
        <p:nvSpPr>
          <p:cNvPr id="8" name="Rectangle 7">
            <a:extLst>
              <a:ext uri="{FF2B5EF4-FFF2-40B4-BE49-F238E27FC236}">
                <a16:creationId xmlns:a16="http://schemas.microsoft.com/office/drawing/2014/main" xmlns="" id="{62E19F55-C228-C34C-F339-9988B99EFDB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89308F1-C2D1-10EE-6620-E6293CBEA2E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9DD1D2F9-5DAD-8AD1-827E-2FCFC5471738}"/>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pic>
        <p:nvPicPr>
          <p:cNvPr id="5" name="Picture 4">
            <a:extLst>
              <a:ext uri="{FF2B5EF4-FFF2-40B4-BE49-F238E27FC236}">
                <a16:creationId xmlns:a16="http://schemas.microsoft.com/office/drawing/2014/main" xmlns="" id="{44028011-21FD-BF91-6E71-5C9E3DD9794E}"/>
              </a:ext>
            </a:extLst>
          </p:cNvPr>
          <p:cNvPicPr>
            <a:picLocks noChangeAspect="1"/>
          </p:cNvPicPr>
          <p:nvPr/>
        </p:nvPicPr>
        <p:blipFill>
          <a:blip r:embed="rId3"/>
          <a:stretch>
            <a:fillRect/>
          </a:stretch>
        </p:blipFill>
        <p:spPr>
          <a:xfrm>
            <a:off x="400890" y="1277793"/>
            <a:ext cx="4859247" cy="3581078"/>
          </a:xfrm>
          <a:prstGeom prst="rect">
            <a:avLst/>
          </a:prstGeom>
          <a:ln>
            <a:noFill/>
          </a:ln>
          <a:effectLst>
            <a:outerShdw blurRad="292100" dist="139700" dir="2700000" algn="tl" rotWithShape="0">
              <a:srgbClr val="333333">
                <a:alpha val="65000"/>
              </a:srgbClr>
            </a:outerShdw>
          </a:effectLst>
        </p:spPr>
      </p:pic>
      <p:cxnSp>
        <p:nvCxnSpPr>
          <p:cNvPr id="6" name="Straight Arrow Connector 5">
            <a:extLst>
              <a:ext uri="{FF2B5EF4-FFF2-40B4-BE49-F238E27FC236}">
                <a16:creationId xmlns:a16="http://schemas.microsoft.com/office/drawing/2014/main" xmlns="" id="{85E3B1D0-FEBC-BBA3-7F73-B9F910BF5FFC}"/>
              </a:ext>
            </a:extLst>
          </p:cNvPr>
          <p:cNvCxnSpPr>
            <a:cxnSpLocks/>
          </p:cNvCxnSpPr>
          <p:nvPr/>
        </p:nvCxnSpPr>
        <p:spPr>
          <a:xfrm flipH="1">
            <a:off x="2160494" y="1990165"/>
            <a:ext cx="502024" cy="3570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70EE54BB-209D-ADAD-33DD-42C30B1BF02F}"/>
              </a:ext>
            </a:extLst>
          </p:cNvPr>
          <p:cNvSpPr txBox="1"/>
          <p:nvPr/>
        </p:nvSpPr>
        <p:spPr>
          <a:xfrm>
            <a:off x="1792259" y="5329245"/>
            <a:ext cx="3808088" cy="584775"/>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We are trying to access the name property using the dot</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xmlns="" id="{2136F481-5B4B-7518-EB77-6E0C0C2413BF}"/>
              </a:ext>
            </a:extLst>
          </p:cNvPr>
          <p:cNvCxnSpPr>
            <a:cxnSpLocks/>
          </p:cNvCxnSpPr>
          <p:nvPr/>
        </p:nvCxnSpPr>
        <p:spPr>
          <a:xfrm flipV="1">
            <a:off x="2160494" y="4680873"/>
            <a:ext cx="0" cy="6441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FB2AFF3B-2AB4-8D14-95E3-6B18D6E209E2}"/>
              </a:ext>
            </a:extLst>
          </p:cNvPr>
          <p:cNvSpPr txBox="1"/>
          <p:nvPr/>
        </p:nvSpPr>
        <p:spPr>
          <a:xfrm>
            <a:off x="2662518" y="1625720"/>
            <a:ext cx="3808088" cy="584775"/>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Every function requires self. It can be anything. It injects an instance of the class</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27" name="Straight Arrow Connector 26">
            <a:extLst>
              <a:ext uri="{FF2B5EF4-FFF2-40B4-BE49-F238E27FC236}">
                <a16:creationId xmlns:a16="http://schemas.microsoft.com/office/drawing/2014/main" xmlns="" id="{721730EB-0689-7583-3B85-F0C2AE9E5F20}"/>
              </a:ext>
            </a:extLst>
          </p:cNvPr>
          <p:cNvCxnSpPr>
            <a:cxnSpLocks/>
          </p:cNvCxnSpPr>
          <p:nvPr/>
        </p:nvCxnSpPr>
        <p:spPr>
          <a:xfrm flipH="1">
            <a:off x="3090955" y="2941720"/>
            <a:ext cx="133926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xmlns="" id="{4553B8EE-C6F8-2CE9-3033-265975E2177F}"/>
              </a:ext>
            </a:extLst>
          </p:cNvPr>
          <p:cNvSpPr txBox="1"/>
          <p:nvPr/>
        </p:nvSpPr>
        <p:spPr>
          <a:xfrm>
            <a:off x="4430223" y="2763140"/>
            <a:ext cx="3808088"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We are trying to set the name value</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2844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62ECC33-5B28-E243-4442-2694772C63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xmlns="" id="{A24C715C-D6E9-D9CD-E88A-3BD6B52A1640}"/>
              </a:ext>
            </a:extLst>
          </p:cNvPr>
          <p:cNvPicPr>
            <a:picLocks noChangeAspect="1"/>
          </p:cNvPicPr>
          <p:nvPr/>
        </p:nvPicPr>
        <p:blipFill>
          <a:blip r:embed="rId2"/>
          <a:stretch>
            <a:fillRect/>
          </a:stretch>
        </p:blipFill>
        <p:spPr>
          <a:xfrm>
            <a:off x="293011" y="1071901"/>
            <a:ext cx="3886200" cy="4229100"/>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xmlns="" id="{9EC8EBEC-5180-90ED-1A03-1F7E5E95CE69}"/>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CLASS INSTANTIATION</a:t>
            </a:r>
          </a:p>
        </p:txBody>
      </p:sp>
      <p:sp>
        <p:nvSpPr>
          <p:cNvPr id="8" name="Rectangle 7">
            <a:extLst>
              <a:ext uri="{FF2B5EF4-FFF2-40B4-BE49-F238E27FC236}">
                <a16:creationId xmlns:a16="http://schemas.microsoft.com/office/drawing/2014/main" xmlns="" id="{C52CA574-F3D8-C320-4067-D43DC9457C61}"/>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2948B2FA-3149-2567-16A3-CAB25D854E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441E9F0B-1EAF-6C65-07A6-D41B729BC81A}"/>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sp>
        <p:nvSpPr>
          <p:cNvPr id="12" name="TextBox 11">
            <a:extLst>
              <a:ext uri="{FF2B5EF4-FFF2-40B4-BE49-F238E27FC236}">
                <a16:creationId xmlns:a16="http://schemas.microsoft.com/office/drawing/2014/main" xmlns="" id="{664B35E7-A093-7DA6-133B-2C2A8C2E8935}"/>
              </a:ext>
            </a:extLst>
          </p:cNvPr>
          <p:cNvSpPr txBox="1"/>
          <p:nvPr/>
        </p:nvSpPr>
        <p:spPr>
          <a:xfrm>
            <a:off x="2883647" y="4194205"/>
            <a:ext cx="3808088"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Creating an instance of the class Human</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xmlns="" id="{51D11F84-5A8F-3B52-919D-435CE568D3FD}"/>
              </a:ext>
            </a:extLst>
          </p:cNvPr>
          <p:cNvCxnSpPr>
            <a:cxnSpLocks/>
          </p:cNvCxnSpPr>
          <p:nvPr/>
        </p:nvCxnSpPr>
        <p:spPr>
          <a:xfrm flipH="1">
            <a:off x="1509970" y="4407918"/>
            <a:ext cx="145228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xmlns="" id="{518D2537-01CD-4B6A-8174-A5801DB24AB4}"/>
              </a:ext>
            </a:extLst>
          </p:cNvPr>
          <p:cNvSpPr txBox="1"/>
          <p:nvPr/>
        </p:nvSpPr>
        <p:spPr>
          <a:xfrm>
            <a:off x="1144494" y="5578265"/>
            <a:ext cx="3808088"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Setting the human name</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xmlns="" id="{D0856055-20E2-DE93-3673-16DE97B07731}"/>
              </a:ext>
            </a:extLst>
          </p:cNvPr>
          <p:cNvCxnSpPr>
            <a:cxnSpLocks/>
          </p:cNvCxnSpPr>
          <p:nvPr/>
        </p:nvCxnSpPr>
        <p:spPr>
          <a:xfrm flipV="1">
            <a:off x="1769946" y="4718301"/>
            <a:ext cx="0" cy="9025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CA201950-75D0-B5F0-0487-AEE11021D206}"/>
              </a:ext>
            </a:extLst>
          </p:cNvPr>
          <p:cNvCxnSpPr>
            <a:cxnSpLocks/>
          </p:cNvCxnSpPr>
          <p:nvPr/>
        </p:nvCxnSpPr>
        <p:spPr>
          <a:xfrm flipH="1">
            <a:off x="1232064" y="5062341"/>
            <a:ext cx="145228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2A86BE9B-A671-A65F-42F9-784E07CAA9A2}"/>
              </a:ext>
            </a:extLst>
          </p:cNvPr>
          <p:cNvSpPr txBox="1"/>
          <p:nvPr/>
        </p:nvSpPr>
        <p:spPr>
          <a:xfrm>
            <a:off x="2651331" y="4876385"/>
            <a:ext cx="3808088"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Calling the method</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xmlns="" id="{5C2B592C-2F14-7ED1-C613-04E2A4CE7A60}"/>
              </a:ext>
            </a:extLst>
          </p:cNvPr>
          <p:cNvSpPr/>
          <p:nvPr/>
        </p:nvSpPr>
        <p:spPr>
          <a:xfrm>
            <a:off x="502024" y="1550895"/>
            <a:ext cx="1452282" cy="280624"/>
          </a:xfrm>
          <a:prstGeom prst="rect">
            <a:avLst/>
          </a:prstGeom>
          <a:solidFill>
            <a:schemeClr val="accent4">
              <a:alpha val="14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aa-ET"/>
          </a:p>
        </p:txBody>
      </p:sp>
      <p:cxnSp>
        <p:nvCxnSpPr>
          <p:cNvPr id="19" name="Straight Arrow Connector 18">
            <a:extLst>
              <a:ext uri="{FF2B5EF4-FFF2-40B4-BE49-F238E27FC236}">
                <a16:creationId xmlns:a16="http://schemas.microsoft.com/office/drawing/2014/main" xmlns="" id="{7BB60945-FB2C-BBA8-A0D8-A4F98DCA1AF7}"/>
              </a:ext>
            </a:extLst>
          </p:cNvPr>
          <p:cNvCxnSpPr>
            <a:cxnSpLocks/>
          </p:cNvCxnSpPr>
          <p:nvPr/>
        </p:nvCxnSpPr>
        <p:spPr>
          <a:xfrm flipH="1">
            <a:off x="1966263" y="1675716"/>
            <a:ext cx="240777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7F910124-2FBD-5851-03EF-DAD52F37ECC7}"/>
              </a:ext>
            </a:extLst>
          </p:cNvPr>
          <p:cNvSpPr txBox="1"/>
          <p:nvPr/>
        </p:nvSpPr>
        <p:spPr>
          <a:xfrm>
            <a:off x="4374037" y="1521930"/>
            <a:ext cx="3442345"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We could decide to eliminate this code</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28746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B974E09-8734-6621-87C0-141115A0A5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1A02FEC4-A45A-3F31-7DE9-C94415503953}"/>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CLASS CONSTRUCTORS</a:t>
            </a:r>
          </a:p>
        </p:txBody>
      </p:sp>
      <p:sp>
        <p:nvSpPr>
          <p:cNvPr id="8" name="Rectangle 7">
            <a:extLst>
              <a:ext uri="{FF2B5EF4-FFF2-40B4-BE49-F238E27FC236}">
                <a16:creationId xmlns:a16="http://schemas.microsoft.com/office/drawing/2014/main" xmlns="" id="{5ECF1848-A124-95D8-7DCF-9B598E3610BA}"/>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07664D0-DB04-0AC7-FD65-1C8852A4E1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7BAA66D6-E99E-9F97-490A-CBB0A72DA943}"/>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pic>
        <p:nvPicPr>
          <p:cNvPr id="5" name="Picture 4">
            <a:extLst>
              <a:ext uri="{FF2B5EF4-FFF2-40B4-BE49-F238E27FC236}">
                <a16:creationId xmlns:a16="http://schemas.microsoft.com/office/drawing/2014/main" xmlns="" id="{E6BCC8E8-BEB0-1A48-C5FE-1470366D339F}"/>
              </a:ext>
            </a:extLst>
          </p:cNvPr>
          <p:cNvPicPr>
            <a:picLocks noChangeAspect="1"/>
          </p:cNvPicPr>
          <p:nvPr/>
        </p:nvPicPr>
        <p:blipFill>
          <a:blip r:embed="rId3"/>
          <a:stretch>
            <a:fillRect/>
          </a:stretch>
        </p:blipFill>
        <p:spPr>
          <a:xfrm>
            <a:off x="336469" y="1734352"/>
            <a:ext cx="6276975" cy="2781300"/>
          </a:xfrm>
          <a:prstGeom prst="rect">
            <a:avLst/>
          </a:prstGeom>
        </p:spPr>
      </p:pic>
      <p:sp>
        <p:nvSpPr>
          <p:cNvPr id="6" name="Rectangle 5">
            <a:extLst>
              <a:ext uri="{FF2B5EF4-FFF2-40B4-BE49-F238E27FC236}">
                <a16:creationId xmlns:a16="http://schemas.microsoft.com/office/drawing/2014/main" xmlns="" id="{F6DB1A71-3B4B-9C97-313E-9B74F405B4DD}"/>
              </a:ext>
            </a:extLst>
          </p:cNvPr>
          <p:cNvSpPr/>
          <p:nvPr/>
        </p:nvSpPr>
        <p:spPr>
          <a:xfrm>
            <a:off x="861434" y="2582767"/>
            <a:ext cx="2325941" cy="594065"/>
          </a:xfrm>
          <a:prstGeom prst="rect">
            <a:avLst/>
          </a:prstGeom>
          <a:solidFill>
            <a:schemeClr val="accent4">
              <a:alpha val="14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aa-ET"/>
          </a:p>
        </p:txBody>
      </p:sp>
      <p:sp>
        <p:nvSpPr>
          <p:cNvPr id="7" name="TextBox 6">
            <a:extLst>
              <a:ext uri="{FF2B5EF4-FFF2-40B4-BE49-F238E27FC236}">
                <a16:creationId xmlns:a16="http://schemas.microsoft.com/office/drawing/2014/main" xmlns="" id="{88B79BB2-F813-BFBA-CBBD-CD9C277ACCC2}"/>
              </a:ext>
            </a:extLst>
          </p:cNvPr>
          <p:cNvSpPr txBox="1"/>
          <p:nvPr/>
        </p:nvSpPr>
        <p:spPr>
          <a:xfrm>
            <a:off x="3686997" y="2710522"/>
            <a:ext cx="1348033"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constructor</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xmlns="" id="{52032F91-76BD-EDE5-51B7-F6BA0C3E104E}"/>
              </a:ext>
            </a:extLst>
          </p:cNvPr>
          <p:cNvCxnSpPr>
            <a:cxnSpLocks/>
          </p:cNvCxnSpPr>
          <p:nvPr/>
        </p:nvCxnSpPr>
        <p:spPr>
          <a:xfrm flipH="1">
            <a:off x="3245618" y="2907828"/>
            <a:ext cx="4413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xmlns="" id="{D4065451-585D-498D-F7EF-76A486FDFFAD}"/>
              </a:ext>
            </a:extLst>
          </p:cNvPr>
          <p:cNvSpPr txBox="1"/>
          <p:nvPr/>
        </p:nvSpPr>
        <p:spPr>
          <a:xfrm>
            <a:off x="3094680" y="3966825"/>
            <a:ext cx="3392077" cy="584775"/>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We inject the name of the user when instantiating the class</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xmlns="" id="{0F93212A-553F-EC5F-2B7F-49E3B4831CEE}"/>
              </a:ext>
            </a:extLst>
          </p:cNvPr>
          <p:cNvCxnSpPr>
            <a:cxnSpLocks/>
          </p:cNvCxnSpPr>
          <p:nvPr/>
        </p:nvCxnSpPr>
        <p:spPr>
          <a:xfrm flipH="1">
            <a:off x="2653301" y="4164131"/>
            <a:ext cx="4413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79407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DAD007F-EA34-84A6-A0F9-9214D3013F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3528115B-63C0-F0B6-F53B-29E8782D8B85}"/>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CASE</a:t>
            </a:r>
          </a:p>
        </p:txBody>
      </p:sp>
      <p:sp>
        <p:nvSpPr>
          <p:cNvPr id="8" name="Rectangle 7">
            <a:extLst>
              <a:ext uri="{FF2B5EF4-FFF2-40B4-BE49-F238E27FC236}">
                <a16:creationId xmlns:a16="http://schemas.microsoft.com/office/drawing/2014/main" xmlns="" id="{C44B4C04-B6DD-3C8F-FAD1-2614B52B20C9}"/>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D1DD4192-DCB5-84D0-2F4F-788D600D98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41FAC76B-A0E3-0667-A9A5-B9B33966F077}"/>
              </a:ext>
            </a:extLst>
          </p:cNvPr>
          <p:cNvSpPr txBox="1"/>
          <p:nvPr/>
        </p:nvSpPr>
        <p:spPr>
          <a:xfrm>
            <a:off x="648303" y="6337562"/>
            <a:ext cx="6096000" cy="276999"/>
          </a:xfrm>
          <a:prstGeom prst="rect">
            <a:avLst/>
          </a:prstGeom>
          <a:noFill/>
        </p:spPr>
        <p:txBody>
          <a:bodyPr wrap="square">
            <a:spAutoFit/>
          </a:bodyPr>
          <a:lstStyle/>
          <a:p>
            <a:r>
              <a:rPr lang="en-US" sz="1200" dirty="0">
                <a:solidFill>
                  <a:schemeClr val="bg1">
                    <a:lumMod val="50000"/>
                  </a:schemeClr>
                </a:solidFill>
              </a:rPr>
              <a:t>Credit: </a:t>
            </a:r>
            <a:r>
              <a:rPr lang="en-US" sz="1200" dirty="0" err="1">
                <a:solidFill>
                  <a:schemeClr val="bg1">
                    <a:lumMod val="50000"/>
                  </a:schemeClr>
                </a:solidFill>
              </a:rPr>
              <a:t>programiz</a:t>
            </a:r>
            <a:endParaRPr lang="aa-ET" sz="1200" dirty="0">
              <a:solidFill>
                <a:schemeClr val="bg1">
                  <a:lumMod val="50000"/>
                </a:schemeClr>
              </a:solidFill>
            </a:endParaRPr>
          </a:p>
        </p:txBody>
      </p:sp>
      <p:pic>
        <p:nvPicPr>
          <p:cNvPr id="3" name="Picture 2">
            <a:extLst>
              <a:ext uri="{FF2B5EF4-FFF2-40B4-BE49-F238E27FC236}">
                <a16:creationId xmlns:a16="http://schemas.microsoft.com/office/drawing/2014/main" xmlns="" id="{6812B306-1984-C66E-0B85-22122A0D047E}"/>
              </a:ext>
            </a:extLst>
          </p:cNvPr>
          <p:cNvPicPr>
            <a:picLocks noChangeAspect="1"/>
          </p:cNvPicPr>
          <p:nvPr/>
        </p:nvPicPr>
        <p:blipFill>
          <a:blip r:embed="rId3"/>
          <a:stretch>
            <a:fillRect/>
          </a:stretch>
        </p:blipFill>
        <p:spPr>
          <a:xfrm>
            <a:off x="419100" y="1171575"/>
            <a:ext cx="5676900" cy="45148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440663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BFFCB35-47CC-9109-AF74-98000871D233}"/>
            </a:ext>
          </a:extLst>
        </p:cNvPr>
        <p:cNvGrpSpPr/>
        <p:nvPr/>
      </p:nvGrpSpPr>
      <p:grpSpPr>
        <a:xfrm>
          <a:off x="0" y="0"/>
          <a:ext cx="0" cy="0"/>
          <a:chOff x="0" y="0"/>
          <a:chExt cx="0" cy="0"/>
        </a:xfrm>
      </p:grpSpPr>
      <p:pic>
        <p:nvPicPr>
          <p:cNvPr id="1026" name="Picture 2" descr="Functional Programming in Python: Concepts, Modules &amp; Patterns | by: Akava  | Akava">
            <a:extLst>
              <a:ext uri="{FF2B5EF4-FFF2-40B4-BE49-F238E27FC236}">
                <a16:creationId xmlns:a16="http://schemas.microsoft.com/office/drawing/2014/main" xmlns="" id="{BAE274FF-C949-7086-D8FA-BF7BDDC717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55A16008-70FB-8C96-F129-8E6B671E749F}"/>
              </a:ext>
            </a:extLst>
          </p:cNvPr>
          <p:cNvSpPr/>
          <p:nvPr/>
        </p:nvSpPr>
        <p:spPr>
          <a:xfrm>
            <a:off x="0"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1A575AE1-9E0B-B216-3E8C-634BEF0B0BAA}"/>
              </a:ext>
            </a:extLst>
          </p:cNvPr>
          <p:cNvSpPr txBox="1"/>
          <p:nvPr/>
        </p:nvSpPr>
        <p:spPr>
          <a:xfrm>
            <a:off x="0" y="918764"/>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MODULES</a:t>
            </a:r>
          </a:p>
        </p:txBody>
      </p:sp>
    </p:spTree>
    <p:extLst>
      <p:ext uri="{BB962C8B-B14F-4D97-AF65-F5344CB8AC3E}">
        <p14:creationId xmlns:p14="http://schemas.microsoft.com/office/powerpoint/2010/main" val="5726027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C9754B-7478-54DD-E7FD-42EA93140C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A7B5845F-18F6-0965-C743-C81350B0F392}"/>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MODULE</a:t>
            </a:r>
          </a:p>
        </p:txBody>
      </p:sp>
      <p:sp>
        <p:nvSpPr>
          <p:cNvPr id="8" name="Rectangle 7">
            <a:extLst>
              <a:ext uri="{FF2B5EF4-FFF2-40B4-BE49-F238E27FC236}">
                <a16:creationId xmlns:a16="http://schemas.microsoft.com/office/drawing/2014/main" xmlns="" id="{21A3D700-C2A7-F8E3-B81D-3CB79A9DFA26}"/>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D3563F0-5B04-C355-410B-21BFD5A623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xmlns="" id="{F83C2920-A57C-436B-435B-69CDADAB1271}"/>
              </a:ext>
            </a:extLst>
          </p:cNvPr>
          <p:cNvSpPr txBox="1"/>
          <p:nvPr/>
        </p:nvSpPr>
        <p:spPr>
          <a:xfrm>
            <a:off x="377682" y="1313479"/>
            <a:ext cx="7215423" cy="923330"/>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Consider a module to be the same as a code library.  It is a file containing a set of functions you want to include in your application. To create a module just save the code you want in a file with the file extension .</a:t>
            </a:r>
            <a:r>
              <a:rPr lang="en-US" b="0" i="0" dirty="0" err="1">
                <a:effectLst/>
                <a:latin typeface="Times New Roman" panose="02020603050405020304" pitchFamily="18" charset="0"/>
                <a:cs typeface="Times New Roman" panose="02020603050405020304" pitchFamily="18" charset="0"/>
              </a:rPr>
              <a:t>py</a:t>
            </a:r>
            <a:endParaRPr lang="aa-ET"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AF4E6F5B-287E-905B-6D91-289959955707}"/>
              </a:ext>
            </a:extLst>
          </p:cNvPr>
          <p:cNvSpPr txBox="1"/>
          <p:nvPr/>
        </p:nvSpPr>
        <p:spPr>
          <a:xfrm>
            <a:off x="377682" y="2554908"/>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Create a file and name it: mathematics.py</a:t>
            </a:r>
            <a:endParaRPr lang="aa-ET"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xmlns="" id="{CBF8ED35-D685-51D5-3833-BB2581864C15}"/>
              </a:ext>
            </a:extLst>
          </p:cNvPr>
          <p:cNvPicPr>
            <a:picLocks noChangeAspect="1"/>
          </p:cNvPicPr>
          <p:nvPr/>
        </p:nvPicPr>
        <p:blipFill>
          <a:blip r:embed="rId3"/>
          <a:stretch>
            <a:fillRect/>
          </a:stretch>
        </p:blipFill>
        <p:spPr>
          <a:xfrm>
            <a:off x="755121" y="3047999"/>
            <a:ext cx="3620498" cy="3709593"/>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xmlns="" id="{9ED43FF9-1164-766C-8AC2-78E325CC7BF2}"/>
              </a:ext>
            </a:extLst>
          </p:cNvPr>
          <p:cNvSpPr txBox="1"/>
          <p:nvPr/>
        </p:nvSpPr>
        <p:spPr>
          <a:xfrm>
            <a:off x="4598896" y="3355981"/>
            <a:ext cx="1348033"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function</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xmlns="" id="{DBED2AEF-D5AE-399B-1DEC-AD35820AF5F8}"/>
              </a:ext>
            </a:extLst>
          </p:cNvPr>
          <p:cNvCxnSpPr>
            <a:cxnSpLocks/>
          </p:cNvCxnSpPr>
          <p:nvPr/>
        </p:nvCxnSpPr>
        <p:spPr>
          <a:xfrm flipH="1">
            <a:off x="4157517" y="3553287"/>
            <a:ext cx="4413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1933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A60ED99-69EB-0719-9C34-67C700E656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76F8FFB6-8146-B018-6E78-F1D20B2001AA}"/>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MODULE</a:t>
            </a:r>
          </a:p>
        </p:txBody>
      </p:sp>
      <p:sp>
        <p:nvSpPr>
          <p:cNvPr id="8" name="Rectangle 7">
            <a:extLst>
              <a:ext uri="{FF2B5EF4-FFF2-40B4-BE49-F238E27FC236}">
                <a16:creationId xmlns:a16="http://schemas.microsoft.com/office/drawing/2014/main" xmlns="" id="{90DEC99E-4333-A3B8-0DDB-73B072508D7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B3D7B683-536A-522F-D12A-743FE3C688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0D5B8CB5-C1AB-189F-7676-6D8E52717EDC}"/>
              </a:ext>
            </a:extLst>
          </p:cNvPr>
          <p:cNvSpPr txBox="1"/>
          <p:nvPr/>
        </p:nvSpPr>
        <p:spPr>
          <a:xfrm>
            <a:off x="135634" y="1263990"/>
            <a:ext cx="7215423" cy="646331"/>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Create another file in the same directory as the mathematics.py and name it: use.py</a:t>
            </a:r>
            <a:endParaRPr lang="aa-ET"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FDEF886F-3C6A-2160-DD3E-5427D588542D}"/>
              </a:ext>
            </a:extLst>
          </p:cNvPr>
          <p:cNvPicPr>
            <a:picLocks noChangeAspect="1"/>
          </p:cNvPicPr>
          <p:nvPr/>
        </p:nvPicPr>
        <p:blipFill>
          <a:blip r:embed="rId3"/>
          <a:stretch>
            <a:fillRect/>
          </a:stretch>
        </p:blipFill>
        <p:spPr>
          <a:xfrm>
            <a:off x="490817" y="2172796"/>
            <a:ext cx="4600420" cy="1781260"/>
          </a:xfrm>
          <a:prstGeom prst="rect">
            <a:avLst/>
          </a:prstGeom>
        </p:spPr>
      </p:pic>
      <p:sp>
        <p:nvSpPr>
          <p:cNvPr id="7" name="TextBox 6">
            <a:extLst>
              <a:ext uri="{FF2B5EF4-FFF2-40B4-BE49-F238E27FC236}">
                <a16:creationId xmlns:a16="http://schemas.microsoft.com/office/drawing/2014/main" xmlns="" id="{A353CE51-86A3-9A65-6767-23AA93283C88}"/>
              </a:ext>
            </a:extLst>
          </p:cNvPr>
          <p:cNvSpPr txBox="1"/>
          <p:nvPr/>
        </p:nvSpPr>
        <p:spPr>
          <a:xfrm>
            <a:off x="3385127" y="2172796"/>
            <a:ext cx="3435619"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Importing the mathematics.py file</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xmlns="" id="{55CD7789-139A-8E7C-2FD4-4D97C26E2D8D}"/>
              </a:ext>
            </a:extLst>
          </p:cNvPr>
          <p:cNvCxnSpPr>
            <a:cxnSpLocks/>
          </p:cNvCxnSpPr>
          <p:nvPr/>
        </p:nvCxnSpPr>
        <p:spPr>
          <a:xfrm flipH="1">
            <a:off x="2943748" y="2370102"/>
            <a:ext cx="4413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03251081-5549-30DE-D0A4-037AD4E36807}"/>
              </a:ext>
            </a:extLst>
          </p:cNvPr>
          <p:cNvSpPr txBox="1"/>
          <p:nvPr/>
        </p:nvSpPr>
        <p:spPr>
          <a:xfrm>
            <a:off x="4736000" y="2724872"/>
            <a:ext cx="3435619" cy="584775"/>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Using the add function in the mathematics.py file</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xmlns="" id="{B1A1D690-EAAE-AE22-9455-F02B4BF358EC}"/>
              </a:ext>
            </a:extLst>
          </p:cNvPr>
          <p:cNvCxnSpPr>
            <a:cxnSpLocks/>
          </p:cNvCxnSpPr>
          <p:nvPr/>
        </p:nvCxnSpPr>
        <p:spPr>
          <a:xfrm flipH="1">
            <a:off x="4294621" y="2922178"/>
            <a:ext cx="4413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58E09379-BE8E-3174-14E5-83D5FB788816}"/>
              </a:ext>
            </a:extLst>
          </p:cNvPr>
          <p:cNvSpPr txBox="1"/>
          <p:nvPr/>
        </p:nvSpPr>
        <p:spPr>
          <a:xfrm>
            <a:off x="135634" y="4437492"/>
            <a:ext cx="7215423" cy="1200329"/>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Note that we imported all the codes in the mathematics file but we used only the add function.</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highlight>
                  <a:srgbClr val="00FF00"/>
                </a:highlight>
                <a:latin typeface="Times New Roman" panose="02020603050405020304" pitchFamily="18" charset="0"/>
                <a:cs typeface="Times New Roman" panose="02020603050405020304" pitchFamily="18" charset="0"/>
              </a:rPr>
              <a:t>So lets see how to import only the add function</a:t>
            </a:r>
            <a:endParaRPr lang="aa-ET" dirty="0">
              <a:highlight>
                <a:srgbClr val="00FF00"/>
              </a:highlight>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xmlns="" id="{6AB9B4D4-507D-0CBB-F606-6F24C7CCE08A}"/>
              </a:ext>
            </a:extLst>
          </p:cNvPr>
          <p:cNvSpPr/>
          <p:nvPr/>
        </p:nvSpPr>
        <p:spPr>
          <a:xfrm>
            <a:off x="542938" y="2209704"/>
            <a:ext cx="898712" cy="301641"/>
          </a:xfrm>
          <a:prstGeom prst="rect">
            <a:avLst/>
          </a:prstGeom>
          <a:solidFill>
            <a:schemeClr val="bg1">
              <a:alpha val="14000"/>
            </a:schemeClr>
          </a:solidFill>
          <a:ln w="28575">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aa-ET"/>
          </a:p>
        </p:txBody>
      </p:sp>
    </p:spTree>
    <p:extLst>
      <p:ext uri="{BB962C8B-B14F-4D97-AF65-F5344CB8AC3E}">
        <p14:creationId xmlns:p14="http://schemas.microsoft.com/office/powerpoint/2010/main" val="29829105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1ECA22-FED6-A069-01A9-A22B4E46075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xmlns="" id="{790EAF53-FB23-ED42-AD4B-3510CF27A310}"/>
              </a:ext>
            </a:extLst>
          </p:cNvPr>
          <p:cNvPicPr>
            <a:picLocks noChangeAspect="1"/>
          </p:cNvPicPr>
          <p:nvPr/>
        </p:nvPicPr>
        <p:blipFill>
          <a:blip r:embed="rId2"/>
          <a:stretch>
            <a:fillRect/>
          </a:stretch>
        </p:blipFill>
        <p:spPr>
          <a:xfrm>
            <a:off x="430135" y="2032485"/>
            <a:ext cx="4208389" cy="1779386"/>
          </a:xfrm>
          <a:prstGeom prst="rect">
            <a:avLst/>
          </a:prstGeom>
        </p:spPr>
      </p:pic>
      <p:sp>
        <p:nvSpPr>
          <p:cNvPr id="4" name="TextBox 3">
            <a:extLst>
              <a:ext uri="{FF2B5EF4-FFF2-40B4-BE49-F238E27FC236}">
                <a16:creationId xmlns:a16="http://schemas.microsoft.com/office/drawing/2014/main" xmlns="" id="{3A02C66F-2E31-2086-6BD2-E7485BED27DA}"/>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MODULE</a:t>
            </a:r>
          </a:p>
        </p:txBody>
      </p:sp>
      <p:sp>
        <p:nvSpPr>
          <p:cNvPr id="8" name="Rectangle 7">
            <a:extLst>
              <a:ext uri="{FF2B5EF4-FFF2-40B4-BE49-F238E27FC236}">
                <a16:creationId xmlns:a16="http://schemas.microsoft.com/office/drawing/2014/main" xmlns="" id="{9731A426-409B-573F-0B06-B0F6B56BECE3}"/>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1C6742F9-6A4B-3AB7-867C-5EC0D46514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xmlns="" id="{32D81E33-0745-A5A9-3DA3-6D1622536735}"/>
              </a:ext>
            </a:extLst>
          </p:cNvPr>
          <p:cNvSpPr txBox="1"/>
          <p:nvPr/>
        </p:nvSpPr>
        <p:spPr>
          <a:xfrm>
            <a:off x="4638524" y="2095012"/>
            <a:ext cx="3435619" cy="338554"/>
          </a:xfrm>
          <a:prstGeom prst="rect">
            <a:avLst/>
          </a:prstGeom>
          <a:noFill/>
        </p:spPr>
        <p:txBody>
          <a:bodyPr wrap="square">
            <a:spAutoFit/>
          </a:bodyPr>
          <a:lstStyle/>
          <a:p>
            <a:pPr algn="l"/>
            <a:r>
              <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rPr>
              <a:t>See how we import the add function</a:t>
            </a:r>
          </a:p>
        </p:txBody>
      </p:sp>
      <p:cxnSp>
        <p:nvCxnSpPr>
          <p:cNvPr id="9" name="Straight Arrow Connector 8">
            <a:extLst>
              <a:ext uri="{FF2B5EF4-FFF2-40B4-BE49-F238E27FC236}">
                <a16:creationId xmlns:a16="http://schemas.microsoft.com/office/drawing/2014/main" xmlns="" id="{80C087DA-E089-473E-DDC7-B55E9D730957}"/>
              </a:ext>
            </a:extLst>
          </p:cNvPr>
          <p:cNvCxnSpPr>
            <a:cxnSpLocks/>
          </p:cNvCxnSpPr>
          <p:nvPr/>
        </p:nvCxnSpPr>
        <p:spPr>
          <a:xfrm flipH="1">
            <a:off x="4197145" y="2264289"/>
            <a:ext cx="4413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68A3340B-DE3F-3F8F-C3E3-DE9640F9B4B3}"/>
              </a:ext>
            </a:extLst>
          </p:cNvPr>
          <p:cNvSpPr txBox="1"/>
          <p:nvPr/>
        </p:nvSpPr>
        <p:spPr>
          <a:xfrm>
            <a:off x="4736000" y="2724872"/>
            <a:ext cx="3435619" cy="338554"/>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See the use too</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xmlns="" id="{9E1797B4-A243-10B8-724E-54A9E7367DF0}"/>
              </a:ext>
            </a:extLst>
          </p:cNvPr>
          <p:cNvCxnSpPr>
            <a:cxnSpLocks/>
          </p:cNvCxnSpPr>
          <p:nvPr/>
        </p:nvCxnSpPr>
        <p:spPr>
          <a:xfrm flipH="1">
            <a:off x="4294621" y="2922178"/>
            <a:ext cx="4413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A08A7E23-4AB7-2CF9-374E-AFA74477D65E}"/>
              </a:ext>
            </a:extLst>
          </p:cNvPr>
          <p:cNvSpPr txBox="1"/>
          <p:nvPr/>
        </p:nvSpPr>
        <p:spPr>
          <a:xfrm>
            <a:off x="135634" y="4437492"/>
            <a:ext cx="7215423" cy="369332"/>
          </a:xfrm>
          <a:prstGeom prst="rect">
            <a:avLst/>
          </a:prstGeom>
          <a:noFill/>
        </p:spPr>
        <p:txBody>
          <a:bodyPr wrap="square">
            <a:spAutoFit/>
          </a:bodyPr>
          <a:lstStyle/>
          <a:p>
            <a:pPr marL="285750" indent="-285750" algn="l">
              <a:buFont typeface="Arial" panose="020B0604020202020204" pitchFamily="34" charset="0"/>
              <a:buChar char="•"/>
            </a:pPr>
            <a:r>
              <a:rPr lang="en-US" dirty="0">
                <a:highlight>
                  <a:srgbClr val="00FF00"/>
                </a:highlight>
                <a:latin typeface="Times New Roman" panose="02020603050405020304" pitchFamily="18" charset="0"/>
                <a:cs typeface="Times New Roman" panose="02020603050405020304" pitchFamily="18" charset="0"/>
              </a:rPr>
              <a:t>Sometimes we can import and rename</a:t>
            </a:r>
            <a:endParaRPr lang="aa-ET" dirty="0">
              <a:highlight>
                <a:srgbClr val="00FF00"/>
              </a:highlight>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xmlns="" id="{B3E5D8FE-A4E9-E2DD-3DCC-41BABC45E528}"/>
              </a:ext>
            </a:extLst>
          </p:cNvPr>
          <p:cNvSpPr/>
          <p:nvPr/>
        </p:nvSpPr>
        <p:spPr>
          <a:xfrm>
            <a:off x="457937" y="2104503"/>
            <a:ext cx="3630811" cy="301641"/>
          </a:xfrm>
          <a:prstGeom prst="rect">
            <a:avLst/>
          </a:prstGeom>
          <a:solidFill>
            <a:schemeClr val="bg1">
              <a:alpha val="14000"/>
            </a:schemeClr>
          </a:solidFill>
          <a:ln w="28575">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aa-ET"/>
          </a:p>
        </p:txBody>
      </p:sp>
    </p:spTree>
    <p:extLst>
      <p:ext uri="{BB962C8B-B14F-4D97-AF65-F5344CB8AC3E}">
        <p14:creationId xmlns:p14="http://schemas.microsoft.com/office/powerpoint/2010/main" val="30306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D839658-219D-A286-4B21-1C7E1D0806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4C0BCB8-5962-F743-9462-38AE54ADE605}"/>
              </a:ext>
            </a:extLst>
          </p:cNvPr>
          <p:cNvPicPr>
            <a:picLocks noChangeAspect="1"/>
          </p:cNvPicPr>
          <p:nvPr/>
        </p:nvPicPr>
        <p:blipFill>
          <a:blip r:embed="rId2"/>
          <a:stretch>
            <a:fillRect/>
          </a:stretch>
        </p:blipFill>
        <p:spPr>
          <a:xfrm>
            <a:off x="394337" y="1695459"/>
            <a:ext cx="3660378" cy="1776585"/>
          </a:xfrm>
          <a:prstGeom prst="rect">
            <a:avLst/>
          </a:prstGeom>
        </p:spPr>
      </p:pic>
      <p:sp>
        <p:nvSpPr>
          <p:cNvPr id="4" name="TextBox 3">
            <a:extLst>
              <a:ext uri="{FF2B5EF4-FFF2-40B4-BE49-F238E27FC236}">
                <a16:creationId xmlns:a16="http://schemas.microsoft.com/office/drawing/2014/main" xmlns="" id="{9253449A-3491-A554-0049-9B5049A93928}"/>
              </a:ext>
            </a:extLst>
          </p:cNvPr>
          <p:cNvSpPr txBox="1"/>
          <p:nvPr/>
        </p:nvSpPr>
        <p:spPr>
          <a:xfrm>
            <a:off x="301904" y="520438"/>
            <a:ext cx="7514478" cy="523220"/>
          </a:xfrm>
          <a:prstGeom prst="rect">
            <a:avLst/>
          </a:prstGeom>
          <a:noFill/>
        </p:spPr>
        <p:txBody>
          <a:bodyPr wrap="square" rtlCol="0">
            <a:spAutoFit/>
          </a:bodyPr>
          <a:lstStyle/>
          <a:p>
            <a:r>
              <a:rPr lang="en-US" sz="2800" b="1" dirty="0">
                <a:latin typeface="Arial Rounded MT Bold" panose="020F0704030504030204" pitchFamily="34" charset="0"/>
              </a:rPr>
              <a:t>MODULE</a:t>
            </a:r>
          </a:p>
        </p:txBody>
      </p:sp>
      <p:sp>
        <p:nvSpPr>
          <p:cNvPr id="8" name="Rectangle 7">
            <a:extLst>
              <a:ext uri="{FF2B5EF4-FFF2-40B4-BE49-F238E27FC236}">
                <a16:creationId xmlns:a16="http://schemas.microsoft.com/office/drawing/2014/main" xmlns="" id="{824C69DD-0138-C7E8-AE1E-E6B62402432C}"/>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Coding and Fundamentals: Working With Collections - PHT">
            <a:extLst>
              <a:ext uri="{FF2B5EF4-FFF2-40B4-BE49-F238E27FC236}">
                <a16:creationId xmlns:a16="http://schemas.microsoft.com/office/drawing/2014/main" xmlns="" id="{06925553-B7B3-65AC-85D3-B28488F986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6851" y="2200563"/>
            <a:ext cx="2172855" cy="21728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xmlns="" id="{8E5A80A7-9271-F187-0455-FC10450D6573}"/>
              </a:ext>
            </a:extLst>
          </p:cNvPr>
          <p:cNvSpPr txBox="1"/>
          <p:nvPr/>
        </p:nvSpPr>
        <p:spPr>
          <a:xfrm>
            <a:off x="4515310" y="1925735"/>
            <a:ext cx="3435619" cy="338554"/>
          </a:xfrm>
          <a:prstGeom prst="rect">
            <a:avLst/>
          </a:prstGeom>
          <a:noFill/>
        </p:spPr>
        <p:txBody>
          <a:bodyPr wrap="square">
            <a:spAutoFit/>
          </a:bodyPr>
          <a:lstStyle/>
          <a:p>
            <a:pPr algn="l"/>
            <a:r>
              <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rPr>
              <a:t>We introduce the “as” aliasing keyword</a:t>
            </a:r>
          </a:p>
        </p:txBody>
      </p:sp>
      <p:cxnSp>
        <p:nvCxnSpPr>
          <p:cNvPr id="9" name="Straight Arrow Connector 8">
            <a:extLst>
              <a:ext uri="{FF2B5EF4-FFF2-40B4-BE49-F238E27FC236}">
                <a16:creationId xmlns:a16="http://schemas.microsoft.com/office/drawing/2014/main" xmlns="" id="{EF0FB27E-1CF9-117D-F3EF-2E2CD4CB0C2F}"/>
              </a:ext>
            </a:extLst>
          </p:cNvPr>
          <p:cNvCxnSpPr>
            <a:cxnSpLocks/>
          </p:cNvCxnSpPr>
          <p:nvPr/>
        </p:nvCxnSpPr>
        <p:spPr>
          <a:xfrm flipH="1" flipV="1">
            <a:off x="3938011" y="1941559"/>
            <a:ext cx="633989" cy="1534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698F4423-FFA8-0B48-DEEC-1DCBFE429CB3}"/>
              </a:ext>
            </a:extLst>
          </p:cNvPr>
          <p:cNvSpPr txBox="1"/>
          <p:nvPr/>
        </p:nvSpPr>
        <p:spPr>
          <a:xfrm>
            <a:off x="4736000" y="2724872"/>
            <a:ext cx="3435619" cy="584775"/>
          </a:xfrm>
          <a:prstGeom prst="rect">
            <a:avLst/>
          </a:prstGeom>
          <a:noFill/>
        </p:spPr>
        <p:txBody>
          <a:bodyPr wrap="square">
            <a:spAutoFit/>
          </a:bodyPr>
          <a:lstStyle/>
          <a:p>
            <a:pPr algn="l"/>
            <a:r>
              <a:rPr lang="en-US" sz="1600" dirty="0">
                <a:solidFill>
                  <a:srgbClr val="000000"/>
                </a:solidFill>
                <a:highlight>
                  <a:srgbClr val="FF00FF"/>
                </a:highlight>
                <a:latin typeface="Times New Roman" panose="02020603050405020304" pitchFamily="18" charset="0"/>
                <a:cs typeface="Times New Roman" panose="02020603050405020304" pitchFamily="18" charset="0"/>
              </a:rPr>
              <a:t>We access the functions in the mathematics file with mt, the </a:t>
            </a:r>
            <a:r>
              <a:rPr lang="en-US" sz="1600" dirty="0" err="1">
                <a:solidFill>
                  <a:srgbClr val="000000"/>
                </a:solidFill>
                <a:highlight>
                  <a:srgbClr val="FF00FF"/>
                </a:highlight>
                <a:latin typeface="Times New Roman" panose="02020603050405020304" pitchFamily="18" charset="0"/>
                <a:cs typeface="Times New Roman" panose="02020603050405020304" pitchFamily="18" charset="0"/>
              </a:rPr>
              <a:t>aliase</a:t>
            </a:r>
            <a:endParaRPr lang="en-US" sz="1600" b="0" i="0" dirty="0">
              <a:solidFill>
                <a:srgbClr val="000000"/>
              </a:solidFill>
              <a:effectLst/>
              <a:highlight>
                <a:srgbClr val="FF00FF"/>
              </a:highligh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xmlns="" id="{40DBB415-70A6-BAEE-7A30-A67BD1A2FE4C}"/>
              </a:ext>
            </a:extLst>
          </p:cNvPr>
          <p:cNvCxnSpPr>
            <a:cxnSpLocks/>
            <a:stCxn id="11" idx="1"/>
          </p:cNvCxnSpPr>
          <p:nvPr/>
        </p:nvCxnSpPr>
        <p:spPr>
          <a:xfrm flipH="1" flipV="1">
            <a:off x="1956112" y="2724872"/>
            <a:ext cx="2779888" cy="2923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xmlns="" id="{03DB0101-677E-6772-F2A0-E7670887256E}"/>
              </a:ext>
            </a:extLst>
          </p:cNvPr>
          <p:cNvSpPr/>
          <p:nvPr/>
        </p:nvSpPr>
        <p:spPr>
          <a:xfrm>
            <a:off x="3021843" y="1749161"/>
            <a:ext cx="895733" cy="301641"/>
          </a:xfrm>
          <a:prstGeom prst="rect">
            <a:avLst/>
          </a:prstGeom>
          <a:solidFill>
            <a:schemeClr val="bg1">
              <a:alpha val="14000"/>
            </a:schemeClr>
          </a:solidFill>
          <a:ln w="28575">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aa-ET"/>
          </a:p>
        </p:txBody>
      </p:sp>
    </p:spTree>
    <p:extLst>
      <p:ext uri="{BB962C8B-B14F-4D97-AF65-F5344CB8AC3E}">
        <p14:creationId xmlns:p14="http://schemas.microsoft.com/office/powerpoint/2010/main" val="24712422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DATABASE : Basic concepts everyone should know | by Nipuni Perera | Medium">
            <a:extLst>
              <a:ext uri="{FF2B5EF4-FFF2-40B4-BE49-F238E27FC236}">
                <a16:creationId xmlns:a16="http://schemas.microsoft.com/office/drawing/2014/main" xmlns="" id="{C5CC762A-A86C-A188-3E05-2BB168666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819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 y="0"/>
            <a:ext cx="12192000" cy="6858000"/>
          </a:xfrm>
          <a:prstGeom prst="rect">
            <a:avLst/>
          </a:prstGeom>
          <a:solidFill>
            <a:srgbClr val="00B0F0">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0" y="1574546"/>
            <a:ext cx="12192000" cy="768350"/>
          </a:xfrm>
          <a:prstGeom prst="rect">
            <a:avLst/>
          </a:prstGeom>
          <a:solidFill>
            <a:schemeClr val="tx1">
              <a:lumMod val="85000"/>
              <a:lumOff val="15000"/>
            </a:schemeClr>
          </a:solidFill>
        </p:spPr>
        <p:txBody>
          <a:bodyPr wrap="square" rtlCol="0">
            <a:spAutoFit/>
          </a:bodyPr>
          <a:lstStyle/>
          <a:p>
            <a:pPr algn="ctr"/>
            <a:r>
              <a:rPr lang="en-US" sz="4400" dirty="0">
                <a:solidFill>
                  <a:schemeClr val="bg1"/>
                </a:solidFill>
              </a:rPr>
              <a:t>NEXT STEPS</a:t>
            </a:r>
          </a:p>
        </p:txBody>
      </p:sp>
    </p:spTree>
    <p:extLst>
      <p:ext uri="{BB962C8B-B14F-4D97-AF65-F5344CB8AC3E}">
        <p14:creationId xmlns:p14="http://schemas.microsoft.com/office/powerpoint/2010/main" val="27999070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A5D50FF-6244-89B5-4F92-40137E4B7E7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xmlns="" id="{C0E92632-C429-C5D1-AB40-371EDBB8FCE2}"/>
              </a:ext>
            </a:extLst>
          </p:cNvPr>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xmlns="" id="{D8F56B36-61E0-183D-9C28-F9312F736F77}"/>
              </a:ext>
            </a:extLst>
          </p:cNvPr>
          <p:cNvSpPr txBox="1"/>
          <p:nvPr/>
        </p:nvSpPr>
        <p:spPr>
          <a:xfrm>
            <a:off x="490388" y="259976"/>
            <a:ext cx="7012305" cy="521970"/>
          </a:xfrm>
          <a:prstGeom prst="rect">
            <a:avLst/>
          </a:prstGeom>
          <a:noFill/>
        </p:spPr>
        <p:txBody>
          <a:bodyPr wrap="square" rtlCol="0">
            <a:spAutoFit/>
          </a:bodyPr>
          <a:lstStyle/>
          <a:p>
            <a:r>
              <a:rPr lang="en-US" sz="2800" b="1" dirty="0">
                <a:highlight>
                  <a:srgbClr val="00FFFF"/>
                </a:highlight>
                <a:latin typeface="Arial Rounded MT Bold" panose="020F0704030504030204" pitchFamily="34" charset="0"/>
              </a:rPr>
              <a:t>TO THIS END…</a:t>
            </a:r>
          </a:p>
        </p:txBody>
      </p:sp>
      <p:sp>
        <p:nvSpPr>
          <p:cNvPr id="12" name="Text Box 103">
            <a:extLst>
              <a:ext uri="{FF2B5EF4-FFF2-40B4-BE49-F238E27FC236}">
                <a16:creationId xmlns:a16="http://schemas.microsoft.com/office/drawing/2014/main" xmlns="" id="{EEAA2DA8-EAD2-D24D-D356-52D3D5A3A850}"/>
              </a:ext>
            </a:extLst>
          </p:cNvPr>
          <p:cNvSpPr txBox="1"/>
          <p:nvPr/>
        </p:nvSpPr>
        <p:spPr>
          <a:xfrm>
            <a:off x="490388" y="914941"/>
            <a:ext cx="7120647" cy="2308324"/>
          </a:xfrm>
          <a:prstGeom prst="rect">
            <a:avLst/>
          </a:prstGeom>
          <a:noFill/>
          <a:ln w="9525">
            <a:noFill/>
          </a:ln>
        </p:spPr>
        <p:txBody>
          <a:bodyPr wrap="square">
            <a:spAutoFit/>
          </a:bodyPr>
          <a:lstStyle/>
          <a:p>
            <a:r>
              <a:rPr lang="en-US" dirty="0">
                <a:latin typeface="Times New Roman" panose="02020603050405020304" pitchFamily="18" charset="0"/>
                <a:cs typeface="等线" charset="0"/>
              </a:rPr>
              <a:t>We have learnt the basics of python programming specifically;</a:t>
            </a:r>
          </a:p>
          <a:p>
            <a:endParaRPr lang="en-US" dirty="0">
              <a:latin typeface="Times New Roman" panose="02020603050405020304" pitchFamily="18" charset="0"/>
              <a:cs typeface="等线" charset="0"/>
            </a:endParaRPr>
          </a:p>
          <a:p>
            <a:pPr marL="800100" lvl="1" indent="-342900">
              <a:buFont typeface="Arial" panose="020B0604020202020204" pitchFamily="34" charset="0"/>
              <a:buChar char="•"/>
            </a:pPr>
            <a:r>
              <a:rPr lang="en-US" dirty="0">
                <a:latin typeface="Times New Roman" panose="02020603050405020304" pitchFamily="18" charset="0"/>
                <a:cs typeface="等线" charset="0"/>
              </a:rPr>
              <a:t>Loops (e.g., for-loop and while-loop)</a:t>
            </a:r>
          </a:p>
          <a:p>
            <a:pPr marL="800100" lvl="1" indent="-342900">
              <a:buFont typeface="Arial" panose="020B0604020202020204" pitchFamily="34" charset="0"/>
              <a:buChar char="•"/>
            </a:pPr>
            <a:r>
              <a:rPr lang="en-US" dirty="0">
                <a:latin typeface="Times New Roman" panose="02020603050405020304" pitchFamily="18" charset="0"/>
                <a:cs typeface="等线" charset="0"/>
              </a:rPr>
              <a:t>Functions</a:t>
            </a:r>
          </a:p>
          <a:p>
            <a:pPr marL="800100" lvl="1" indent="-342900">
              <a:buFont typeface="Arial" panose="020B0604020202020204" pitchFamily="34" charset="0"/>
              <a:buChar char="•"/>
            </a:pPr>
            <a:r>
              <a:rPr lang="en-US" dirty="0">
                <a:latin typeface="Times New Roman" panose="02020603050405020304" pitchFamily="18" charset="0"/>
                <a:cs typeface="等线" charset="0"/>
              </a:rPr>
              <a:t>OOP</a:t>
            </a:r>
          </a:p>
          <a:p>
            <a:pPr marL="800100" lvl="1" indent="-342900">
              <a:buFont typeface="Arial" panose="020B0604020202020204" pitchFamily="34" charset="0"/>
              <a:buChar char="•"/>
            </a:pPr>
            <a:r>
              <a:rPr lang="en-US" dirty="0">
                <a:latin typeface="Times New Roman" panose="02020603050405020304" pitchFamily="18" charset="0"/>
                <a:cs typeface="等线" charset="0"/>
              </a:rPr>
              <a:t>Modules</a:t>
            </a:r>
          </a:p>
          <a:p>
            <a:pPr lvl="1"/>
            <a:endParaRPr lang="en-US" dirty="0">
              <a:latin typeface="Times New Roman" panose="02020603050405020304" pitchFamily="18" charset="0"/>
              <a:cs typeface="等线" charset="0"/>
            </a:endParaRPr>
          </a:p>
          <a:p>
            <a:pPr marL="800100" lvl="1" indent="-342900">
              <a:buFont typeface="Arial" panose="020B0604020202020204" pitchFamily="34" charset="0"/>
              <a:buChar char="•"/>
            </a:pPr>
            <a:r>
              <a:rPr lang="en-US" dirty="0">
                <a:highlight>
                  <a:srgbClr val="00FF00"/>
                </a:highlight>
                <a:latin typeface="Times New Roman" panose="02020603050405020304" pitchFamily="18" charset="0"/>
                <a:cs typeface="等线" charset="0"/>
              </a:rPr>
              <a:t>In the next session, we will learn about data </a:t>
            </a:r>
            <a:r>
              <a:rPr lang="en-US" dirty="0" smtClean="0">
                <a:highlight>
                  <a:srgbClr val="00FF00"/>
                </a:highlight>
                <a:latin typeface="Times New Roman" panose="02020603050405020304" pitchFamily="18" charset="0"/>
                <a:cs typeface="等线" charset="0"/>
              </a:rPr>
              <a:t>python framework</a:t>
            </a:r>
            <a:endParaRPr lang="en-US" dirty="0">
              <a:latin typeface="Times New Roman" panose="02020603050405020304" pitchFamily="18" charset="0"/>
              <a:cs typeface="等线" charset="0"/>
            </a:endParaRPr>
          </a:p>
        </p:txBody>
      </p:sp>
      <p:pic>
        <p:nvPicPr>
          <p:cNvPr id="20482" name="Picture 2" descr="What is Python Coding?">
            <a:extLst>
              <a:ext uri="{FF2B5EF4-FFF2-40B4-BE49-F238E27FC236}">
                <a16:creationId xmlns:a16="http://schemas.microsoft.com/office/drawing/2014/main" xmlns="" id="{91AF607E-2331-4A5A-2BA1-20A0617F9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1965" y="2147047"/>
            <a:ext cx="2335306" cy="233530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33662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81638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xmlns="" id="{E414E4CD-434D-4255-B984-8BD0CED8E388}"/>
              </a:ext>
            </a:extLst>
          </p:cNvPr>
          <p:cNvSpPr txBox="1"/>
          <p:nvPr/>
        </p:nvSpPr>
        <p:spPr>
          <a:xfrm>
            <a:off x="490388" y="259976"/>
            <a:ext cx="7012305" cy="521970"/>
          </a:xfrm>
          <a:prstGeom prst="rect">
            <a:avLst/>
          </a:prstGeom>
          <a:noFill/>
        </p:spPr>
        <p:txBody>
          <a:bodyPr wrap="square" rtlCol="0">
            <a:spAutoFit/>
          </a:bodyPr>
          <a:lstStyle/>
          <a:p>
            <a:r>
              <a:rPr lang="en-US" sz="2800" b="1" dirty="0">
                <a:highlight>
                  <a:srgbClr val="00FFFF"/>
                </a:highlight>
                <a:latin typeface="Arial Rounded MT Bold" panose="020F0704030504030204" pitchFamily="34" charset="0"/>
              </a:rPr>
              <a:t>READING ASSIGNMENT</a:t>
            </a:r>
          </a:p>
        </p:txBody>
      </p:sp>
      <p:sp>
        <p:nvSpPr>
          <p:cNvPr id="12" name="Text Box 103">
            <a:extLst>
              <a:ext uri="{FF2B5EF4-FFF2-40B4-BE49-F238E27FC236}">
                <a16:creationId xmlns:a16="http://schemas.microsoft.com/office/drawing/2014/main" xmlns="" id="{4EE052C6-0397-965B-0A9C-2BCF4CAAAF24}"/>
              </a:ext>
            </a:extLst>
          </p:cNvPr>
          <p:cNvSpPr txBox="1"/>
          <p:nvPr/>
        </p:nvSpPr>
        <p:spPr>
          <a:xfrm>
            <a:off x="490388" y="914941"/>
            <a:ext cx="7120647" cy="3139321"/>
          </a:xfrm>
          <a:prstGeom prst="rect">
            <a:avLst/>
          </a:prstGeom>
          <a:noFill/>
          <a:ln w="9525">
            <a:noFill/>
          </a:ln>
        </p:spPr>
        <p:txBody>
          <a:bodyPr wrap="square">
            <a:spAutoFit/>
          </a:bodyPr>
          <a:lstStyle/>
          <a:p>
            <a:r>
              <a:rPr lang="en-US" dirty="0">
                <a:latin typeface="Times New Roman" panose="02020603050405020304" pitchFamily="18" charset="0"/>
                <a:cs typeface="等线" charset="0"/>
              </a:rPr>
              <a:t>Be sure to go through these tutorials for a practical experience on python programming</a:t>
            </a:r>
          </a:p>
          <a:p>
            <a:endParaRPr lang="en-US" dirty="0">
              <a:latin typeface="Times New Roman" panose="02020603050405020304" pitchFamily="18" charset="0"/>
              <a:cs typeface="等线" charset="0"/>
            </a:endParaRPr>
          </a:p>
          <a:p>
            <a:pPr marL="285750" indent="-285750">
              <a:buFont typeface="Arial" panose="020B0604020202020204" pitchFamily="34" charset="0"/>
              <a:buChar char="•"/>
            </a:pPr>
            <a:r>
              <a:rPr lang="en-US" dirty="0">
                <a:latin typeface="Times New Roman" panose="02020603050405020304" pitchFamily="18" charset="0"/>
                <a:cs typeface="等线" charset="0"/>
                <a:hlinkClick r:id="rId2"/>
              </a:rPr>
              <a:t>https://www.programiz.com/python-programming</a:t>
            </a:r>
            <a:endParaRPr lang="en-US" dirty="0">
              <a:latin typeface="Times New Roman" panose="02020603050405020304" pitchFamily="18" charset="0"/>
              <a:cs typeface="等线" charset="0"/>
            </a:endParaRPr>
          </a:p>
          <a:p>
            <a:pPr marL="285750" indent="-285750">
              <a:buFont typeface="Arial" panose="020B0604020202020204" pitchFamily="34" charset="0"/>
              <a:buChar char="•"/>
            </a:pPr>
            <a:r>
              <a:rPr lang="en-US" dirty="0">
                <a:latin typeface="Times New Roman" panose="02020603050405020304" pitchFamily="18" charset="0"/>
                <a:cs typeface="等线" charset="0"/>
                <a:hlinkClick r:id="rId3"/>
              </a:rPr>
              <a:t>https://www.w3schools.com/python/</a:t>
            </a:r>
            <a:endParaRPr lang="en-US" dirty="0">
              <a:latin typeface="Times New Roman" panose="02020603050405020304" pitchFamily="18" charset="0"/>
              <a:cs typeface="等线" charset="0"/>
            </a:endParaRPr>
          </a:p>
          <a:p>
            <a:pPr marL="285750" indent="-285750">
              <a:buFont typeface="Arial" panose="020B0604020202020204" pitchFamily="34" charset="0"/>
              <a:buChar char="•"/>
            </a:pPr>
            <a:r>
              <a:rPr lang="en-US" dirty="0">
                <a:latin typeface="Times New Roman" panose="02020603050405020304" pitchFamily="18" charset="0"/>
                <a:cs typeface="等线" charset="0"/>
                <a:hlinkClick r:id="rId4"/>
              </a:rPr>
              <a:t>https://www.javatpoint.com/python-tutorial</a:t>
            </a:r>
            <a:endParaRPr lang="en-US" dirty="0">
              <a:latin typeface="Times New Roman" panose="02020603050405020304" pitchFamily="18" charset="0"/>
              <a:cs typeface="等线" charset="0"/>
            </a:endParaRPr>
          </a:p>
          <a:p>
            <a:pPr marL="285750" indent="-285750">
              <a:buFont typeface="Arial" panose="020B0604020202020204" pitchFamily="34" charset="0"/>
              <a:buChar char="•"/>
            </a:pPr>
            <a:r>
              <a:rPr lang="en-US" dirty="0">
                <a:latin typeface="Times New Roman" panose="02020603050405020304" pitchFamily="18" charset="0"/>
                <a:cs typeface="等线" charset="0"/>
                <a:hlinkClick r:id="rId5"/>
              </a:rPr>
              <a:t>https://www.youtube.com/watch?v=QXeEoD0pB3E&amp;list=PLsyeobzWxl7poL9JTVyndKe62ieoN-MZ3</a:t>
            </a:r>
            <a:endParaRPr lang="en-US" dirty="0">
              <a:latin typeface="Times New Roman" panose="02020603050405020304" pitchFamily="18" charset="0"/>
              <a:cs typeface="等线" charset="0"/>
            </a:endParaRPr>
          </a:p>
          <a:p>
            <a:pPr marL="285750" indent="-285750">
              <a:buFont typeface="Arial" panose="020B0604020202020204" pitchFamily="34" charset="0"/>
              <a:buChar char="•"/>
            </a:pPr>
            <a:endParaRPr lang="en-US" dirty="0">
              <a:latin typeface="Times New Roman" panose="02020603050405020304" pitchFamily="18" charset="0"/>
              <a:cs typeface="等线" charset="0"/>
            </a:endParaRPr>
          </a:p>
          <a:p>
            <a:pPr lvl="1"/>
            <a:endParaRPr lang="en-US" dirty="0">
              <a:latin typeface="Times New Roman" panose="02020603050405020304" pitchFamily="18" charset="0"/>
              <a:cs typeface="等线" charset="0"/>
            </a:endParaRPr>
          </a:p>
          <a:p>
            <a:pPr marL="800100" lvl="1" indent="-342900">
              <a:buFont typeface="Arial" panose="020B0604020202020204" pitchFamily="34" charset="0"/>
              <a:buChar char="•"/>
            </a:pPr>
            <a:endParaRPr lang="en-US" dirty="0">
              <a:latin typeface="Times New Roman" panose="02020603050405020304" pitchFamily="18" charset="0"/>
              <a:cs typeface="等线" charset="0"/>
            </a:endParaRPr>
          </a:p>
        </p:txBody>
      </p:sp>
      <p:pic>
        <p:nvPicPr>
          <p:cNvPr id="20482" name="Picture 2" descr="What is Python Coding?">
            <a:extLst>
              <a:ext uri="{FF2B5EF4-FFF2-40B4-BE49-F238E27FC236}">
                <a16:creationId xmlns:a16="http://schemas.microsoft.com/office/drawing/2014/main" xmlns="" id="{08889C94-E406-679E-A78E-FB5B1C6E4B8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71965" y="2147047"/>
            <a:ext cx="2335306" cy="233530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6847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62624" y="2004298"/>
            <a:ext cx="2503824" cy="521970"/>
          </a:xfrm>
          <a:prstGeom prst="rect">
            <a:avLst/>
          </a:prstGeom>
          <a:noFill/>
        </p:spPr>
        <p:txBody>
          <a:bodyPr wrap="square" rtlCol="0">
            <a:spAutoFit/>
          </a:bodyPr>
          <a:lstStyle/>
          <a:p>
            <a:r>
              <a:rPr lang="en-US" sz="2800" b="1" dirty="0">
                <a:highlight>
                  <a:srgbClr val="00FFFF"/>
                </a:highlight>
                <a:latin typeface="Arial Rounded MT Bold" panose="020F0704030504030204" pitchFamily="34" charset="0"/>
              </a:rPr>
              <a:t>NEXT STEPS</a:t>
            </a:r>
          </a:p>
        </p:txBody>
      </p:sp>
      <p:sp>
        <p:nvSpPr>
          <p:cNvPr id="8" name="Rectangle 7"/>
          <p:cNvSpPr/>
          <p:nvPr/>
        </p:nvSpPr>
        <p:spPr>
          <a:xfrm>
            <a:off x="780622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HR-analytics-removebg-preview"/>
          <p:cNvPicPr>
            <a:picLocks noGrp="1" noChangeAspect="1"/>
          </p:cNvPicPr>
          <p:nvPr>
            <p:ph idx="1"/>
          </p:nvPr>
        </p:nvPicPr>
        <p:blipFill>
          <a:blip r:embed="rId2"/>
          <a:stretch>
            <a:fillRect/>
          </a:stretch>
        </p:blipFill>
        <p:spPr>
          <a:xfrm>
            <a:off x="7703185" y="1692275"/>
            <a:ext cx="4291330" cy="2406650"/>
          </a:xfrm>
          <a:prstGeom prst="rect">
            <a:avLst/>
          </a:prstGeom>
        </p:spPr>
      </p:pic>
      <p:sp>
        <p:nvSpPr>
          <p:cNvPr id="5" name="Text Box 103">
            <a:extLst>
              <a:ext uri="{FF2B5EF4-FFF2-40B4-BE49-F238E27FC236}">
                <a16:creationId xmlns:a16="http://schemas.microsoft.com/office/drawing/2014/main" xmlns="" id="{B839532C-EF56-4195-5461-4860943F699E}"/>
              </a:ext>
            </a:extLst>
          </p:cNvPr>
          <p:cNvSpPr txBox="1"/>
          <p:nvPr/>
        </p:nvSpPr>
        <p:spPr>
          <a:xfrm>
            <a:off x="1043450" y="2895600"/>
            <a:ext cx="5342171" cy="830997"/>
          </a:xfrm>
          <a:prstGeom prst="rect">
            <a:avLst/>
          </a:prstGeom>
          <a:noFill/>
          <a:ln w="9525">
            <a:noFill/>
          </a:ln>
        </p:spPr>
        <p:txBody>
          <a:bodyPr wrap="square">
            <a:spAutoFit/>
          </a:bodyPr>
          <a:lstStyle/>
          <a:p>
            <a:pPr algn="ctr"/>
            <a:r>
              <a:rPr lang="en-US" sz="4800" dirty="0" smtClean="0">
                <a:latin typeface="Times New Roman" panose="02020603050405020304" pitchFamily="18" charset="0"/>
                <a:cs typeface="等线" charset="0"/>
              </a:rPr>
              <a:t>Python Frameworks</a:t>
            </a:r>
            <a:endParaRPr lang="en-US" sz="4800" dirty="0">
              <a:latin typeface="Times New Roman" panose="02020603050405020304" pitchFamily="18" charset="0"/>
              <a:cs typeface="等线" charset="0"/>
            </a:endParaRPr>
          </a:p>
        </p:txBody>
      </p:sp>
    </p:spTree>
    <p:extLst>
      <p:ext uri="{BB962C8B-B14F-4D97-AF65-F5344CB8AC3E}">
        <p14:creationId xmlns:p14="http://schemas.microsoft.com/office/powerpoint/2010/main" val="23221599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27816" y="3032919"/>
            <a:ext cx="5421853" cy="523220"/>
          </a:xfrm>
          <a:prstGeom prst="rect">
            <a:avLst/>
          </a:prstGeom>
          <a:noFill/>
        </p:spPr>
        <p:txBody>
          <a:bodyPr wrap="square" rtlCol="0">
            <a:spAutoFit/>
          </a:bodyPr>
          <a:lstStyle/>
          <a:p>
            <a:r>
              <a:rPr lang="en-US" sz="2800" b="1" dirty="0">
                <a:latin typeface="Arial Rounded MT Bold" panose="020F0704030504030204" pitchFamily="34" charset="0"/>
              </a:rPr>
              <a:t>ANY QUESTIONS??</a:t>
            </a:r>
          </a:p>
        </p:txBody>
      </p:sp>
      <p:sp>
        <p:nvSpPr>
          <p:cNvPr id="8" name="Rectangle 7"/>
          <p:cNvSpPr/>
          <p:nvPr/>
        </p:nvSpPr>
        <p:spPr>
          <a:xfrm>
            <a:off x="7806222" y="9693"/>
            <a:ext cx="4378960" cy="6848307"/>
          </a:xfrm>
          <a:prstGeom prst="rect">
            <a:avLst/>
          </a:prstGeom>
          <a:solidFill>
            <a:schemeClr val="accent1">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Question PNGs for Free Downlo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29973" y="1850395"/>
            <a:ext cx="3157210" cy="3157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4862</TotalTime>
  <Words>2906</Words>
  <Application>Microsoft Office PowerPoint</Application>
  <PresentationFormat>Widescreen</PresentationFormat>
  <Paragraphs>440</Paragraphs>
  <Slides>82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82</vt:i4>
      </vt:variant>
    </vt:vector>
  </HeadingPairs>
  <TitlesOfParts>
    <vt:vector size="91" baseType="lpstr">
      <vt:lpstr>SimSun</vt:lpstr>
      <vt:lpstr>Arial</vt:lpstr>
      <vt:lpstr>Arial Rounded MT Bold</vt:lpstr>
      <vt:lpstr>Calibri</vt:lpstr>
      <vt:lpstr>Calibri Light</vt:lpstr>
      <vt:lpstr>Courier New</vt:lpstr>
      <vt:lpstr>等线</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Pasty Asamoah</dc:creator>
  <cp:lastModifiedBy>Microsoft account</cp:lastModifiedBy>
  <cp:revision>102</cp:revision>
  <dcterms:created xsi:type="dcterms:W3CDTF">2023-07-09T08:06:00Z</dcterms:created>
  <dcterms:modified xsi:type="dcterms:W3CDTF">2026-06-17T10:06:57Z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192F183CB4A84BD6A96A942E16C0CC1A</vt:lpwstr>
  </property>
  <property fmtid="{D5CDD505-2E9C-101B-9397-08002B2CF9AE}" pid="3" name="KSOProductBuildVer">
    <vt:lpwstr>1033-12.2.0.13359</vt:lpwstr>
  </property>
</Properties>
</file>